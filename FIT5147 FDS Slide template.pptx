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Canva Sans" panose="02020500000000000000" charset="0"/>
      <p:regular r:id="rId9"/>
    </p:embeddedFont>
    <p:embeddedFont>
      <p:font typeface="Canva Sans Bold" panose="02020500000000000000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1914" y="7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22850" y="3649502"/>
            <a:ext cx="6842300" cy="646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sz="3799" b="1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YOUR PROJECT TITLE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3761375" y="87629"/>
            <a:ext cx="4392873" cy="941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779"/>
              </a:lnSpc>
            </a:pPr>
            <a:r>
              <a:rPr lang="en-US" sz="2699" b="1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YOUR NAME</a:t>
            </a:r>
          </a:p>
          <a:p>
            <a:pPr algn="r">
              <a:lnSpc>
                <a:spcPts val="3779"/>
              </a:lnSpc>
              <a:spcBef>
                <a:spcPct val="0"/>
              </a:spcBef>
            </a:pPr>
            <a:endParaRPr lang="en-US" sz="2699" b="1">
              <a:solidFill>
                <a:srgbClr val="FF3131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831129" y="6429533"/>
            <a:ext cx="14126682" cy="941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6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Purpose: </a:t>
            </a:r>
            <a:r>
              <a:rPr lang="en-US" sz="2699" b="1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XXX (Which insights from your DEP are  you communicating in your DVP?)</a:t>
            </a:r>
          </a:p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Audience: </a:t>
            </a:r>
            <a:r>
              <a:rPr lang="en-US" sz="2699" b="1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XXX (Who are you designing for?)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411249" y="8225594"/>
            <a:ext cx="11227817" cy="1656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YOU DO NOT HAVE TO USE THIS TEMPLATE </a:t>
            </a:r>
          </a:p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You can adjust the template as you wish based on the assignment criteria. 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ALL SUBMITTED SLIDES ARE PRESENTED IN CLASS THEREFORE DO NOT ADD YOUR STUDENT ID 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(REMOVE THIS TEXT)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endParaRPr lang="en-US" sz="18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51081" y="121919"/>
            <a:ext cx="8199929" cy="464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79"/>
              </a:lnSpc>
              <a:spcBef>
                <a:spcPct val="0"/>
              </a:spcBef>
            </a:pPr>
            <a:r>
              <a:rPr lang="en-US" sz="26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FIT5147 Data Visualisation Project Part 1: Design 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516147" y="1066472"/>
            <a:ext cx="5790204" cy="4077028"/>
            <a:chOff x="0" y="0"/>
            <a:chExt cx="5907113" cy="415934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907113" cy="4057747"/>
            </a:xfrm>
            <a:custGeom>
              <a:avLst/>
              <a:gdLst/>
              <a:ahLst/>
              <a:cxnLst/>
              <a:rect l="l" t="t" r="r" b="b"/>
              <a:pathLst>
                <a:path w="5907113" h="4057747">
                  <a:moveTo>
                    <a:pt x="0" y="0"/>
                  </a:moveTo>
                  <a:lnTo>
                    <a:pt x="5907113" y="0"/>
                  </a:lnTo>
                  <a:lnTo>
                    <a:pt x="5907113" y="4057747"/>
                  </a:lnTo>
                  <a:lnTo>
                    <a:pt x="0" y="4057747"/>
                  </a:lnTo>
                  <a:close/>
                </a:path>
              </a:pathLst>
            </a:custGeom>
            <a:solidFill>
              <a:srgbClr val="FDF9B4"/>
            </a:solidFill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0"/>
              <a:ext cx="5907113" cy="4159347"/>
            </a:xfrm>
            <a:custGeom>
              <a:avLst/>
              <a:gdLst/>
              <a:ahLst/>
              <a:cxnLst/>
              <a:rect l="l" t="t" r="r" b="b"/>
              <a:pathLst>
                <a:path w="5907113" h="4159347">
                  <a:moveTo>
                    <a:pt x="0" y="4057747"/>
                  </a:moveTo>
                  <a:lnTo>
                    <a:pt x="5907113" y="4057747"/>
                  </a:lnTo>
                  <a:lnTo>
                    <a:pt x="5780113" y="4159347"/>
                  </a:lnTo>
                  <a:cubicBezTo>
                    <a:pt x="5780113" y="4159347"/>
                    <a:pt x="4789513" y="4083147"/>
                    <a:pt x="4687913" y="4083147"/>
                  </a:cubicBezTo>
                  <a:lnTo>
                    <a:pt x="1219200" y="4083147"/>
                  </a:lnTo>
                  <a:cubicBezTo>
                    <a:pt x="1117600" y="4083147"/>
                    <a:pt x="127000" y="4159347"/>
                    <a:pt x="127000" y="4159347"/>
                  </a:cubicBezTo>
                  <a:lnTo>
                    <a:pt x="0" y="4057747"/>
                  </a:lnTo>
                  <a:lnTo>
                    <a:pt x="0" y="0"/>
                  </a:lnTo>
                  <a:lnTo>
                    <a:pt x="5907113" y="0"/>
                  </a:lnTo>
                  <a:lnTo>
                    <a:pt x="5907113" y="4057747"/>
                  </a:lnTo>
                  <a:lnTo>
                    <a:pt x="12700" y="4057747"/>
                  </a:lnTo>
                  <a:lnTo>
                    <a:pt x="12700" y="4045047"/>
                  </a:lnTo>
                  <a:lnTo>
                    <a:pt x="5894413" y="4045047"/>
                  </a:lnTo>
                  <a:lnTo>
                    <a:pt x="5894413" y="12700"/>
                  </a:lnTo>
                  <a:lnTo>
                    <a:pt x="12700" y="12700"/>
                  </a:lnTo>
                  <a:lnTo>
                    <a:pt x="12700" y="4057747"/>
                  </a:lnTo>
                </a:path>
              </a:pathLst>
            </a:custGeom>
            <a:solidFill>
              <a:srgbClr val="394C60">
                <a:alpha val="784"/>
              </a:srgbClr>
            </a:solidFill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5907113" cy="3648171"/>
            </a:xfrm>
            <a:prstGeom prst="rect">
              <a:avLst/>
            </a:prstGeom>
          </p:spPr>
          <p:txBody>
            <a:bodyPr lIns="265571" tIns="265571" rIns="265571" bIns="265571" rtlCol="0" anchor="t"/>
            <a:lstStyle/>
            <a:p>
              <a:pPr algn="l">
                <a:lnSpc>
                  <a:spcPts val="3476"/>
                </a:lnSpc>
              </a:pPr>
              <a:r>
                <a:rPr lang="en-US" sz="248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This is a </a:t>
              </a:r>
              <a:r>
                <a:rPr lang="en-US" sz="2483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read-only</a:t>
              </a:r>
              <a:r>
                <a:rPr lang="en-US" sz="248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template file.</a:t>
              </a:r>
            </a:p>
            <a:p>
              <a:pPr algn="l">
                <a:lnSpc>
                  <a:spcPts val="3476"/>
                </a:lnSpc>
              </a:pPr>
              <a:endParaRPr lang="en-US" sz="248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  <a:p>
              <a:pPr algn="l">
                <a:lnSpc>
                  <a:spcPts val="3476"/>
                </a:lnSpc>
              </a:pPr>
              <a:r>
                <a:rPr lang="en-US" sz="248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To use the template goto:</a:t>
              </a:r>
            </a:p>
            <a:p>
              <a:pPr algn="l">
                <a:lnSpc>
                  <a:spcPts val="3476"/>
                </a:lnSpc>
              </a:pPr>
              <a:r>
                <a:rPr lang="en-US" sz="248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File &gt; Make a Copy (to use in Canva)</a:t>
              </a:r>
            </a:p>
            <a:p>
              <a:pPr algn="l">
                <a:lnSpc>
                  <a:spcPts val="3476"/>
                </a:lnSpc>
              </a:pPr>
              <a:r>
                <a:rPr lang="en-US" sz="248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OR </a:t>
              </a:r>
            </a:p>
            <a:p>
              <a:pPr algn="l">
                <a:lnSpc>
                  <a:spcPts val="3476"/>
                </a:lnSpc>
              </a:pPr>
              <a:r>
                <a:rPr lang="en-US" sz="248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File &gt; Download to .pptx (to use Powerpoint) 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9695177" cy="6675157"/>
            <a:chOff x="0" y="0"/>
            <a:chExt cx="2553462" cy="17580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53462" cy="1758066"/>
            </a:xfrm>
            <a:custGeom>
              <a:avLst/>
              <a:gdLst/>
              <a:ahLst/>
              <a:cxnLst/>
              <a:rect l="l" t="t" r="r" b="b"/>
              <a:pathLst>
                <a:path w="2553462" h="1758066">
                  <a:moveTo>
                    <a:pt x="0" y="0"/>
                  </a:moveTo>
                  <a:lnTo>
                    <a:pt x="2553462" y="0"/>
                  </a:lnTo>
                  <a:lnTo>
                    <a:pt x="2553462" y="1758066"/>
                  </a:lnTo>
                  <a:lnTo>
                    <a:pt x="0" y="1758066"/>
                  </a:ln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553462" cy="17961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88640" y="134436"/>
            <a:ext cx="84006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1) Ideas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0" y="6675157"/>
            <a:ext cx="9695177" cy="3611843"/>
            <a:chOff x="0" y="0"/>
            <a:chExt cx="2553462" cy="9512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553462" cy="951267"/>
            </a:xfrm>
            <a:custGeom>
              <a:avLst/>
              <a:gdLst/>
              <a:ahLst/>
              <a:cxnLst/>
              <a:rect l="l" t="t" r="r" b="b"/>
              <a:pathLst>
                <a:path w="2553462" h="951267">
                  <a:moveTo>
                    <a:pt x="0" y="0"/>
                  </a:moveTo>
                  <a:lnTo>
                    <a:pt x="2553462" y="0"/>
                  </a:lnTo>
                  <a:lnTo>
                    <a:pt x="2553462" y="951267"/>
                  </a:lnTo>
                  <a:lnTo>
                    <a:pt x="0" y="951267"/>
                  </a:ln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553462" cy="9893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695177" y="5307795"/>
            <a:ext cx="4536739" cy="4979205"/>
            <a:chOff x="0" y="0"/>
            <a:chExt cx="1194861" cy="131139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94861" cy="1311396"/>
            </a:xfrm>
            <a:custGeom>
              <a:avLst/>
              <a:gdLst/>
              <a:ahLst/>
              <a:cxnLst/>
              <a:rect l="l" t="t" r="r" b="b"/>
              <a:pathLst>
                <a:path w="1194861" h="1311396">
                  <a:moveTo>
                    <a:pt x="0" y="0"/>
                  </a:moveTo>
                  <a:lnTo>
                    <a:pt x="1194861" y="0"/>
                  </a:lnTo>
                  <a:lnTo>
                    <a:pt x="1194861" y="1311396"/>
                  </a:lnTo>
                  <a:lnTo>
                    <a:pt x="0" y="1311396"/>
                  </a:ln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194861" cy="13494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695177" y="1672088"/>
            <a:ext cx="8592823" cy="3635707"/>
            <a:chOff x="0" y="0"/>
            <a:chExt cx="2263130" cy="95755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263130" cy="957552"/>
            </a:xfrm>
            <a:custGeom>
              <a:avLst/>
              <a:gdLst/>
              <a:ahLst/>
              <a:cxnLst/>
              <a:rect l="l" t="t" r="r" b="b"/>
              <a:pathLst>
                <a:path w="2263130" h="957552">
                  <a:moveTo>
                    <a:pt x="0" y="0"/>
                  </a:moveTo>
                  <a:lnTo>
                    <a:pt x="2263130" y="0"/>
                  </a:lnTo>
                  <a:lnTo>
                    <a:pt x="2263130" y="957552"/>
                  </a:lnTo>
                  <a:lnTo>
                    <a:pt x="0" y="957552"/>
                  </a:ln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263130" cy="9956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4231916" y="5307795"/>
            <a:ext cx="4056084" cy="4979205"/>
            <a:chOff x="0" y="0"/>
            <a:chExt cx="1068269" cy="131139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68269" cy="1311396"/>
            </a:xfrm>
            <a:custGeom>
              <a:avLst/>
              <a:gdLst/>
              <a:ahLst/>
              <a:cxnLst/>
              <a:rect l="l" t="t" r="r" b="b"/>
              <a:pathLst>
                <a:path w="1068269" h="1311396">
                  <a:moveTo>
                    <a:pt x="0" y="0"/>
                  </a:moveTo>
                  <a:lnTo>
                    <a:pt x="1068269" y="0"/>
                  </a:lnTo>
                  <a:lnTo>
                    <a:pt x="1068269" y="1311396"/>
                  </a:lnTo>
                  <a:lnTo>
                    <a:pt x="0" y="1311396"/>
                  </a:ln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068269" cy="13494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9847017" y="1824488"/>
            <a:ext cx="887834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2) Filter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88640" y="6799316"/>
            <a:ext cx="3940022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4) Combine &amp; Refine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847017" y="5479245"/>
            <a:ext cx="3940022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3) Categorise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347978" y="5479245"/>
            <a:ext cx="3940022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5) Questions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9695177" y="598638"/>
            <a:ext cx="3776039" cy="434255"/>
            <a:chOff x="0" y="0"/>
            <a:chExt cx="994512" cy="11437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994512" cy="114372"/>
            </a:xfrm>
            <a:custGeom>
              <a:avLst/>
              <a:gdLst/>
              <a:ahLst/>
              <a:cxnLst/>
              <a:rect l="l" t="t" r="r" b="b"/>
              <a:pathLst>
                <a:path w="994512" h="114372">
                  <a:moveTo>
                    <a:pt x="0" y="0"/>
                  </a:moveTo>
                  <a:lnTo>
                    <a:pt x="994512" y="0"/>
                  </a:lnTo>
                  <a:lnTo>
                    <a:pt x="994512" y="114372"/>
                  </a:lnTo>
                  <a:lnTo>
                    <a:pt x="0" y="114372"/>
                  </a:ln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994512" cy="152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695177" y="0"/>
            <a:ext cx="8592823" cy="594627"/>
            <a:chOff x="0" y="0"/>
            <a:chExt cx="2263130" cy="15661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263130" cy="156610"/>
            </a:xfrm>
            <a:custGeom>
              <a:avLst/>
              <a:gdLst/>
              <a:ahLst/>
              <a:cxnLst/>
              <a:rect l="l" t="t" r="r" b="b"/>
              <a:pathLst>
                <a:path w="2263130" h="156610">
                  <a:moveTo>
                    <a:pt x="0" y="0"/>
                  </a:moveTo>
                  <a:lnTo>
                    <a:pt x="2263130" y="0"/>
                  </a:lnTo>
                  <a:lnTo>
                    <a:pt x="2263130" y="156610"/>
                  </a:lnTo>
                  <a:lnTo>
                    <a:pt x="0" y="156610"/>
                  </a:ln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2263130" cy="1947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3471215" y="598638"/>
            <a:ext cx="2661097" cy="434255"/>
            <a:chOff x="0" y="0"/>
            <a:chExt cx="700865" cy="11437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700865" cy="114372"/>
            </a:xfrm>
            <a:custGeom>
              <a:avLst/>
              <a:gdLst/>
              <a:ahLst/>
              <a:cxnLst/>
              <a:rect l="l" t="t" r="r" b="b"/>
              <a:pathLst>
                <a:path w="700865" h="114372">
                  <a:moveTo>
                    <a:pt x="0" y="0"/>
                  </a:moveTo>
                  <a:lnTo>
                    <a:pt x="700865" y="0"/>
                  </a:lnTo>
                  <a:lnTo>
                    <a:pt x="700865" y="114372"/>
                  </a:lnTo>
                  <a:lnTo>
                    <a:pt x="0" y="114372"/>
                  </a:ln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700865" cy="152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695177" y="1032893"/>
            <a:ext cx="8592823" cy="639196"/>
            <a:chOff x="0" y="0"/>
            <a:chExt cx="2263130" cy="168348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263130" cy="168348"/>
            </a:xfrm>
            <a:custGeom>
              <a:avLst/>
              <a:gdLst/>
              <a:ahLst/>
              <a:cxnLst/>
              <a:rect l="l" t="t" r="r" b="b"/>
              <a:pathLst>
                <a:path w="2263130" h="168348">
                  <a:moveTo>
                    <a:pt x="0" y="0"/>
                  </a:moveTo>
                  <a:lnTo>
                    <a:pt x="2263130" y="0"/>
                  </a:lnTo>
                  <a:lnTo>
                    <a:pt x="2263130" y="168348"/>
                  </a:lnTo>
                  <a:lnTo>
                    <a:pt x="0" y="168348"/>
                  </a:ln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2263130" cy="2064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9780580" y="117926"/>
            <a:ext cx="825326" cy="3000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Title: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780579" y="652888"/>
            <a:ext cx="1029539" cy="3000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Author: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3556940" y="652888"/>
            <a:ext cx="674976" cy="3000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Date: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16132312" y="598638"/>
            <a:ext cx="2155688" cy="434255"/>
            <a:chOff x="0" y="0"/>
            <a:chExt cx="567753" cy="114372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567753" cy="114372"/>
            </a:xfrm>
            <a:custGeom>
              <a:avLst/>
              <a:gdLst/>
              <a:ahLst/>
              <a:cxnLst/>
              <a:rect l="l" t="t" r="r" b="b"/>
              <a:pathLst>
                <a:path w="567753" h="114372">
                  <a:moveTo>
                    <a:pt x="0" y="0"/>
                  </a:moveTo>
                  <a:lnTo>
                    <a:pt x="567753" y="0"/>
                  </a:lnTo>
                  <a:lnTo>
                    <a:pt x="567753" y="114372"/>
                  </a:lnTo>
                  <a:lnTo>
                    <a:pt x="0" y="114372"/>
                  </a:ln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38100"/>
              <a:ext cx="567753" cy="152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6218036" y="652888"/>
            <a:ext cx="774563" cy="3000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Sheet: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780580" y="1189612"/>
            <a:ext cx="658820" cy="2972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Task:</a:t>
            </a:r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D7D516F3-5536-8F2D-14E7-39100BD24CCD}"/>
              </a:ext>
            </a:extLst>
          </p:cNvPr>
          <p:cNvSpPr txBox="1"/>
          <p:nvPr/>
        </p:nvSpPr>
        <p:spPr>
          <a:xfrm>
            <a:off x="10058240" y="2380520"/>
            <a:ext cx="753119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zh-HK" altLang="zh-HK" b="1" dirty="0"/>
              <a:t>#10 Boxplot</a:t>
            </a:r>
            <a:r>
              <a:rPr lang="en-US" altLang="zh-HK" b="1" dirty="0"/>
              <a:t>: </a:t>
            </a:r>
          </a:p>
          <a:p>
            <a:pPr lvl="0"/>
            <a:r>
              <a:rPr lang="zh-HK" altLang="zh-HK" i="1" dirty="0"/>
              <a:t>Requires statistical explanation that may distract parents from the story.</a:t>
            </a:r>
            <a:endParaRPr lang="zh-HK" altLang="zh-HK" dirty="0"/>
          </a:p>
          <a:p>
            <a:pPr lvl="0"/>
            <a:r>
              <a:rPr lang="zh-HK" altLang="zh-HK" b="1" dirty="0"/>
              <a:t>#11 Bar Chart</a:t>
            </a:r>
            <a:r>
              <a:rPr lang="en-US" altLang="zh-HK" b="1" dirty="0"/>
              <a:t>: </a:t>
            </a:r>
          </a:p>
          <a:p>
            <a:pPr lvl="0"/>
            <a:r>
              <a:rPr lang="zh-HK" altLang="zh-HK" i="1" dirty="0"/>
              <a:t>Small differences across the </a:t>
            </a:r>
            <a:r>
              <a:rPr lang="en-US" altLang="zh-HK" i="1" dirty="0"/>
              <a:t>3</a:t>
            </a:r>
            <a:r>
              <a:rPr lang="zh-HK" altLang="zh-HK" i="1" dirty="0"/>
              <a:t> years do not show a clear message in this design.</a:t>
            </a:r>
            <a:endParaRPr lang="zh-HK" altLang="zh-HK" dirty="0"/>
          </a:p>
          <a:p>
            <a:pPr lvl="0"/>
            <a:endParaRPr lang="zh-HK" altLang="zh-HK" dirty="0"/>
          </a:p>
        </p:txBody>
      </p:sp>
      <p:pic>
        <p:nvPicPr>
          <p:cNvPr id="53" name="圖片 52">
            <a:extLst>
              <a:ext uri="{FF2B5EF4-FFF2-40B4-BE49-F238E27FC236}">
                <a16:creationId xmlns:a16="http://schemas.microsoft.com/office/drawing/2014/main" id="{D297D2D4-F000-67DC-E295-74D34BD791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936" y="136138"/>
            <a:ext cx="9216811" cy="5640287"/>
          </a:xfrm>
          <a:prstGeom prst="rect">
            <a:avLst/>
          </a:prstGeom>
        </p:spPr>
      </p:pic>
      <p:sp>
        <p:nvSpPr>
          <p:cNvPr id="54" name="文字方塊 53">
            <a:extLst>
              <a:ext uri="{FF2B5EF4-FFF2-40B4-BE49-F238E27FC236}">
                <a16:creationId xmlns:a16="http://schemas.microsoft.com/office/drawing/2014/main" id="{11D2D5E2-A124-3BED-C838-04E302F6AE91}"/>
              </a:ext>
            </a:extLst>
          </p:cNvPr>
          <p:cNvSpPr txBox="1"/>
          <p:nvPr/>
        </p:nvSpPr>
        <p:spPr>
          <a:xfrm>
            <a:off x="9982200" y="6134100"/>
            <a:ext cx="384163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zh-HK" altLang="zh-HK" b="1" dirty="0"/>
              <a:t>Differences and relationships:</a:t>
            </a:r>
            <a:br>
              <a:rPr lang="zh-HK" altLang="zh-HK" dirty="0"/>
            </a:br>
            <a:r>
              <a:rPr lang="zh-HK" altLang="zh-HK" dirty="0"/>
              <a:t>#1 Scatter Dot Plot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zh-HK" altLang="zh-HK" b="1" dirty="0"/>
              <a:t>Change and patterns:</a:t>
            </a:r>
            <a:br>
              <a:rPr lang="zh-HK" altLang="zh-HK" dirty="0"/>
            </a:br>
            <a:r>
              <a:rPr lang="zh-HK" altLang="zh-HK" dirty="0"/>
              <a:t>#2 Line Chart, #9 Heatmap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zh-HK" altLang="zh-HK" b="1" dirty="0"/>
              <a:t>Location and regional context:</a:t>
            </a:r>
            <a:br>
              <a:rPr lang="zh-HK" altLang="zh-HK" dirty="0"/>
            </a:br>
            <a:r>
              <a:rPr lang="zh-HK" altLang="zh-HK" dirty="0"/>
              <a:t>#5 Symbol Map, #6 Choropleth Map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zh-HK" altLang="zh-HK" b="1" dirty="0"/>
              <a:t>Groups and proportions:</a:t>
            </a:r>
            <a:br>
              <a:rPr lang="zh-HK" altLang="zh-HK" dirty="0"/>
            </a:br>
            <a:r>
              <a:rPr lang="zh-HK" altLang="zh-HK" dirty="0"/>
              <a:t>#3 Donut Chart, #4 Radial Bar Chart, #7 School Profile Groups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zh-HK" altLang="zh-HK" b="1" dirty="0"/>
              <a:t>Connections and stages:</a:t>
            </a:r>
            <a:br>
              <a:rPr lang="zh-HK" altLang="zh-HK" dirty="0"/>
            </a:br>
            <a:r>
              <a:rPr lang="zh-HK" altLang="zh-HK" dirty="0"/>
              <a:t>#8 Sankey Diagram, #12 Funnel Chart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HK" altLang="en-US" dirty="0"/>
          </a:p>
        </p:txBody>
      </p:sp>
      <p:pic>
        <p:nvPicPr>
          <p:cNvPr id="56" name="圖片 55">
            <a:extLst>
              <a:ext uri="{FF2B5EF4-FFF2-40B4-BE49-F238E27FC236}">
                <a16:creationId xmlns:a16="http://schemas.microsoft.com/office/drawing/2014/main" id="{37D9B7FF-7271-8670-154D-0AF614B2B5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8382" y="6638114"/>
            <a:ext cx="1617872" cy="1258345"/>
          </a:xfrm>
          <a:prstGeom prst="rect">
            <a:avLst/>
          </a:prstGeom>
        </p:spPr>
      </p:pic>
      <p:pic>
        <p:nvPicPr>
          <p:cNvPr id="58" name="圖片 57">
            <a:extLst>
              <a:ext uri="{FF2B5EF4-FFF2-40B4-BE49-F238E27FC236}">
                <a16:creationId xmlns:a16="http://schemas.microsoft.com/office/drawing/2014/main" id="{FAD6F6AC-F7A4-436D-D28E-84A7D74B96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545" y="7143787"/>
            <a:ext cx="2413123" cy="1320071"/>
          </a:xfrm>
          <a:prstGeom prst="rect">
            <a:avLst/>
          </a:prstGeom>
        </p:spPr>
      </p:pic>
      <p:pic>
        <p:nvPicPr>
          <p:cNvPr id="60" name="圖片 59">
            <a:extLst>
              <a:ext uri="{FF2B5EF4-FFF2-40B4-BE49-F238E27FC236}">
                <a16:creationId xmlns:a16="http://schemas.microsoft.com/office/drawing/2014/main" id="{03C7C670-9024-B554-A358-90BFBC9A1EC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7005" y="6720039"/>
            <a:ext cx="2800741" cy="2010056"/>
          </a:xfrm>
          <a:prstGeom prst="rect">
            <a:avLst/>
          </a:prstGeom>
        </p:spPr>
      </p:pic>
      <p:pic>
        <p:nvPicPr>
          <p:cNvPr id="62" name="圖片 61">
            <a:extLst>
              <a:ext uri="{FF2B5EF4-FFF2-40B4-BE49-F238E27FC236}">
                <a16:creationId xmlns:a16="http://schemas.microsoft.com/office/drawing/2014/main" id="{6E396A39-28C5-73DC-5A85-5C6DB1B8BB4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037" y="8907449"/>
            <a:ext cx="1551764" cy="1387052"/>
          </a:xfrm>
          <a:prstGeom prst="rect">
            <a:avLst/>
          </a:prstGeom>
        </p:spPr>
      </p:pic>
      <p:sp>
        <p:nvSpPr>
          <p:cNvPr id="66" name="文字方塊 65">
            <a:extLst>
              <a:ext uri="{FF2B5EF4-FFF2-40B4-BE49-F238E27FC236}">
                <a16:creationId xmlns:a16="http://schemas.microsoft.com/office/drawing/2014/main" id="{B3EFAC6F-33B9-4143-4568-C0795AC3A9F2}"/>
              </a:ext>
            </a:extLst>
          </p:cNvPr>
          <p:cNvSpPr txBox="1"/>
          <p:nvPr/>
        </p:nvSpPr>
        <p:spPr>
          <a:xfrm>
            <a:off x="128614" y="8095952"/>
            <a:ext cx="268932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zh-HK" altLang="zh-HK" sz="1200" dirty="0"/>
            </a:br>
            <a:r>
              <a:rPr lang="zh-HK" altLang="zh-HK" sz="1200" dirty="0"/>
              <a:t>Select a school in the scatter plot to reveal its three-year trend. Explain its current results alongside recent changes.</a:t>
            </a:r>
          </a:p>
        </p:txBody>
      </p: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ED5CF0B3-168D-84F2-153E-2AE590658709}"/>
              </a:ext>
            </a:extLst>
          </p:cNvPr>
          <p:cNvSpPr txBox="1"/>
          <p:nvPr/>
        </p:nvSpPr>
        <p:spPr>
          <a:xfrm>
            <a:off x="4726022" y="7527376"/>
            <a:ext cx="898441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zh-HK" altLang="zh-HK" sz="1050" dirty="0"/>
            </a:br>
            <a:r>
              <a:rPr lang="zh-HK" altLang="zh-HK" sz="1050" dirty="0"/>
              <a:t>reveal its three-year trend and a short explanation.</a:t>
            </a:r>
          </a:p>
        </p:txBody>
      </p:sp>
      <p:pic>
        <p:nvPicPr>
          <p:cNvPr id="72" name="圖片 71">
            <a:extLst>
              <a:ext uri="{FF2B5EF4-FFF2-40B4-BE49-F238E27FC236}">
                <a16:creationId xmlns:a16="http://schemas.microsoft.com/office/drawing/2014/main" id="{D6F9144C-BAE1-50FA-FEBE-A4C991E868F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3801" y="8693402"/>
            <a:ext cx="2058780" cy="1600380"/>
          </a:xfrm>
          <a:prstGeom prst="rect">
            <a:avLst/>
          </a:prstGeom>
        </p:spPr>
      </p:pic>
      <p:sp>
        <p:nvSpPr>
          <p:cNvPr id="74" name="文字方塊 73">
            <a:extLst>
              <a:ext uri="{FF2B5EF4-FFF2-40B4-BE49-F238E27FC236}">
                <a16:creationId xmlns:a16="http://schemas.microsoft.com/office/drawing/2014/main" id="{F05556FF-B9FF-CC6D-9936-9258A95ECA25}"/>
              </a:ext>
            </a:extLst>
          </p:cNvPr>
          <p:cNvSpPr txBox="1"/>
          <p:nvPr/>
        </p:nvSpPr>
        <p:spPr>
          <a:xfrm>
            <a:off x="5879678" y="8973295"/>
            <a:ext cx="3714805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zh-HK" altLang="zh-HK" sz="1400" dirty="0"/>
            </a:br>
            <a:r>
              <a:rPr lang="zh-HK" altLang="zh-HK" sz="1400" dirty="0"/>
              <a:t>Move the slider to highlight school zones </a:t>
            </a:r>
            <a:r>
              <a:rPr lang="en-US" altLang="zh-HK" sz="1400" dirty="0"/>
              <a:t>within </a:t>
            </a:r>
            <a:r>
              <a:rPr lang="zh-HK" altLang="zh-HK" sz="1400" dirty="0"/>
              <a:t>a results range. </a:t>
            </a:r>
            <a:r>
              <a:rPr lang="en-US" altLang="zh-HK" sz="1400" dirty="0"/>
              <a:t>Click</a:t>
            </a:r>
            <a:r>
              <a:rPr lang="zh-HK" altLang="zh-HK" sz="1400" dirty="0"/>
              <a:t> a zone to open a white card explaining its associated school</a:t>
            </a:r>
            <a:r>
              <a:rPr lang="en-US" altLang="zh-HK" sz="1400" dirty="0"/>
              <a:t>’s details(</a:t>
            </a:r>
            <a:r>
              <a:rPr lang="zh-HK" altLang="zh-HK" sz="1400" dirty="0"/>
              <a:t> ICSEA</a:t>
            </a:r>
            <a:r>
              <a:rPr lang="en-US" altLang="zh-HK" sz="1400" dirty="0"/>
              <a:t>, VCE </a:t>
            </a:r>
            <a:r>
              <a:rPr lang="en-US" altLang="zh-HK" sz="1400" dirty="0" err="1"/>
              <a:t>score,etc</a:t>
            </a:r>
            <a:r>
              <a:rPr lang="en-US" altLang="zh-HK" sz="1400" dirty="0"/>
              <a:t>)</a:t>
            </a:r>
            <a:r>
              <a:rPr lang="zh-HK" altLang="zh-HK" sz="1400" dirty="0"/>
              <a:t> Include a close button</a:t>
            </a:r>
            <a:endParaRPr lang="zh-HK" altLang="en-US" sz="1400" dirty="0"/>
          </a:p>
        </p:txBody>
      </p:sp>
      <p:sp>
        <p:nvSpPr>
          <p:cNvPr id="76" name="文字方塊 75">
            <a:extLst>
              <a:ext uri="{FF2B5EF4-FFF2-40B4-BE49-F238E27FC236}">
                <a16:creationId xmlns:a16="http://schemas.microsoft.com/office/drawing/2014/main" id="{46283F55-433E-ADA7-C22D-6B69ADA17F7C}"/>
              </a:ext>
            </a:extLst>
          </p:cNvPr>
          <p:cNvSpPr txBox="1"/>
          <p:nvPr/>
        </p:nvSpPr>
        <p:spPr>
          <a:xfrm>
            <a:off x="1711659" y="8883076"/>
            <a:ext cx="246701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zh-HK" altLang="zh-HK" sz="1400" dirty="0"/>
            </a:br>
            <a:r>
              <a:rPr lang="zh-HK" altLang="zh-HK" sz="1400" dirty="0"/>
              <a:t>Place school symbols over shaded regions. Show regional context and individual school locations together.</a:t>
            </a:r>
          </a:p>
        </p:txBody>
      </p:sp>
      <p:pic>
        <p:nvPicPr>
          <p:cNvPr id="78" name="圖片 77">
            <a:extLst>
              <a:ext uri="{FF2B5EF4-FFF2-40B4-BE49-F238E27FC236}">
                <a16:creationId xmlns:a16="http://schemas.microsoft.com/office/drawing/2014/main" id="{FD0EB374-A3AB-6644-78AD-9F0663C5FC2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02"/>
          <a:stretch>
            <a:fillRect/>
          </a:stretch>
        </p:blipFill>
        <p:spPr>
          <a:xfrm>
            <a:off x="5850379" y="6750350"/>
            <a:ext cx="1853002" cy="1357755"/>
          </a:xfrm>
          <a:prstGeom prst="rect">
            <a:avLst/>
          </a:prstGeom>
        </p:spPr>
      </p:pic>
      <p:sp>
        <p:nvSpPr>
          <p:cNvPr id="80" name="文字方塊 79">
            <a:extLst>
              <a:ext uri="{FF2B5EF4-FFF2-40B4-BE49-F238E27FC236}">
                <a16:creationId xmlns:a16="http://schemas.microsoft.com/office/drawing/2014/main" id="{D1740EFD-3BCC-3110-2785-840FBB4C0670}"/>
              </a:ext>
            </a:extLst>
          </p:cNvPr>
          <p:cNvSpPr txBox="1"/>
          <p:nvPr/>
        </p:nvSpPr>
        <p:spPr>
          <a:xfrm>
            <a:off x="5825911" y="7894192"/>
            <a:ext cx="185300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zh-HK" altLang="zh-HK" sz="1200" dirty="0"/>
            </a:br>
            <a:r>
              <a:rPr lang="zh-HK" altLang="zh-HK" sz="1200" u="sng" dirty="0"/>
              <a:t>Select a profile circle. </a:t>
            </a:r>
            <a:endParaRPr lang="en-US" altLang="zh-HK" sz="1200" u="sng" dirty="0"/>
          </a:p>
          <a:p>
            <a:pPr>
              <a:buNone/>
            </a:pPr>
            <a:r>
              <a:rPr lang="en-US" altLang="zh-HK" sz="1200" u="sng" dirty="0"/>
              <a:t>-</a:t>
            </a:r>
            <a:r>
              <a:rPr lang="zh-HK" altLang="zh-HK" sz="1200" dirty="0"/>
              <a:t>Animate its school dots onto their map locations.</a:t>
            </a:r>
            <a:endParaRPr lang="en-US" altLang="zh-HK" sz="1200" dirty="0"/>
          </a:p>
        </p:txBody>
      </p:sp>
      <p:cxnSp>
        <p:nvCxnSpPr>
          <p:cNvPr id="82" name="直線接點 81">
            <a:extLst>
              <a:ext uri="{FF2B5EF4-FFF2-40B4-BE49-F238E27FC236}">
                <a16:creationId xmlns:a16="http://schemas.microsoft.com/office/drawing/2014/main" id="{60924C04-0755-64ED-AAB4-746A42E3AF30}"/>
              </a:ext>
            </a:extLst>
          </p:cNvPr>
          <p:cNvCxnSpPr>
            <a:cxnSpLocks/>
          </p:cNvCxnSpPr>
          <p:nvPr/>
        </p:nvCxnSpPr>
        <p:spPr>
          <a:xfrm>
            <a:off x="128614" y="8973295"/>
            <a:ext cx="3605186" cy="195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接點 83">
            <a:extLst>
              <a:ext uri="{FF2B5EF4-FFF2-40B4-BE49-F238E27FC236}">
                <a16:creationId xmlns:a16="http://schemas.microsoft.com/office/drawing/2014/main" id="{343AFD1B-D184-EC8D-AFDE-6CED978B6675}"/>
              </a:ext>
            </a:extLst>
          </p:cNvPr>
          <p:cNvCxnSpPr>
            <a:cxnSpLocks/>
          </p:cNvCxnSpPr>
          <p:nvPr/>
        </p:nvCxnSpPr>
        <p:spPr>
          <a:xfrm>
            <a:off x="2868348" y="8669641"/>
            <a:ext cx="4599252" cy="237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接點 85">
            <a:extLst>
              <a:ext uri="{FF2B5EF4-FFF2-40B4-BE49-F238E27FC236}">
                <a16:creationId xmlns:a16="http://schemas.microsoft.com/office/drawing/2014/main" id="{D775E7F0-C43C-4DA7-EC2C-7D41C08D21A8}"/>
              </a:ext>
            </a:extLst>
          </p:cNvPr>
          <p:cNvCxnSpPr>
            <a:cxnSpLocks/>
          </p:cNvCxnSpPr>
          <p:nvPr/>
        </p:nvCxnSpPr>
        <p:spPr>
          <a:xfrm>
            <a:off x="2778863" y="6736891"/>
            <a:ext cx="8142" cy="19565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接點 89">
            <a:extLst>
              <a:ext uri="{FF2B5EF4-FFF2-40B4-BE49-F238E27FC236}">
                <a16:creationId xmlns:a16="http://schemas.microsoft.com/office/drawing/2014/main" id="{B60AAA54-3A22-5C15-6EFA-94ADB2A66A55}"/>
              </a:ext>
            </a:extLst>
          </p:cNvPr>
          <p:cNvCxnSpPr>
            <a:cxnSpLocks/>
          </p:cNvCxnSpPr>
          <p:nvPr/>
        </p:nvCxnSpPr>
        <p:spPr>
          <a:xfrm>
            <a:off x="5770842" y="6706024"/>
            <a:ext cx="8142" cy="19565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文字方塊 93">
            <a:extLst>
              <a:ext uri="{FF2B5EF4-FFF2-40B4-BE49-F238E27FC236}">
                <a16:creationId xmlns:a16="http://schemas.microsoft.com/office/drawing/2014/main" id="{DC69ADAD-AA78-C526-649D-BAF80FDBE585}"/>
              </a:ext>
            </a:extLst>
          </p:cNvPr>
          <p:cNvSpPr txBox="1"/>
          <p:nvPr/>
        </p:nvSpPr>
        <p:spPr>
          <a:xfrm>
            <a:off x="14266513" y="5983644"/>
            <a:ext cx="387025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HK" altLang="zh-HK" dirty="0"/>
              <a:t>Can parents understand what each profile means?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HK" altLang="zh-HK" dirty="0"/>
              <a:t>Could they mistake the profiles for a ranking of good and bad schools?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HK" altLang="zh-HK" dirty="0"/>
              <a:t>Does the animation help parents connect profiles to locations?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HK" altLang="zh-HK" dirty="0"/>
              <a:t>Is the information card short and easy to understand?</a:t>
            </a:r>
          </a:p>
        </p:txBody>
      </p:sp>
      <p:sp>
        <p:nvSpPr>
          <p:cNvPr id="95" name="文字方塊 94">
            <a:extLst>
              <a:ext uri="{FF2B5EF4-FFF2-40B4-BE49-F238E27FC236}">
                <a16:creationId xmlns:a16="http://schemas.microsoft.com/office/drawing/2014/main" id="{86C97D90-5BC9-AD77-D54E-621EEA6D0FF3}"/>
              </a:ext>
            </a:extLst>
          </p:cNvPr>
          <p:cNvSpPr txBox="1"/>
          <p:nvPr/>
        </p:nvSpPr>
        <p:spPr>
          <a:xfrm>
            <a:off x="10809232" y="612554"/>
            <a:ext cx="15231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dirty="0"/>
              <a:t>Sin Ping CHAN</a:t>
            </a:r>
            <a:endParaRPr lang="zh-HK" altLang="en-US" dirty="0"/>
          </a:p>
        </p:txBody>
      </p:sp>
      <p:sp>
        <p:nvSpPr>
          <p:cNvPr id="97" name="文字方塊 96">
            <a:extLst>
              <a:ext uri="{FF2B5EF4-FFF2-40B4-BE49-F238E27FC236}">
                <a16:creationId xmlns:a16="http://schemas.microsoft.com/office/drawing/2014/main" id="{85B04503-32EE-F56E-B69C-8831C13C544B}"/>
              </a:ext>
            </a:extLst>
          </p:cNvPr>
          <p:cNvSpPr txBox="1"/>
          <p:nvPr/>
        </p:nvSpPr>
        <p:spPr>
          <a:xfrm>
            <a:off x="14192148" y="623600"/>
            <a:ext cx="1300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dirty="0"/>
              <a:t>08/10/2026</a:t>
            </a:r>
            <a:endParaRPr lang="zh-HK" altLang="en-US" dirty="0"/>
          </a:p>
        </p:txBody>
      </p:sp>
      <p:sp>
        <p:nvSpPr>
          <p:cNvPr id="99" name="文字方塊 98">
            <a:extLst>
              <a:ext uri="{FF2B5EF4-FFF2-40B4-BE49-F238E27FC236}">
                <a16:creationId xmlns:a16="http://schemas.microsoft.com/office/drawing/2014/main" id="{D5C270A1-D9C5-889B-2B11-5F02BD86120A}"/>
              </a:ext>
            </a:extLst>
          </p:cNvPr>
          <p:cNvSpPr txBox="1"/>
          <p:nvPr/>
        </p:nvSpPr>
        <p:spPr>
          <a:xfrm>
            <a:off x="17330721" y="6041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dirty="0"/>
              <a:t>1</a:t>
            </a:r>
            <a:endParaRPr lang="zh-HK" altLang="en-US" dirty="0"/>
          </a:p>
        </p:txBody>
      </p:sp>
      <p:sp>
        <p:nvSpPr>
          <p:cNvPr id="103" name="文字方塊 102">
            <a:extLst>
              <a:ext uri="{FF2B5EF4-FFF2-40B4-BE49-F238E27FC236}">
                <a16:creationId xmlns:a16="http://schemas.microsoft.com/office/drawing/2014/main" id="{AA21E38C-F64E-AECB-6556-EC281AB1B482}"/>
              </a:ext>
            </a:extLst>
          </p:cNvPr>
          <p:cNvSpPr txBox="1"/>
          <p:nvPr/>
        </p:nvSpPr>
        <p:spPr>
          <a:xfrm>
            <a:off x="7640726" y="7884349"/>
            <a:ext cx="1903219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HK" altLang="zh-HK" sz="1050" dirty="0"/>
              <a:t>Show </a:t>
            </a:r>
            <a:r>
              <a:rPr lang="en-US" altLang="zh-HK" sz="1050" dirty="0"/>
              <a:t>4</a:t>
            </a:r>
            <a:r>
              <a:rPr lang="zh-HK" altLang="zh-HK" sz="1050" dirty="0"/>
              <a:t> profile circles with clear labels</a:t>
            </a:r>
            <a:r>
              <a:rPr lang="en-US" altLang="zh-HK" sz="1050" dirty="0"/>
              <a:t>. </a:t>
            </a:r>
            <a:r>
              <a:rPr lang="zh-HK" altLang="zh-HK" sz="1050" dirty="0"/>
              <a:t>Select a circle to reveal the three-year trend of an example school and a short explanation. Use colour to identify profiles</a:t>
            </a:r>
            <a:endParaRPr lang="zh-HK" altLang="en-US" sz="1050" dirty="0"/>
          </a:p>
        </p:txBody>
      </p:sp>
      <p:cxnSp>
        <p:nvCxnSpPr>
          <p:cNvPr id="105" name="直線接點 104">
            <a:extLst>
              <a:ext uri="{FF2B5EF4-FFF2-40B4-BE49-F238E27FC236}">
                <a16:creationId xmlns:a16="http://schemas.microsoft.com/office/drawing/2014/main" id="{87F54385-647F-A525-8FFC-54FD209A1D46}"/>
              </a:ext>
            </a:extLst>
          </p:cNvPr>
          <p:cNvCxnSpPr>
            <a:cxnSpLocks/>
          </p:cNvCxnSpPr>
          <p:nvPr/>
        </p:nvCxnSpPr>
        <p:spPr>
          <a:xfrm>
            <a:off x="7644363" y="6694612"/>
            <a:ext cx="8142" cy="19565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文字方塊 106">
            <a:extLst>
              <a:ext uri="{FF2B5EF4-FFF2-40B4-BE49-F238E27FC236}">
                <a16:creationId xmlns:a16="http://schemas.microsoft.com/office/drawing/2014/main" id="{7A8BD0C8-2690-43FC-0637-4E42888BC351}"/>
              </a:ext>
            </a:extLst>
          </p:cNvPr>
          <p:cNvSpPr txBox="1"/>
          <p:nvPr/>
        </p:nvSpPr>
        <p:spPr>
          <a:xfrm>
            <a:off x="10401300" y="997682"/>
            <a:ext cx="915035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HK" altLang="zh-HK" sz="1400" dirty="0"/>
              <a:t>Explore</a:t>
            </a:r>
            <a:r>
              <a:rPr lang="en-US" altLang="zh-HK" sz="1400" dirty="0"/>
              <a:t> </a:t>
            </a:r>
            <a:r>
              <a:rPr lang="zh-HK" altLang="zh-HK" sz="1400" dirty="0"/>
              <a:t>visualisation ideas to develop an interactive story for parents considering a move for</a:t>
            </a:r>
            <a:endParaRPr lang="en-US" altLang="zh-HK" sz="1400" dirty="0"/>
          </a:p>
          <a:p>
            <a:r>
              <a:rPr lang="zh-HK" altLang="zh-HK" sz="1400" dirty="0"/>
              <a:t> a secondary school zone. Help them understand school results alongside student backgrounds,</a:t>
            </a:r>
            <a:endParaRPr lang="en-US" altLang="zh-HK" sz="1400" dirty="0"/>
          </a:p>
          <a:p>
            <a:r>
              <a:rPr lang="zh-HK" altLang="zh-HK" sz="1400" dirty="0"/>
              <a:t>three-year trends and locations.</a:t>
            </a:r>
            <a:endParaRPr lang="zh-HK" altLang="en-US" sz="1400" dirty="0"/>
          </a:p>
        </p:txBody>
      </p:sp>
      <p:sp>
        <p:nvSpPr>
          <p:cNvPr id="109" name="文字方塊 108">
            <a:extLst>
              <a:ext uri="{FF2B5EF4-FFF2-40B4-BE49-F238E27FC236}">
                <a16:creationId xmlns:a16="http://schemas.microsoft.com/office/drawing/2014/main" id="{BE13F20D-B834-9EFE-83A8-1777CD13B687}"/>
              </a:ext>
            </a:extLst>
          </p:cNvPr>
          <p:cNvSpPr txBox="1"/>
          <p:nvPr/>
        </p:nvSpPr>
        <p:spPr>
          <a:xfrm>
            <a:off x="10439400" y="106978"/>
            <a:ext cx="9779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HK" altLang="zh-HK" dirty="0"/>
              <a:t>Choosing a Secondary School Zone: Results, Student Backgrounds and Trends</a:t>
            </a:r>
            <a:endParaRPr lang="zh-HK" altLang="en-US" dirty="0"/>
          </a:p>
        </p:txBody>
      </p:sp>
      <p:sp>
        <p:nvSpPr>
          <p:cNvPr id="111" name="文字方塊 110">
            <a:extLst>
              <a:ext uri="{FF2B5EF4-FFF2-40B4-BE49-F238E27FC236}">
                <a16:creationId xmlns:a16="http://schemas.microsoft.com/office/drawing/2014/main" id="{4864DC8D-0D29-7C78-9FFD-88B7322BAEAD}"/>
              </a:ext>
            </a:extLst>
          </p:cNvPr>
          <p:cNvSpPr txBox="1"/>
          <p:nvPr/>
        </p:nvSpPr>
        <p:spPr>
          <a:xfrm>
            <a:off x="703017" y="5773341"/>
            <a:ext cx="78893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HK" altLang="zh-HK" dirty="0"/>
              <a:t>These ideas use simple visuals, short explanations and guided interactions to help busy parents follow the story without needing statistical knowledge.</a:t>
            </a:r>
            <a:endParaRPr lang="zh-HK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9695177" cy="6675157"/>
            <a:chOff x="0" y="0"/>
            <a:chExt cx="2553462" cy="17580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53462" cy="1758066"/>
            </a:xfrm>
            <a:custGeom>
              <a:avLst/>
              <a:gdLst/>
              <a:ahLst/>
              <a:cxnLst/>
              <a:rect l="l" t="t" r="r" b="b"/>
              <a:pathLst>
                <a:path w="2553462" h="1758066">
                  <a:moveTo>
                    <a:pt x="0" y="0"/>
                  </a:moveTo>
                  <a:lnTo>
                    <a:pt x="2553462" y="0"/>
                  </a:lnTo>
                  <a:lnTo>
                    <a:pt x="2553462" y="1758066"/>
                  </a:lnTo>
                  <a:lnTo>
                    <a:pt x="0" y="1758066"/>
                  </a:ln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553462" cy="17961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88640" y="134436"/>
            <a:ext cx="878160" cy="3000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Layout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0" y="6675157"/>
            <a:ext cx="9695177" cy="3611843"/>
            <a:chOff x="0" y="0"/>
            <a:chExt cx="2553462" cy="9512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553462" cy="951267"/>
            </a:xfrm>
            <a:custGeom>
              <a:avLst/>
              <a:gdLst/>
              <a:ahLst/>
              <a:cxnLst/>
              <a:rect l="l" t="t" r="r" b="b"/>
              <a:pathLst>
                <a:path w="2553462" h="951267">
                  <a:moveTo>
                    <a:pt x="0" y="0"/>
                  </a:moveTo>
                  <a:lnTo>
                    <a:pt x="2553462" y="0"/>
                  </a:lnTo>
                  <a:lnTo>
                    <a:pt x="2553462" y="951267"/>
                  </a:lnTo>
                  <a:lnTo>
                    <a:pt x="0" y="951267"/>
                  </a:ln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553462" cy="9893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695177" y="5307795"/>
            <a:ext cx="8592823" cy="4979205"/>
            <a:chOff x="0" y="0"/>
            <a:chExt cx="2263130" cy="131139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63130" cy="1311396"/>
            </a:xfrm>
            <a:custGeom>
              <a:avLst/>
              <a:gdLst/>
              <a:ahLst/>
              <a:cxnLst/>
              <a:rect l="l" t="t" r="r" b="b"/>
              <a:pathLst>
                <a:path w="2263130" h="1311396">
                  <a:moveTo>
                    <a:pt x="0" y="0"/>
                  </a:moveTo>
                  <a:lnTo>
                    <a:pt x="2263130" y="0"/>
                  </a:lnTo>
                  <a:lnTo>
                    <a:pt x="2263130" y="1311396"/>
                  </a:lnTo>
                  <a:lnTo>
                    <a:pt x="0" y="1311396"/>
                  </a:ln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263130" cy="13494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695177" y="1672088"/>
            <a:ext cx="8592823" cy="3635707"/>
            <a:chOff x="0" y="0"/>
            <a:chExt cx="2263130" cy="95755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263130" cy="957552"/>
            </a:xfrm>
            <a:custGeom>
              <a:avLst/>
              <a:gdLst/>
              <a:ahLst/>
              <a:cxnLst/>
              <a:rect l="l" t="t" r="r" b="b"/>
              <a:pathLst>
                <a:path w="2263130" h="957552">
                  <a:moveTo>
                    <a:pt x="0" y="0"/>
                  </a:moveTo>
                  <a:lnTo>
                    <a:pt x="2263130" y="0"/>
                  </a:lnTo>
                  <a:lnTo>
                    <a:pt x="2263130" y="957552"/>
                  </a:lnTo>
                  <a:lnTo>
                    <a:pt x="0" y="957552"/>
                  </a:ln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263130" cy="9956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9847017" y="1824488"/>
            <a:ext cx="1227609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Operations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88640" y="6799316"/>
            <a:ext cx="3940022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Focus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847017" y="5479245"/>
            <a:ext cx="3940022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Discussion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9695177" y="598638"/>
            <a:ext cx="3776039" cy="434255"/>
            <a:chOff x="0" y="0"/>
            <a:chExt cx="994512" cy="11437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94512" cy="114372"/>
            </a:xfrm>
            <a:custGeom>
              <a:avLst/>
              <a:gdLst/>
              <a:ahLst/>
              <a:cxnLst/>
              <a:rect l="l" t="t" r="r" b="b"/>
              <a:pathLst>
                <a:path w="994512" h="114372">
                  <a:moveTo>
                    <a:pt x="0" y="0"/>
                  </a:moveTo>
                  <a:lnTo>
                    <a:pt x="994512" y="0"/>
                  </a:lnTo>
                  <a:lnTo>
                    <a:pt x="994512" y="114372"/>
                  </a:lnTo>
                  <a:lnTo>
                    <a:pt x="0" y="114372"/>
                  </a:ln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994512" cy="152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695177" y="0"/>
            <a:ext cx="8592823" cy="594627"/>
            <a:chOff x="0" y="0"/>
            <a:chExt cx="2263130" cy="15661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263130" cy="156610"/>
            </a:xfrm>
            <a:custGeom>
              <a:avLst/>
              <a:gdLst/>
              <a:ahLst/>
              <a:cxnLst/>
              <a:rect l="l" t="t" r="r" b="b"/>
              <a:pathLst>
                <a:path w="2263130" h="156610">
                  <a:moveTo>
                    <a:pt x="0" y="0"/>
                  </a:moveTo>
                  <a:lnTo>
                    <a:pt x="2263130" y="0"/>
                  </a:lnTo>
                  <a:lnTo>
                    <a:pt x="2263130" y="156610"/>
                  </a:lnTo>
                  <a:lnTo>
                    <a:pt x="0" y="156610"/>
                  </a:ln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2263130" cy="1947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3471215" y="598638"/>
            <a:ext cx="2661097" cy="434255"/>
            <a:chOff x="0" y="0"/>
            <a:chExt cx="700865" cy="11437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700865" cy="114372"/>
            </a:xfrm>
            <a:custGeom>
              <a:avLst/>
              <a:gdLst/>
              <a:ahLst/>
              <a:cxnLst/>
              <a:rect l="l" t="t" r="r" b="b"/>
              <a:pathLst>
                <a:path w="700865" h="114372">
                  <a:moveTo>
                    <a:pt x="0" y="0"/>
                  </a:moveTo>
                  <a:lnTo>
                    <a:pt x="700865" y="0"/>
                  </a:lnTo>
                  <a:lnTo>
                    <a:pt x="700865" y="114372"/>
                  </a:lnTo>
                  <a:lnTo>
                    <a:pt x="0" y="114372"/>
                  </a:ln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700865" cy="152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695177" y="1032893"/>
            <a:ext cx="8592823" cy="639196"/>
            <a:chOff x="0" y="0"/>
            <a:chExt cx="2263130" cy="16834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263130" cy="168348"/>
            </a:xfrm>
            <a:custGeom>
              <a:avLst/>
              <a:gdLst/>
              <a:ahLst/>
              <a:cxnLst/>
              <a:rect l="l" t="t" r="r" b="b"/>
              <a:pathLst>
                <a:path w="2263130" h="168348">
                  <a:moveTo>
                    <a:pt x="0" y="0"/>
                  </a:moveTo>
                  <a:lnTo>
                    <a:pt x="2263130" y="0"/>
                  </a:lnTo>
                  <a:lnTo>
                    <a:pt x="2263130" y="168348"/>
                  </a:lnTo>
                  <a:lnTo>
                    <a:pt x="0" y="168348"/>
                  </a:ln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2263130" cy="2064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9780580" y="117926"/>
            <a:ext cx="543744" cy="29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Title: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780580" y="652888"/>
            <a:ext cx="825326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Author: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3556940" y="652888"/>
            <a:ext cx="583109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Date: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16132312" y="598638"/>
            <a:ext cx="2155688" cy="434255"/>
            <a:chOff x="0" y="0"/>
            <a:chExt cx="567753" cy="114372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567753" cy="114372"/>
            </a:xfrm>
            <a:custGeom>
              <a:avLst/>
              <a:gdLst/>
              <a:ahLst/>
              <a:cxnLst/>
              <a:rect l="l" t="t" r="r" b="b"/>
              <a:pathLst>
                <a:path w="567753" h="114372">
                  <a:moveTo>
                    <a:pt x="0" y="0"/>
                  </a:moveTo>
                  <a:lnTo>
                    <a:pt x="567753" y="0"/>
                  </a:lnTo>
                  <a:lnTo>
                    <a:pt x="567753" y="114372"/>
                  </a:lnTo>
                  <a:lnTo>
                    <a:pt x="0" y="114372"/>
                  </a:ln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567753" cy="152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6218037" y="652888"/>
            <a:ext cx="698078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Sheet: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780580" y="1189613"/>
            <a:ext cx="533772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Task: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9695177" cy="6675157"/>
            <a:chOff x="0" y="0"/>
            <a:chExt cx="2553462" cy="17580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53462" cy="1758066"/>
            </a:xfrm>
            <a:custGeom>
              <a:avLst/>
              <a:gdLst/>
              <a:ahLst/>
              <a:cxnLst/>
              <a:rect l="l" t="t" r="r" b="b"/>
              <a:pathLst>
                <a:path w="2553462" h="1758066">
                  <a:moveTo>
                    <a:pt x="0" y="0"/>
                  </a:moveTo>
                  <a:lnTo>
                    <a:pt x="2553462" y="0"/>
                  </a:lnTo>
                  <a:lnTo>
                    <a:pt x="2553462" y="1758066"/>
                  </a:lnTo>
                  <a:lnTo>
                    <a:pt x="0" y="1758066"/>
                  </a:ln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553462" cy="17961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88640" y="134436"/>
            <a:ext cx="756791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Layout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0" y="6675157"/>
            <a:ext cx="9695177" cy="3611843"/>
            <a:chOff x="0" y="0"/>
            <a:chExt cx="2553462" cy="9512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553462" cy="951267"/>
            </a:xfrm>
            <a:custGeom>
              <a:avLst/>
              <a:gdLst/>
              <a:ahLst/>
              <a:cxnLst/>
              <a:rect l="l" t="t" r="r" b="b"/>
              <a:pathLst>
                <a:path w="2553462" h="951267">
                  <a:moveTo>
                    <a:pt x="0" y="0"/>
                  </a:moveTo>
                  <a:lnTo>
                    <a:pt x="2553462" y="0"/>
                  </a:lnTo>
                  <a:lnTo>
                    <a:pt x="2553462" y="951267"/>
                  </a:lnTo>
                  <a:lnTo>
                    <a:pt x="0" y="951267"/>
                  </a:ln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553462" cy="9893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695177" y="5307795"/>
            <a:ext cx="8592823" cy="4979205"/>
            <a:chOff x="0" y="0"/>
            <a:chExt cx="2263130" cy="131139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63130" cy="1311396"/>
            </a:xfrm>
            <a:custGeom>
              <a:avLst/>
              <a:gdLst/>
              <a:ahLst/>
              <a:cxnLst/>
              <a:rect l="l" t="t" r="r" b="b"/>
              <a:pathLst>
                <a:path w="2263130" h="1311396">
                  <a:moveTo>
                    <a:pt x="0" y="0"/>
                  </a:moveTo>
                  <a:lnTo>
                    <a:pt x="2263130" y="0"/>
                  </a:lnTo>
                  <a:lnTo>
                    <a:pt x="2263130" y="1311396"/>
                  </a:lnTo>
                  <a:lnTo>
                    <a:pt x="0" y="1311396"/>
                  </a:ln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263130" cy="13494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695177" y="1672088"/>
            <a:ext cx="8592823" cy="3635707"/>
            <a:chOff x="0" y="0"/>
            <a:chExt cx="2263130" cy="95755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263130" cy="957552"/>
            </a:xfrm>
            <a:custGeom>
              <a:avLst/>
              <a:gdLst/>
              <a:ahLst/>
              <a:cxnLst/>
              <a:rect l="l" t="t" r="r" b="b"/>
              <a:pathLst>
                <a:path w="2263130" h="957552">
                  <a:moveTo>
                    <a:pt x="0" y="0"/>
                  </a:moveTo>
                  <a:lnTo>
                    <a:pt x="2263130" y="0"/>
                  </a:lnTo>
                  <a:lnTo>
                    <a:pt x="2263130" y="957552"/>
                  </a:lnTo>
                  <a:lnTo>
                    <a:pt x="0" y="957552"/>
                  </a:ln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263130" cy="9956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9847017" y="1824488"/>
            <a:ext cx="1227609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Operations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88640" y="6799316"/>
            <a:ext cx="3940022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Focus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847017" y="5479245"/>
            <a:ext cx="3940022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Discussion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9695177" y="598638"/>
            <a:ext cx="3776039" cy="434255"/>
            <a:chOff x="0" y="0"/>
            <a:chExt cx="994512" cy="11437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94512" cy="114372"/>
            </a:xfrm>
            <a:custGeom>
              <a:avLst/>
              <a:gdLst/>
              <a:ahLst/>
              <a:cxnLst/>
              <a:rect l="l" t="t" r="r" b="b"/>
              <a:pathLst>
                <a:path w="994512" h="114372">
                  <a:moveTo>
                    <a:pt x="0" y="0"/>
                  </a:moveTo>
                  <a:lnTo>
                    <a:pt x="994512" y="0"/>
                  </a:lnTo>
                  <a:lnTo>
                    <a:pt x="994512" y="114372"/>
                  </a:lnTo>
                  <a:lnTo>
                    <a:pt x="0" y="114372"/>
                  </a:ln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994512" cy="152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695177" y="0"/>
            <a:ext cx="8592823" cy="594627"/>
            <a:chOff x="0" y="0"/>
            <a:chExt cx="2263130" cy="15661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263130" cy="156610"/>
            </a:xfrm>
            <a:custGeom>
              <a:avLst/>
              <a:gdLst/>
              <a:ahLst/>
              <a:cxnLst/>
              <a:rect l="l" t="t" r="r" b="b"/>
              <a:pathLst>
                <a:path w="2263130" h="156610">
                  <a:moveTo>
                    <a:pt x="0" y="0"/>
                  </a:moveTo>
                  <a:lnTo>
                    <a:pt x="2263130" y="0"/>
                  </a:lnTo>
                  <a:lnTo>
                    <a:pt x="2263130" y="156610"/>
                  </a:lnTo>
                  <a:lnTo>
                    <a:pt x="0" y="156610"/>
                  </a:ln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2263130" cy="1947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3471215" y="598638"/>
            <a:ext cx="2661097" cy="434255"/>
            <a:chOff x="0" y="0"/>
            <a:chExt cx="700865" cy="11437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700865" cy="114372"/>
            </a:xfrm>
            <a:custGeom>
              <a:avLst/>
              <a:gdLst/>
              <a:ahLst/>
              <a:cxnLst/>
              <a:rect l="l" t="t" r="r" b="b"/>
              <a:pathLst>
                <a:path w="700865" h="114372">
                  <a:moveTo>
                    <a:pt x="0" y="0"/>
                  </a:moveTo>
                  <a:lnTo>
                    <a:pt x="700865" y="0"/>
                  </a:lnTo>
                  <a:lnTo>
                    <a:pt x="700865" y="114372"/>
                  </a:lnTo>
                  <a:lnTo>
                    <a:pt x="0" y="114372"/>
                  </a:ln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700865" cy="152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695177" y="1032893"/>
            <a:ext cx="8592823" cy="639196"/>
            <a:chOff x="0" y="0"/>
            <a:chExt cx="2263130" cy="16834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263130" cy="168348"/>
            </a:xfrm>
            <a:custGeom>
              <a:avLst/>
              <a:gdLst/>
              <a:ahLst/>
              <a:cxnLst/>
              <a:rect l="l" t="t" r="r" b="b"/>
              <a:pathLst>
                <a:path w="2263130" h="168348">
                  <a:moveTo>
                    <a:pt x="0" y="0"/>
                  </a:moveTo>
                  <a:lnTo>
                    <a:pt x="2263130" y="0"/>
                  </a:lnTo>
                  <a:lnTo>
                    <a:pt x="2263130" y="168348"/>
                  </a:lnTo>
                  <a:lnTo>
                    <a:pt x="0" y="168348"/>
                  </a:ln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2263130" cy="2064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9780580" y="117926"/>
            <a:ext cx="543744" cy="29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Title: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780580" y="652888"/>
            <a:ext cx="825326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Author: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3556940" y="652888"/>
            <a:ext cx="583109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Date: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16132312" y="598638"/>
            <a:ext cx="2155688" cy="434255"/>
            <a:chOff x="0" y="0"/>
            <a:chExt cx="567753" cy="114372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567753" cy="114372"/>
            </a:xfrm>
            <a:custGeom>
              <a:avLst/>
              <a:gdLst/>
              <a:ahLst/>
              <a:cxnLst/>
              <a:rect l="l" t="t" r="r" b="b"/>
              <a:pathLst>
                <a:path w="567753" h="114372">
                  <a:moveTo>
                    <a:pt x="0" y="0"/>
                  </a:moveTo>
                  <a:lnTo>
                    <a:pt x="567753" y="0"/>
                  </a:lnTo>
                  <a:lnTo>
                    <a:pt x="567753" y="114372"/>
                  </a:lnTo>
                  <a:lnTo>
                    <a:pt x="0" y="114372"/>
                  </a:ln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567753" cy="152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6218037" y="652888"/>
            <a:ext cx="698078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Sheet: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780580" y="1189613"/>
            <a:ext cx="533772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Task: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9695177" cy="6675157"/>
            <a:chOff x="0" y="0"/>
            <a:chExt cx="2553462" cy="17580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53462" cy="1758066"/>
            </a:xfrm>
            <a:custGeom>
              <a:avLst/>
              <a:gdLst/>
              <a:ahLst/>
              <a:cxnLst/>
              <a:rect l="l" t="t" r="r" b="b"/>
              <a:pathLst>
                <a:path w="2553462" h="1758066">
                  <a:moveTo>
                    <a:pt x="0" y="0"/>
                  </a:moveTo>
                  <a:lnTo>
                    <a:pt x="2553462" y="0"/>
                  </a:lnTo>
                  <a:lnTo>
                    <a:pt x="2553462" y="1758066"/>
                  </a:lnTo>
                  <a:lnTo>
                    <a:pt x="0" y="1758066"/>
                  </a:ln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553462" cy="17961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88640" y="134436"/>
            <a:ext cx="756791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Layout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0" y="6675157"/>
            <a:ext cx="9695177" cy="3611843"/>
            <a:chOff x="0" y="0"/>
            <a:chExt cx="2553462" cy="9512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553462" cy="951267"/>
            </a:xfrm>
            <a:custGeom>
              <a:avLst/>
              <a:gdLst/>
              <a:ahLst/>
              <a:cxnLst/>
              <a:rect l="l" t="t" r="r" b="b"/>
              <a:pathLst>
                <a:path w="2553462" h="951267">
                  <a:moveTo>
                    <a:pt x="0" y="0"/>
                  </a:moveTo>
                  <a:lnTo>
                    <a:pt x="2553462" y="0"/>
                  </a:lnTo>
                  <a:lnTo>
                    <a:pt x="2553462" y="951267"/>
                  </a:lnTo>
                  <a:lnTo>
                    <a:pt x="0" y="951267"/>
                  </a:ln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553462" cy="9893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695177" y="5307795"/>
            <a:ext cx="8592823" cy="4979205"/>
            <a:chOff x="0" y="0"/>
            <a:chExt cx="2263130" cy="131139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63130" cy="1311396"/>
            </a:xfrm>
            <a:custGeom>
              <a:avLst/>
              <a:gdLst/>
              <a:ahLst/>
              <a:cxnLst/>
              <a:rect l="l" t="t" r="r" b="b"/>
              <a:pathLst>
                <a:path w="2263130" h="1311396">
                  <a:moveTo>
                    <a:pt x="0" y="0"/>
                  </a:moveTo>
                  <a:lnTo>
                    <a:pt x="2263130" y="0"/>
                  </a:lnTo>
                  <a:lnTo>
                    <a:pt x="2263130" y="1311396"/>
                  </a:lnTo>
                  <a:lnTo>
                    <a:pt x="0" y="1311396"/>
                  </a:ln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263130" cy="13494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695177" y="1672088"/>
            <a:ext cx="8592823" cy="3635707"/>
            <a:chOff x="0" y="0"/>
            <a:chExt cx="2263130" cy="95755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263130" cy="957552"/>
            </a:xfrm>
            <a:custGeom>
              <a:avLst/>
              <a:gdLst/>
              <a:ahLst/>
              <a:cxnLst/>
              <a:rect l="l" t="t" r="r" b="b"/>
              <a:pathLst>
                <a:path w="2263130" h="957552">
                  <a:moveTo>
                    <a:pt x="0" y="0"/>
                  </a:moveTo>
                  <a:lnTo>
                    <a:pt x="2263130" y="0"/>
                  </a:lnTo>
                  <a:lnTo>
                    <a:pt x="2263130" y="957552"/>
                  </a:lnTo>
                  <a:lnTo>
                    <a:pt x="0" y="957552"/>
                  </a:ln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263130" cy="9956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9847017" y="1824488"/>
            <a:ext cx="1227609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Operations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88640" y="6799316"/>
            <a:ext cx="3940022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Focus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847017" y="5479245"/>
            <a:ext cx="3940022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Discussion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9695177" y="598638"/>
            <a:ext cx="3776039" cy="434255"/>
            <a:chOff x="0" y="0"/>
            <a:chExt cx="994512" cy="11437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94512" cy="114372"/>
            </a:xfrm>
            <a:custGeom>
              <a:avLst/>
              <a:gdLst/>
              <a:ahLst/>
              <a:cxnLst/>
              <a:rect l="l" t="t" r="r" b="b"/>
              <a:pathLst>
                <a:path w="994512" h="114372">
                  <a:moveTo>
                    <a:pt x="0" y="0"/>
                  </a:moveTo>
                  <a:lnTo>
                    <a:pt x="994512" y="0"/>
                  </a:lnTo>
                  <a:lnTo>
                    <a:pt x="994512" y="114372"/>
                  </a:lnTo>
                  <a:lnTo>
                    <a:pt x="0" y="114372"/>
                  </a:ln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994512" cy="152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695177" y="0"/>
            <a:ext cx="8592823" cy="594627"/>
            <a:chOff x="0" y="0"/>
            <a:chExt cx="2263130" cy="15661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263130" cy="156610"/>
            </a:xfrm>
            <a:custGeom>
              <a:avLst/>
              <a:gdLst/>
              <a:ahLst/>
              <a:cxnLst/>
              <a:rect l="l" t="t" r="r" b="b"/>
              <a:pathLst>
                <a:path w="2263130" h="156610">
                  <a:moveTo>
                    <a:pt x="0" y="0"/>
                  </a:moveTo>
                  <a:lnTo>
                    <a:pt x="2263130" y="0"/>
                  </a:lnTo>
                  <a:lnTo>
                    <a:pt x="2263130" y="156610"/>
                  </a:lnTo>
                  <a:lnTo>
                    <a:pt x="0" y="156610"/>
                  </a:ln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2263130" cy="1947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3471215" y="598638"/>
            <a:ext cx="2661097" cy="434255"/>
            <a:chOff x="0" y="0"/>
            <a:chExt cx="700865" cy="11437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700865" cy="114372"/>
            </a:xfrm>
            <a:custGeom>
              <a:avLst/>
              <a:gdLst/>
              <a:ahLst/>
              <a:cxnLst/>
              <a:rect l="l" t="t" r="r" b="b"/>
              <a:pathLst>
                <a:path w="700865" h="114372">
                  <a:moveTo>
                    <a:pt x="0" y="0"/>
                  </a:moveTo>
                  <a:lnTo>
                    <a:pt x="700865" y="0"/>
                  </a:lnTo>
                  <a:lnTo>
                    <a:pt x="700865" y="114372"/>
                  </a:lnTo>
                  <a:lnTo>
                    <a:pt x="0" y="114372"/>
                  </a:ln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700865" cy="152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695177" y="1032893"/>
            <a:ext cx="8592823" cy="639196"/>
            <a:chOff x="0" y="0"/>
            <a:chExt cx="2263130" cy="16834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263130" cy="168348"/>
            </a:xfrm>
            <a:custGeom>
              <a:avLst/>
              <a:gdLst/>
              <a:ahLst/>
              <a:cxnLst/>
              <a:rect l="l" t="t" r="r" b="b"/>
              <a:pathLst>
                <a:path w="2263130" h="168348">
                  <a:moveTo>
                    <a:pt x="0" y="0"/>
                  </a:moveTo>
                  <a:lnTo>
                    <a:pt x="2263130" y="0"/>
                  </a:lnTo>
                  <a:lnTo>
                    <a:pt x="2263130" y="168348"/>
                  </a:lnTo>
                  <a:lnTo>
                    <a:pt x="0" y="168348"/>
                  </a:ln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2263130" cy="2064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9780580" y="117926"/>
            <a:ext cx="543744" cy="29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Title: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780580" y="652888"/>
            <a:ext cx="825326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Author: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3556940" y="652888"/>
            <a:ext cx="583109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Date: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16132312" y="598638"/>
            <a:ext cx="2155688" cy="434255"/>
            <a:chOff x="0" y="0"/>
            <a:chExt cx="567753" cy="114372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567753" cy="114372"/>
            </a:xfrm>
            <a:custGeom>
              <a:avLst/>
              <a:gdLst/>
              <a:ahLst/>
              <a:cxnLst/>
              <a:rect l="l" t="t" r="r" b="b"/>
              <a:pathLst>
                <a:path w="567753" h="114372">
                  <a:moveTo>
                    <a:pt x="0" y="0"/>
                  </a:moveTo>
                  <a:lnTo>
                    <a:pt x="567753" y="0"/>
                  </a:lnTo>
                  <a:lnTo>
                    <a:pt x="567753" y="114372"/>
                  </a:lnTo>
                  <a:lnTo>
                    <a:pt x="0" y="114372"/>
                  </a:ln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567753" cy="152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6218037" y="652888"/>
            <a:ext cx="698078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Sheet: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780580" y="1189613"/>
            <a:ext cx="533772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Task: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9695177" cy="6675157"/>
            <a:chOff x="0" y="0"/>
            <a:chExt cx="2553462" cy="17580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53462" cy="1758066"/>
            </a:xfrm>
            <a:custGeom>
              <a:avLst/>
              <a:gdLst/>
              <a:ahLst/>
              <a:cxnLst/>
              <a:rect l="l" t="t" r="r" b="b"/>
              <a:pathLst>
                <a:path w="2553462" h="1758066">
                  <a:moveTo>
                    <a:pt x="0" y="0"/>
                  </a:moveTo>
                  <a:lnTo>
                    <a:pt x="2553462" y="0"/>
                  </a:lnTo>
                  <a:lnTo>
                    <a:pt x="2553462" y="1758066"/>
                  </a:lnTo>
                  <a:lnTo>
                    <a:pt x="0" y="1758066"/>
                  </a:ln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553462" cy="17961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88640" y="134436"/>
            <a:ext cx="756791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Layout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0" y="6675157"/>
            <a:ext cx="9695177" cy="3611843"/>
            <a:chOff x="0" y="0"/>
            <a:chExt cx="2553462" cy="9512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553462" cy="951267"/>
            </a:xfrm>
            <a:custGeom>
              <a:avLst/>
              <a:gdLst/>
              <a:ahLst/>
              <a:cxnLst/>
              <a:rect l="l" t="t" r="r" b="b"/>
              <a:pathLst>
                <a:path w="2553462" h="951267">
                  <a:moveTo>
                    <a:pt x="0" y="0"/>
                  </a:moveTo>
                  <a:lnTo>
                    <a:pt x="2553462" y="0"/>
                  </a:lnTo>
                  <a:lnTo>
                    <a:pt x="2553462" y="951267"/>
                  </a:lnTo>
                  <a:lnTo>
                    <a:pt x="0" y="951267"/>
                  </a:ln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553462" cy="9893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695177" y="5989375"/>
            <a:ext cx="8592823" cy="4297625"/>
            <a:chOff x="0" y="0"/>
            <a:chExt cx="2263130" cy="113188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63130" cy="1131885"/>
            </a:xfrm>
            <a:custGeom>
              <a:avLst/>
              <a:gdLst/>
              <a:ahLst/>
              <a:cxnLst/>
              <a:rect l="l" t="t" r="r" b="b"/>
              <a:pathLst>
                <a:path w="2263130" h="1131885">
                  <a:moveTo>
                    <a:pt x="0" y="0"/>
                  </a:moveTo>
                  <a:lnTo>
                    <a:pt x="2263130" y="0"/>
                  </a:lnTo>
                  <a:lnTo>
                    <a:pt x="2263130" y="1131885"/>
                  </a:lnTo>
                  <a:lnTo>
                    <a:pt x="0" y="1131885"/>
                  </a:ln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263130" cy="11699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695177" y="1672088"/>
            <a:ext cx="8592823" cy="4317287"/>
            <a:chOff x="0" y="0"/>
            <a:chExt cx="2263130" cy="113706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263130" cy="1137063"/>
            </a:xfrm>
            <a:custGeom>
              <a:avLst/>
              <a:gdLst/>
              <a:ahLst/>
              <a:cxnLst/>
              <a:rect l="l" t="t" r="r" b="b"/>
              <a:pathLst>
                <a:path w="2263130" h="1137063">
                  <a:moveTo>
                    <a:pt x="0" y="0"/>
                  </a:moveTo>
                  <a:lnTo>
                    <a:pt x="2263130" y="0"/>
                  </a:lnTo>
                  <a:lnTo>
                    <a:pt x="2263130" y="1137063"/>
                  </a:lnTo>
                  <a:lnTo>
                    <a:pt x="0" y="1137063"/>
                  </a:ln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263130" cy="1175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9847017" y="1824488"/>
            <a:ext cx="1227609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Operations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88640" y="6799316"/>
            <a:ext cx="3940022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Focus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847017" y="6098370"/>
            <a:ext cx="3940022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Details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9695177" y="598638"/>
            <a:ext cx="3776039" cy="434255"/>
            <a:chOff x="0" y="0"/>
            <a:chExt cx="994512" cy="11437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94512" cy="114372"/>
            </a:xfrm>
            <a:custGeom>
              <a:avLst/>
              <a:gdLst/>
              <a:ahLst/>
              <a:cxnLst/>
              <a:rect l="l" t="t" r="r" b="b"/>
              <a:pathLst>
                <a:path w="994512" h="114372">
                  <a:moveTo>
                    <a:pt x="0" y="0"/>
                  </a:moveTo>
                  <a:lnTo>
                    <a:pt x="994512" y="0"/>
                  </a:lnTo>
                  <a:lnTo>
                    <a:pt x="994512" y="114372"/>
                  </a:lnTo>
                  <a:lnTo>
                    <a:pt x="0" y="114372"/>
                  </a:ln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994512" cy="152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695177" y="0"/>
            <a:ext cx="8592823" cy="594627"/>
            <a:chOff x="0" y="0"/>
            <a:chExt cx="2263130" cy="15661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263130" cy="156610"/>
            </a:xfrm>
            <a:custGeom>
              <a:avLst/>
              <a:gdLst/>
              <a:ahLst/>
              <a:cxnLst/>
              <a:rect l="l" t="t" r="r" b="b"/>
              <a:pathLst>
                <a:path w="2263130" h="156610">
                  <a:moveTo>
                    <a:pt x="0" y="0"/>
                  </a:moveTo>
                  <a:lnTo>
                    <a:pt x="2263130" y="0"/>
                  </a:lnTo>
                  <a:lnTo>
                    <a:pt x="2263130" y="156610"/>
                  </a:lnTo>
                  <a:lnTo>
                    <a:pt x="0" y="156610"/>
                  </a:ln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2263130" cy="1947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3471215" y="598638"/>
            <a:ext cx="2661097" cy="434255"/>
            <a:chOff x="0" y="0"/>
            <a:chExt cx="700865" cy="11437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700865" cy="114372"/>
            </a:xfrm>
            <a:custGeom>
              <a:avLst/>
              <a:gdLst/>
              <a:ahLst/>
              <a:cxnLst/>
              <a:rect l="l" t="t" r="r" b="b"/>
              <a:pathLst>
                <a:path w="700865" h="114372">
                  <a:moveTo>
                    <a:pt x="0" y="0"/>
                  </a:moveTo>
                  <a:lnTo>
                    <a:pt x="700865" y="0"/>
                  </a:lnTo>
                  <a:lnTo>
                    <a:pt x="700865" y="114372"/>
                  </a:lnTo>
                  <a:lnTo>
                    <a:pt x="0" y="114372"/>
                  </a:ln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700865" cy="152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695177" y="1032893"/>
            <a:ext cx="8592823" cy="639196"/>
            <a:chOff x="0" y="0"/>
            <a:chExt cx="2263130" cy="16834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263130" cy="168348"/>
            </a:xfrm>
            <a:custGeom>
              <a:avLst/>
              <a:gdLst/>
              <a:ahLst/>
              <a:cxnLst/>
              <a:rect l="l" t="t" r="r" b="b"/>
              <a:pathLst>
                <a:path w="2263130" h="168348">
                  <a:moveTo>
                    <a:pt x="0" y="0"/>
                  </a:moveTo>
                  <a:lnTo>
                    <a:pt x="2263130" y="0"/>
                  </a:lnTo>
                  <a:lnTo>
                    <a:pt x="2263130" y="168348"/>
                  </a:lnTo>
                  <a:lnTo>
                    <a:pt x="0" y="168348"/>
                  </a:ln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2263130" cy="2064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9780580" y="117926"/>
            <a:ext cx="543744" cy="29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Title: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780580" y="652888"/>
            <a:ext cx="825326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Author: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3556940" y="652888"/>
            <a:ext cx="583109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Date: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16132312" y="598638"/>
            <a:ext cx="2155688" cy="434255"/>
            <a:chOff x="0" y="0"/>
            <a:chExt cx="567753" cy="114372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567753" cy="114372"/>
            </a:xfrm>
            <a:custGeom>
              <a:avLst/>
              <a:gdLst/>
              <a:ahLst/>
              <a:cxnLst/>
              <a:rect l="l" t="t" r="r" b="b"/>
              <a:pathLst>
                <a:path w="567753" h="114372">
                  <a:moveTo>
                    <a:pt x="0" y="0"/>
                  </a:moveTo>
                  <a:lnTo>
                    <a:pt x="567753" y="0"/>
                  </a:lnTo>
                  <a:lnTo>
                    <a:pt x="567753" y="114372"/>
                  </a:lnTo>
                  <a:lnTo>
                    <a:pt x="0" y="114372"/>
                  </a:ln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567753" cy="152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6218037" y="652888"/>
            <a:ext cx="698078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Sheet: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780580" y="1189613"/>
            <a:ext cx="533772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Task: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76892" y="219633"/>
            <a:ext cx="4392873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REFERENCES: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76892" y="6676645"/>
            <a:ext cx="4392873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DECLARATION: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1103</TotalTime>
  <Words>578</Words>
  <Application>Microsoft Office PowerPoint</Application>
  <PresentationFormat>自訂</PresentationFormat>
  <Paragraphs>91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2" baseType="lpstr">
      <vt:lpstr>Canva Sans Bold</vt:lpstr>
      <vt:lpstr>Arial</vt:lpstr>
      <vt:lpstr>Calibri</vt:lpstr>
      <vt:lpstr>Canva Sans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FIT5147 FDS Slide template</dc:title>
  <cp:lastModifiedBy>mingfung yu</cp:lastModifiedBy>
  <cp:revision>6</cp:revision>
  <dcterms:created xsi:type="dcterms:W3CDTF">2006-08-16T00:00:00Z</dcterms:created>
  <dcterms:modified xsi:type="dcterms:W3CDTF">2026-10-08T02:32:43Z</dcterms:modified>
  <dc:identifier>DAHVIjpNEn4</dc:identifier>
</cp:coreProperties>
</file>