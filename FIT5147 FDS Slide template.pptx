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8288000" cy="10287000"/>
  <p:notesSz cx="6858000" cy="9144000"/>
  <p:embeddedFontLst>
    <p:embeddedFont>
      <p:font typeface="Canva Sans" panose="02020500000000000000" charset="0"/>
      <p:regular r:id="rId9"/>
    </p:embeddedFont>
    <p:embeddedFont>
      <p:font typeface="Canva Sans Bold" panose="02020500000000000000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75" d="100"/>
          <a:sy n="75" d="100"/>
        </p:scale>
        <p:origin x="54" y="-13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11" Type="http://schemas.openxmlformats.org/officeDocument/2006/relationships/image" Target="../media/image12.png"/><Relationship Id="rId5" Type="http://schemas.openxmlformats.org/officeDocument/2006/relationships/image" Target="../media/image3.png"/><Relationship Id="rId10" Type="http://schemas.openxmlformats.org/officeDocument/2006/relationships/image" Target="../media/image11.png"/><Relationship Id="rId4" Type="http://schemas.openxmlformats.org/officeDocument/2006/relationships/image" Target="../media/image6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22850" y="3649502"/>
            <a:ext cx="6842300" cy="6464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19"/>
              </a:lnSpc>
              <a:spcBef>
                <a:spcPct val="0"/>
              </a:spcBef>
            </a:pPr>
            <a:r>
              <a:rPr lang="en-US" sz="3799" b="1">
                <a:solidFill>
                  <a:srgbClr val="FF31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YOUR PROJECT TITLE 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3761375" y="87629"/>
            <a:ext cx="4392873" cy="9410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779"/>
              </a:lnSpc>
            </a:pPr>
            <a:r>
              <a:rPr lang="en-US" sz="2699" b="1">
                <a:solidFill>
                  <a:srgbClr val="FF31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YOUR NAME</a:t>
            </a:r>
          </a:p>
          <a:p>
            <a:pPr algn="r">
              <a:lnSpc>
                <a:spcPts val="3779"/>
              </a:lnSpc>
              <a:spcBef>
                <a:spcPct val="0"/>
              </a:spcBef>
            </a:pPr>
            <a:endParaRPr lang="en-US" sz="2699" b="1">
              <a:solidFill>
                <a:srgbClr val="FF3131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831129" y="6429533"/>
            <a:ext cx="14126682" cy="9410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779"/>
              </a:lnSpc>
            </a:pPr>
            <a:r>
              <a:rPr lang="en-US" sz="26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Purpose: </a:t>
            </a:r>
            <a:r>
              <a:rPr lang="en-US" sz="2699" b="1">
                <a:solidFill>
                  <a:srgbClr val="FF31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XXX (Which insights from your DEP are  you communicating in your DVP?)</a:t>
            </a:r>
          </a:p>
          <a:p>
            <a:pPr algn="ctr">
              <a:lnSpc>
                <a:spcPts val="3779"/>
              </a:lnSpc>
              <a:spcBef>
                <a:spcPct val="0"/>
              </a:spcBef>
            </a:pPr>
            <a:r>
              <a:rPr lang="en-US" sz="26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Audience: </a:t>
            </a:r>
            <a:r>
              <a:rPr lang="en-US" sz="2699" b="1">
                <a:solidFill>
                  <a:srgbClr val="FF3131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XXX (Who are you designing for?)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3411249" y="8225594"/>
            <a:ext cx="11227817" cy="1656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YOU DO NOT HAVE TO USE THIS TEMPLATE </a:t>
            </a:r>
          </a:p>
          <a:p>
            <a:pPr algn="ctr">
              <a:lnSpc>
                <a:spcPts val="2659"/>
              </a:lnSpc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You can adjust the template as you wish based on the assignment criteria. 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ALL SUBMITTED SLIDES ARE PRESENTED IN CLASS THEREFORE DO NOT ADD YOUR STUDENT ID 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(REMOVE THIS TEXT)</a:t>
            </a:r>
          </a:p>
          <a:p>
            <a:pPr algn="ctr">
              <a:lnSpc>
                <a:spcPts val="2659"/>
              </a:lnSpc>
              <a:spcBef>
                <a:spcPct val="0"/>
              </a:spcBef>
            </a:pPr>
            <a:endParaRPr lang="en-US" sz="18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51081" y="121919"/>
            <a:ext cx="8199929" cy="4648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779"/>
              </a:lnSpc>
              <a:spcBef>
                <a:spcPct val="0"/>
              </a:spcBef>
            </a:pPr>
            <a:r>
              <a:rPr lang="en-US" sz="26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FIT5147 Data Visualisation Project Part 1: Design </a:t>
            </a:r>
          </a:p>
        </p:txBody>
      </p:sp>
      <p:grpSp>
        <p:nvGrpSpPr>
          <p:cNvPr id="7" name="Group 7"/>
          <p:cNvGrpSpPr/>
          <p:nvPr/>
        </p:nvGrpSpPr>
        <p:grpSpPr>
          <a:xfrm>
            <a:off x="516147" y="1066472"/>
            <a:ext cx="5790204" cy="4077028"/>
            <a:chOff x="0" y="0"/>
            <a:chExt cx="5907113" cy="415934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5907113" cy="4057747"/>
            </a:xfrm>
            <a:custGeom>
              <a:avLst/>
              <a:gdLst/>
              <a:ahLst/>
              <a:cxnLst/>
              <a:rect l="l" t="t" r="r" b="b"/>
              <a:pathLst>
                <a:path w="5907113" h="4057747">
                  <a:moveTo>
                    <a:pt x="0" y="0"/>
                  </a:moveTo>
                  <a:lnTo>
                    <a:pt x="5907113" y="0"/>
                  </a:lnTo>
                  <a:lnTo>
                    <a:pt x="5907113" y="4057747"/>
                  </a:lnTo>
                  <a:lnTo>
                    <a:pt x="0" y="4057747"/>
                  </a:lnTo>
                  <a:close/>
                </a:path>
              </a:pathLst>
            </a:custGeom>
            <a:solidFill>
              <a:srgbClr val="FDF9B4"/>
            </a:solidFill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5907113" cy="4159347"/>
            </a:xfrm>
            <a:custGeom>
              <a:avLst/>
              <a:gdLst/>
              <a:ahLst/>
              <a:cxnLst/>
              <a:rect l="l" t="t" r="r" b="b"/>
              <a:pathLst>
                <a:path w="5907113" h="4159347">
                  <a:moveTo>
                    <a:pt x="0" y="4057747"/>
                  </a:moveTo>
                  <a:lnTo>
                    <a:pt x="5907113" y="4057747"/>
                  </a:lnTo>
                  <a:lnTo>
                    <a:pt x="5780113" y="4159347"/>
                  </a:lnTo>
                  <a:cubicBezTo>
                    <a:pt x="5780113" y="4159347"/>
                    <a:pt x="4789513" y="4083147"/>
                    <a:pt x="4687913" y="4083147"/>
                  </a:cubicBezTo>
                  <a:lnTo>
                    <a:pt x="1219200" y="4083147"/>
                  </a:lnTo>
                  <a:cubicBezTo>
                    <a:pt x="1117600" y="4083147"/>
                    <a:pt x="127000" y="4159347"/>
                    <a:pt x="127000" y="4159347"/>
                  </a:cubicBezTo>
                  <a:lnTo>
                    <a:pt x="0" y="4057747"/>
                  </a:lnTo>
                  <a:lnTo>
                    <a:pt x="0" y="0"/>
                  </a:lnTo>
                  <a:lnTo>
                    <a:pt x="5907113" y="0"/>
                  </a:lnTo>
                  <a:lnTo>
                    <a:pt x="5907113" y="4057747"/>
                  </a:lnTo>
                  <a:lnTo>
                    <a:pt x="12700" y="4057747"/>
                  </a:lnTo>
                  <a:lnTo>
                    <a:pt x="12700" y="4045047"/>
                  </a:lnTo>
                  <a:lnTo>
                    <a:pt x="5894413" y="4045047"/>
                  </a:lnTo>
                  <a:lnTo>
                    <a:pt x="5894413" y="12700"/>
                  </a:lnTo>
                  <a:lnTo>
                    <a:pt x="12700" y="12700"/>
                  </a:lnTo>
                  <a:lnTo>
                    <a:pt x="12700" y="4057747"/>
                  </a:lnTo>
                </a:path>
              </a:pathLst>
            </a:custGeom>
            <a:solidFill>
              <a:srgbClr val="394C60">
                <a:alpha val="784"/>
              </a:srgbClr>
            </a:solidFill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5907113" cy="3648171"/>
            </a:xfrm>
            <a:prstGeom prst="rect">
              <a:avLst/>
            </a:prstGeom>
          </p:spPr>
          <p:txBody>
            <a:bodyPr lIns="265571" tIns="265571" rIns="265571" bIns="265571" rtlCol="0" anchor="t"/>
            <a:lstStyle/>
            <a:p>
              <a:pPr algn="l">
                <a:lnSpc>
                  <a:spcPts val="3476"/>
                </a:lnSpc>
              </a:pPr>
              <a:r>
                <a:rPr lang="en-US" sz="2483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This is a </a:t>
              </a:r>
              <a:r>
                <a:rPr lang="en-US" sz="2483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read-only</a:t>
              </a:r>
              <a:r>
                <a:rPr lang="en-US" sz="2483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 template file.</a:t>
              </a:r>
            </a:p>
            <a:p>
              <a:pPr algn="l">
                <a:lnSpc>
                  <a:spcPts val="3476"/>
                </a:lnSpc>
              </a:pPr>
              <a:endParaRPr lang="en-US" sz="2483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endParaRPr>
            </a:p>
            <a:p>
              <a:pPr algn="l">
                <a:lnSpc>
                  <a:spcPts val="3476"/>
                </a:lnSpc>
              </a:pPr>
              <a:r>
                <a:rPr lang="en-US" sz="2483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To use the template goto:</a:t>
              </a:r>
            </a:p>
            <a:p>
              <a:pPr algn="l">
                <a:lnSpc>
                  <a:spcPts val="3476"/>
                </a:lnSpc>
              </a:pPr>
              <a:r>
                <a:rPr lang="en-US" sz="2483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File &gt; Make a Copy (to use in Canva)</a:t>
              </a:r>
            </a:p>
            <a:p>
              <a:pPr algn="l">
                <a:lnSpc>
                  <a:spcPts val="3476"/>
                </a:lnSpc>
              </a:pPr>
              <a:r>
                <a:rPr lang="en-US" sz="2483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OR </a:t>
              </a:r>
            </a:p>
            <a:p>
              <a:pPr algn="l">
                <a:lnSpc>
                  <a:spcPts val="3476"/>
                </a:lnSpc>
              </a:pPr>
              <a:r>
                <a:rPr lang="en-US" sz="2483">
                  <a:solidFill>
                    <a:srgbClr val="000000"/>
                  </a:solidFill>
                  <a:latin typeface="Canva Sans"/>
                  <a:ea typeface="Canva Sans"/>
                  <a:cs typeface="Canva Sans"/>
                  <a:sym typeface="Canva Sans"/>
                </a:rPr>
                <a:t>File &gt; Download to .pptx (to use Powerpoint) 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9695177" cy="6675157"/>
            <a:chOff x="0" y="0"/>
            <a:chExt cx="2553462" cy="17580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53462" cy="1758066"/>
            </a:xfrm>
            <a:custGeom>
              <a:avLst/>
              <a:gdLst/>
              <a:ahLst/>
              <a:cxnLst/>
              <a:rect l="l" t="t" r="r" b="b"/>
              <a:pathLst>
                <a:path w="2553462" h="1758066">
                  <a:moveTo>
                    <a:pt x="0" y="0"/>
                  </a:moveTo>
                  <a:lnTo>
                    <a:pt x="2553462" y="0"/>
                  </a:lnTo>
                  <a:lnTo>
                    <a:pt x="2553462" y="1758066"/>
                  </a:lnTo>
                  <a:lnTo>
                    <a:pt x="0" y="1758066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553462" cy="17961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88640" y="134436"/>
            <a:ext cx="840060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1) Ideas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0" y="6675157"/>
            <a:ext cx="9695177" cy="3611843"/>
            <a:chOff x="0" y="0"/>
            <a:chExt cx="2553462" cy="95126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53462" cy="951267"/>
            </a:xfrm>
            <a:custGeom>
              <a:avLst/>
              <a:gdLst/>
              <a:ahLst/>
              <a:cxnLst/>
              <a:rect l="l" t="t" r="r" b="b"/>
              <a:pathLst>
                <a:path w="2553462" h="951267">
                  <a:moveTo>
                    <a:pt x="0" y="0"/>
                  </a:moveTo>
                  <a:lnTo>
                    <a:pt x="2553462" y="0"/>
                  </a:lnTo>
                  <a:lnTo>
                    <a:pt x="2553462" y="951267"/>
                  </a:lnTo>
                  <a:lnTo>
                    <a:pt x="0" y="951267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553462" cy="9893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95177" y="5307795"/>
            <a:ext cx="4536739" cy="4979205"/>
            <a:chOff x="0" y="0"/>
            <a:chExt cx="1194861" cy="131139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94861" cy="1311396"/>
            </a:xfrm>
            <a:custGeom>
              <a:avLst/>
              <a:gdLst/>
              <a:ahLst/>
              <a:cxnLst/>
              <a:rect l="l" t="t" r="r" b="b"/>
              <a:pathLst>
                <a:path w="1194861" h="1311396">
                  <a:moveTo>
                    <a:pt x="0" y="0"/>
                  </a:moveTo>
                  <a:lnTo>
                    <a:pt x="1194861" y="0"/>
                  </a:lnTo>
                  <a:lnTo>
                    <a:pt x="1194861" y="1311396"/>
                  </a:lnTo>
                  <a:lnTo>
                    <a:pt x="0" y="1311396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94861" cy="13494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695177" y="1672088"/>
            <a:ext cx="8592823" cy="3635707"/>
            <a:chOff x="0" y="0"/>
            <a:chExt cx="2263130" cy="95755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263130" cy="957552"/>
            </a:xfrm>
            <a:custGeom>
              <a:avLst/>
              <a:gdLst/>
              <a:ahLst/>
              <a:cxnLst/>
              <a:rect l="l" t="t" r="r" b="b"/>
              <a:pathLst>
                <a:path w="2263130" h="957552">
                  <a:moveTo>
                    <a:pt x="0" y="0"/>
                  </a:moveTo>
                  <a:lnTo>
                    <a:pt x="2263130" y="0"/>
                  </a:lnTo>
                  <a:lnTo>
                    <a:pt x="2263130" y="957552"/>
                  </a:lnTo>
                  <a:lnTo>
                    <a:pt x="0" y="95755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263130" cy="9956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4231916" y="5307795"/>
            <a:ext cx="4056084" cy="4979205"/>
            <a:chOff x="0" y="0"/>
            <a:chExt cx="1068269" cy="1311395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068269" cy="1311396"/>
            </a:xfrm>
            <a:custGeom>
              <a:avLst/>
              <a:gdLst/>
              <a:ahLst/>
              <a:cxnLst/>
              <a:rect l="l" t="t" r="r" b="b"/>
              <a:pathLst>
                <a:path w="1068269" h="1311396">
                  <a:moveTo>
                    <a:pt x="0" y="0"/>
                  </a:moveTo>
                  <a:lnTo>
                    <a:pt x="1068269" y="0"/>
                  </a:lnTo>
                  <a:lnTo>
                    <a:pt x="1068269" y="1311396"/>
                  </a:lnTo>
                  <a:lnTo>
                    <a:pt x="0" y="1311396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068269" cy="13494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9847017" y="1824488"/>
            <a:ext cx="887834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2) Filter 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88640" y="6799316"/>
            <a:ext cx="394002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4) Combine &amp; Refine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847017" y="5479245"/>
            <a:ext cx="394002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3) Categorise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347978" y="5479245"/>
            <a:ext cx="394002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5) Questions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695177" y="598638"/>
            <a:ext cx="3776039" cy="434255"/>
            <a:chOff x="0" y="0"/>
            <a:chExt cx="994512" cy="11437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994512" cy="114372"/>
            </a:xfrm>
            <a:custGeom>
              <a:avLst/>
              <a:gdLst/>
              <a:ahLst/>
              <a:cxnLst/>
              <a:rect l="l" t="t" r="r" b="b"/>
              <a:pathLst>
                <a:path w="994512" h="114372">
                  <a:moveTo>
                    <a:pt x="0" y="0"/>
                  </a:moveTo>
                  <a:lnTo>
                    <a:pt x="994512" y="0"/>
                  </a:lnTo>
                  <a:lnTo>
                    <a:pt x="994512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994512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695177" y="0"/>
            <a:ext cx="8592823" cy="594627"/>
            <a:chOff x="0" y="0"/>
            <a:chExt cx="2263130" cy="15661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2263130" cy="156610"/>
            </a:xfrm>
            <a:custGeom>
              <a:avLst/>
              <a:gdLst/>
              <a:ahLst/>
              <a:cxnLst/>
              <a:rect l="l" t="t" r="r" b="b"/>
              <a:pathLst>
                <a:path w="2263130" h="156610">
                  <a:moveTo>
                    <a:pt x="0" y="0"/>
                  </a:moveTo>
                  <a:lnTo>
                    <a:pt x="2263130" y="0"/>
                  </a:lnTo>
                  <a:lnTo>
                    <a:pt x="2263130" y="156610"/>
                  </a:lnTo>
                  <a:lnTo>
                    <a:pt x="0" y="156610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2263130" cy="1947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3471215" y="598638"/>
            <a:ext cx="2661097" cy="434255"/>
            <a:chOff x="0" y="0"/>
            <a:chExt cx="700865" cy="11437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00865" cy="114372"/>
            </a:xfrm>
            <a:custGeom>
              <a:avLst/>
              <a:gdLst/>
              <a:ahLst/>
              <a:cxnLst/>
              <a:rect l="l" t="t" r="r" b="b"/>
              <a:pathLst>
                <a:path w="700865" h="114372">
                  <a:moveTo>
                    <a:pt x="0" y="0"/>
                  </a:moveTo>
                  <a:lnTo>
                    <a:pt x="700865" y="0"/>
                  </a:lnTo>
                  <a:lnTo>
                    <a:pt x="700865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700865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695177" y="1032893"/>
            <a:ext cx="8592823" cy="639196"/>
            <a:chOff x="0" y="0"/>
            <a:chExt cx="2263130" cy="16834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2263130" cy="168348"/>
            </a:xfrm>
            <a:custGeom>
              <a:avLst/>
              <a:gdLst/>
              <a:ahLst/>
              <a:cxnLst/>
              <a:rect l="l" t="t" r="r" b="b"/>
              <a:pathLst>
                <a:path w="2263130" h="168348">
                  <a:moveTo>
                    <a:pt x="0" y="0"/>
                  </a:moveTo>
                  <a:lnTo>
                    <a:pt x="2263130" y="0"/>
                  </a:lnTo>
                  <a:lnTo>
                    <a:pt x="2263130" y="168348"/>
                  </a:lnTo>
                  <a:lnTo>
                    <a:pt x="0" y="168348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38100"/>
              <a:ext cx="2263130" cy="2064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9780580" y="117926"/>
            <a:ext cx="825326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Title: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780579" y="652888"/>
            <a:ext cx="1029539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Author: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556940" y="652888"/>
            <a:ext cx="674976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Date: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16132312" y="598638"/>
            <a:ext cx="2155688" cy="434255"/>
            <a:chOff x="0" y="0"/>
            <a:chExt cx="567753" cy="11437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567753" cy="114372"/>
            </a:xfrm>
            <a:custGeom>
              <a:avLst/>
              <a:gdLst/>
              <a:ahLst/>
              <a:cxnLst/>
              <a:rect l="l" t="t" r="r" b="b"/>
              <a:pathLst>
                <a:path w="567753" h="114372">
                  <a:moveTo>
                    <a:pt x="0" y="0"/>
                  </a:moveTo>
                  <a:lnTo>
                    <a:pt x="567753" y="0"/>
                  </a:lnTo>
                  <a:lnTo>
                    <a:pt x="567753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38100"/>
              <a:ext cx="567753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16218036" y="652888"/>
            <a:ext cx="774563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Sheet: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780580" y="1189612"/>
            <a:ext cx="658820" cy="2972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Task: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D7D516F3-5536-8F2D-14E7-39100BD24CCD}"/>
              </a:ext>
            </a:extLst>
          </p:cNvPr>
          <p:cNvSpPr txBox="1"/>
          <p:nvPr/>
        </p:nvSpPr>
        <p:spPr>
          <a:xfrm>
            <a:off x="10058240" y="2380520"/>
            <a:ext cx="753119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zh-HK" altLang="zh-HK" b="1" dirty="0"/>
              <a:t>#10 Boxplot</a:t>
            </a:r>
            <a:r>
              <a:rPr lang="en-US" altLang="zh-HK" b="1" dirty="0"/>
              <a:t>: </a:t>
            </a:r>
          </a:p>
          <a:p>
            <a:pPr lvl="0"/>
            <a:r>
              <a:rPr lang="zh-HK" altLang="zh-HK" i="1" dirty="0"/>
              <a:t>Requires statistical explanation that may distract parents from the story.</a:t>
            </a:r>
            <a:endParaRPr lang="zh-HK" altLang="zh-HK" dirty="0"/>
          </a:p>
          <a:p>
            <a:pPr lvl="0"/>
            <a:r>
              <a:rPr lang="zh-HK" altLang="zh-HK" b="1" dirty="0"/>
              <a:t>#11 Bar Chart</a:t>
            </a:r>
            <a:r>
              <a:rPr lang="en-US" altLang="zh-HK" b="1" dirty="0"/>
              <a:t>: </a:t>
            </a:r>
          </a:p>
          <a:p>
            <a:pPr lvl="0"/>
            <a:r>
              <a:rPr lang="zh-HK" altLang="zh-HK" i="1" dirty="0"/>
              <a:t>Small differences across the </a:t>
            </a:r>
            <a:r>
              <a:rPr lang="en-US" altLang="zh-HK" i="1" dirty="0"/>
              <a:t>3</a:t>
            </a:r>
            <a:r>
              <a:rPr lang="zh-HK" altLang="zh-HK" i="1" dirty="0"/>
              <a:t> years do not show a clear message in this design.</a:t>
            </a:r>
            <a:endParaRPr lang="zh-HK" altLang="zh-HK" dirty="0"/>
          </a:p>
          <a:p>
            <a:pPr lvl="0"/>
            <a:endParaRPr lang="zh-HK" altLang="zh-HK" dirty="0"/>
          </a:p>
        </p:txBody>
      </p:sp>
      <p:pic>
        <p:nvPicPr>
          <p:cNvPr id="53" name="圖片 52">
            <a:extLst>
              <a:ext uri="{FF2B5EF4-FFF2-40B4-BE49-F238E27FC236}">
                <a16:creationId xmlns:a16="http://schemas.microsoft.com/office/drawing/2014/main" id="{D297D2D4-F000-67DC-E295-74D34BD79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936" y="136138"/>
            <a:ext cx="9216811" cy="5640287"/>
          </a:xfrm>
          <a:prstGeom prst="rect">
            <a:avLst/>
          </a:prstGeom>
        </p:spPr>
      </p:pic>
      <p:sp>
        <p:nvSpPr>
          <p:cNvPr id="54" name="文字方塊 53">
            <a:extLst>
              <a:ext uri="{FF2B5EF4-FFF2-40B4-BE49-F238E27FC236}">
                <a16:creationId xmlns:a16="http://schemas.microsoft.com/office/drawing/2014/main" id="{11D2D5E2-A124-3BED-C838-04E302F6AE91}"/>
              </a:ext>
            </a:extLst>
          </p:cNvPr>
          <p:cNvSpPr txBox="1"/>
          <p:nvPr/>
        </p:nvSpPr>
        <p:spPr>
          <a:xfrm>
            <a:off x="9982200" y="6134100"/>
            <a:ext cx="3841639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b="1" dirty="0"/>
              <a:t>Differences and relationships:</a:t>
            </a:r>
            <a:br>
              <a:rPr lang="zh-HK" altLang="zh-HK" dirty="0"/>
            </a:br>
            <a:r>
              <a:rPr lang="zh-HK" altLang="zh-HK" dirty="0"/>
              <a:t>#1 Scatter Dot Plot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b="1" dirty="0"/>
              <a:t>Change and patterns:</a:t>
            </a:r>
            <a:br>
              <a:rPr lang="zh-HK" altLang="zh-HK" dirty="0"/>
            </a:br>
            <a:r>
              <a:rPr lang="zh-HK" altLang="zh-HK" dirty="0"/>
              <a:t>#2 Line Chart, #9 Heatmap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b="1" dirty="0"/>
              <a:t>Location and regional context:</a:t>
            </a:r>
            <a:br>
              <a:rPr lang="zh-HK" altLang="zh-HK" dirty="0"/>
            </a:br>
            <a:r>
              <a:rPr lang="zh-HK" altLang="zh-HK" dirty="0"/>
              <a:t>#5 Symbol Map, #6 Choropleth Map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b="1" dirty="0"/>
              <a:t>Groups and proportions:</a:t>
            </a:r>
            <a:br>
              <a:rPr lang="zh-HK" altLang="zh-HK" dirty="0"/>
            </a:br>
            <a:r>
              <a:rPr lang="zh-HK" altLang="zh-HK" dirty="0"/>
              <a:t>#3 Donut Chart, #4 Radial Bar Chart, #7 School Profile Groups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b="1" dirty="0"/>
              <a:t>Connections and stages:</a:t>
            </a:r>
            <a:br>
              <a:rPr lang="zh-HK" altLang="zh-HK" dirty="0"/>
            </a:br>
            <a:r>
              <a:rPr lang="zh-HK" altLang="zh-HK" dirty="0"/>
              <a:t>#8 Sankey Diagram, #12 Funnel Chart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HK" altLang="en-US" dirty="0"/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37D9B7FF-7271-8670-154D-0AF614B2B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8382" y="6638114"/>
            <a:ext cx="1617872" cy="1258345"/>
          </a:xfrm>
          <a:prstGeom prst="rect">
            <a:avLst/>
          </a:prstGeom>
        </p:spPr>
      </p:pic>
      <p:pic>
        <p:nvPicPr>
          <p:cNvPr id="58" name="圖片 57">
            <a:extLst>
              <a:ext uri="{FF2B5EF4-FFF2-40B4-BE49-F238E27FC236}">
                <a16:creationId xmlns:a16="http://schemas.microsoft.com/office/drawing/2014/main" id="{FAD6F6AC-F7A4-436D-D28E-84A7D74B96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45" y="7143787"/>
            <a:ext cx="2413123" cy="1320071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03C7C670-9024-B554-A358-90BFBC9A1EC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7005" y="6720039"/>
            <a:ext cx="2800741" cy="2010056"/>
          </a:xfrm>
          <a:prstGeom prst="rect">
            <a:avLst/>
          </a:prstGeom>
        </p:spPr>
      </p:pic>
      <p:pic>
        <p:nvPicPr>
          <p:cNvPr id="62" name="圖片 61">
            <a:extLst>
              <a:ext uri="{FF2B5EF4-FFF2-40B4-BE49-F238E27FC236}">
                <a16:creationId xmlns:a16="http://schemas.microsoft.com/office/drawing/2014/main" id="{6E396A39-28C5-73DC-5A85-5C6DB1B8BB4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037" y="8907449"/>
            <a:ext cx="1551764" cy="1387052"/>
          </a:xfrm>
          <a:prstGeom prst="rect">
            <a:avLst/>
          </a:prstGeom>
        </p:spPr>
      </p:pic>
      <p:sp>
        <p:nvSpPr>
          <p:cNvPr id="66" name="文字方塊 65">
            <a:extLst>
              <a:ext uri="{FF2B5EF4-FFF2-40B4-BE49-F238E27FC236}">
                <a16:creationId xmlns:a16="http://schemas.microsoft.com/office/drawing/2014/main" id="{B3EFAC6F-33B9-4143-4568-C0795AC3A9F2}"/>
              </a:ext>
            </a:extLst>
          </p:cNvPr>
          <p:cNvSpPr txBox="1"/>
          <p:nvPr/>
        </p:nvSpPr>
        <p:spPr>
          <a:xfrm>
            <a:off x="128614" y="8095952"/>
            <a:ext cx="268932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zh-HK" altLang="zh-HK" sz="1200" dirty="0"/>
            </a:br>
            <a:r>
              <a:rPr lang="zh-HK" altLang="zh-HK" sz="1200" dirty="0"/>
              <a:t>Select a school in the scatter plot to reveal its three-year trend. Explain its current results alongside recent changes.</a:t>
            </a:r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ED5CF0B3-168D-84F2-153E-2AE590658709}"/>
              </a:ext>
            </a:extLst>
          </p:cNvPr>
          <p:cNvSpPr txBox="1"/>
          <p:nvPr/>
        </p:nvSpPr>
        <p:spPr>
          <a:xfrm>
            <a:off x="4726022" y="7527376"/>
            <a:ext cx="898441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zh-HK" altLang="zh-HK" sz="1050" dirty="0"/>
            </a:br>
            <a:r>
              <a:rPr lang="zh-HK" altLang="zh-HK" sz="1050" dirty="0"/>
              <a:t>reveal its three-year trend and a short explanation.</a:t>
            </a:r>
          </a:p>
        </p:txBody>
      </p:sp>
      <p:pic>
        <p:nvPicPr>
          <p:cNvPr id="72" name="圖片 71">
            <a:extLst>
              <a:ext uri="{FF2B5EF4-FFF2-40B4-BE49-F238E27FC236}">
                <a16:creationId xmlns:a16="http://schemas.microsoft.com/office/drawing/2014/main" id="{D6F9144C-BAE1-50FA-FEBE-A4C991E868F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3801" y="8693402"/>
            <a:ext cx="2058780" cy="1600380"/>
          </a:xfrm>
          <a:prstGeom prst="rect">
            <a:avLst/>
          </a:prstGeom>
        </p:spPr>
      </p:pic>
      <p:sp>
        <p:nvSpPr>
          <p:cNvPr id="74" name="文字方塊 73">
            <a:extLst>
              <a:ext uri="{FF2B5EF4-FFF2-40B4-BE49-F238E27FC236}">
                <a16:creationId xmlns:a16="http://schemas.microsoft.com/office/drawing/2014/main" id="{F05556FF-B9FF-CC6D-9936-9258A95ECA25}"/>
              </a:ext>
            </a:extLst>
          </p:cNvPr>
          <p:cNvSpPr txBox="1"/>
          <p:nvPr/>
        </p:nvSpPr>
        <p:spPr>
          <a:xfrm>
            <a:off x="5879678" y="8973295"/>
            <a:ext cx="3714805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zh-HK" altLang="zh-HK" sz="1400" dirty="0"/>
            </a:br>
            <a:r>
              <a:rPr lang="zh-HK" altLang="zh-HK" sz="1400" dirty="0"/>
              <a:t>Move the slider to highlight school zones </a:t>
            </a:r>
            <a:r>
              <a:rPr lang="en-US" altLang="zh-HK" sz="1400" dirty="0"/>
              <a:t>within </a:t>
            </a:r>
            <a:r>
              <a:rPr lang="zh-HK" altLang="zh-HK" sz="1400" dirty="0"/>
              <a:t>a results range. </a:t>
            </a:r>
            <a:r>
              <a:rPr lang="en-US" altLang="zh-HK" sz="1400" dirty="0"/>
              <a:t>Click</a:t>
            </a:r>
            <a:r>
              <a:rPr lang="zh-HK" altLang="zh-HK" sz="1400" dirty="0"/>
              <a:t> a zone to open a white card explaining its associated school</a:t>
            </a:r>
            <a:r>
              <a:rPr lang="en-US" altLang="zh-HK" sz="1400" dirty="0"/>
              <a:t>’s details(</a:t>
            </a:r>
            <a:r>
              <a:rPr lang="zh-HK" altLang="zh-HK" sz="1400" dirty="0"/>
              <a:t> ICSEA</a:t>
            </a:r>
            <a:r>
              <a:rPr lang="en-US" altLang="zh-HK" sz="1400" dirty="0"/>
              <a:t>, VCE </a:t>
            </a:r>
            <a:r>
              <a:rPr lang="en-US" altLang="zh-HK" sz="1400" dirty="0" err="1"/>
              <a:t>score,etc</a:t>
            </a:r>
            <a:r>
              <a:rPr lang="en-US" altLang="zh-HK" sz="1400" dirty="0"/>
              <a:t>)</a:t>
            </a:r>
            <a:r>
              <a:rPr lang="zh-HK" altLang="zh-HK" sz="1400" dirty="0"/>
              <a:t> Include a close button</a:t>
            </a:r>
            <a:endParaRPr lang="zh-HK" altLang="en-US" sz="14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46283F55-433E-ADA7-C22D-6B69ADA17F7C}"/>
              </a:ext>
            </a:extLst>
          </p:cNvPr>
          <p:cNvSpPr txBox="1"/>
          <p:nvPr/>
        </p:nvSpPr>
        <p:spPr>
          <a:xfrm>
            <a:off x="1711659" y="8883076"/>
            <a:ext cx="246701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zh-HK" altLang="zh-HK" sz="1400" dirty="0"/>
            </a:br>
            <a:r>
              <a:rPr lang="zh-HK" altLang="zh-HK" sz="1400" dirty="0"/>
              <a:t>Place school symbols over shaded regions. Show regional context and individual school locations together.</a:t>
            </a:r>
          </a:p>
        </p:txBody>
      </p:sp>
      <p:pic>
        <p:nvPicPr>
          <p:cNvPr id="78" name="圖片 77">
            <a:extLst>
              <a:ext uri="{FF2B5EF4-FFF2-40B4-BE49-F238E27FC236}">
                <a16:creationId xmlns:a16="http://schemas.microsoft.com/office/drawing/2014/main" id="{FD0EB374-A3AB-6644-78AD-9F0663C5FC2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02"/>
          <a:stretch>
            <a:fillRect/>
          </a:stretch>
        </p:blipFill>
        <p:spPr>
          <a:xfrm>
            <a:off x="5850379" y="6750350"/>
            <a:ext cx="1853002" cy="1357755"/>
          </a:xfrm>
          <a:prstGeom prst="rect">
            <a:avLst/>
          </a:prstGeom>
        </p:spPr>
      </p:pic>
      <p:sp>
        <p:nvSpPr>
          <p:cNvPr id="80" name="文字方塊 79">
            <a:extLst>
              <a:ext uri="{FF2B5EF4-FFF2-40B4-BE49-F238E27FC236}">
                <a16:creationId xmlns:a16="http://schemas.microsoft.com/office/drawing/2014/main" id="{D1740EFD-3BCC-3110-2785-840FBB4C0670}"/>
              </a:ext>
            </a:extLst>
          </p:cNvPr>
          <p:cNvSpPr txBox="1"/>
          <p:nvPr/>
        </p:nvSpPr>
        <p:spPr>
          <a:xfrm>
            <a:off x="5825911" y="7894192"/>
            <a:ext cx="185300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zh-HK" altLang="zh-HK" sz="1200" dirty="0"/>
            </a:br>
            <a:r>
              <a:rPr lang="zh-HK" altLang="zh-HK" sz="1200" u="sng" dirty="0"/>
              <a:t>Select a profile circle. </a:t>
            </a:r>
            <a:endParaRPr lang="en-US" altLang="zh-HK" sz="1200" u="sng" dirty="0"/>
          </a:p>
          <a:p>
            <a:pPr>
              <a:buNone/>
            </a:pPr>
            <a:r>
              <a:rPr lang="en-US" altLang="zh-HK" sz="1200" u="sng" dirty="0"/>
              <a:t>-</a:t>
            </a:r>
            <a:r>
              <a:rPr lang="zh-HK" altLang="zh-HK" sz="1200" dirty="0"/>
              <a:t>Animate its school dots onto their map locations.</a:t>
            </a:r>
            <a:endParaRPr lang="en-US" altLang="zh-HK" sz="1200" dirty="0"/>
          </a:p>
        </p:txBody>
      </p:sp>
      <p:cxnSp>
        <p:nvCxnSpPr>
          <p:cNvPr id="82" name="直線接點 81">
            <a:extLst>
              <a:ext uri="{FF2B5EF4-FFF2-40B4-BE49-F238E27FC236}">
                <a16:creationId xmlns:a16="http://schemas.microsoft.com/office/drawing/2014/main" id="{60924C04-0755-64ED-AAB4-746A42E3AF30}"/>
              </a:ext>
            </a:extLst>
          </p:cNvPr>
          <p:cNvCxnSpPr>
            <a:cxnSpLocks/>
          </p:cNvCxnSpPr>
          <p:nvPr/>
        </p:nvCxnSpPr>
        <p:spPr>
          <a:xfrm>
            <a:off x="128614" y="8973295"/>
            <a:ext cx="3605186" cy="19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線接點 83">
            <a:extLst>
              <a:ext uri="{FF2B5EF4-FFF2-40B4-BE49-F238E27FC236}">
                <a16:creationId xmlns:a16="http://schemas.microsoft.com/office/drawing/2014/main" id="{343AFD1B-D184-EC8D-AFDE-6CED978B6675}"/>
              </a:ext>
            </a:extLst>
          </p:cNvPr>
          <p:cNvCxnSpPr>
            <a:cxnSpLocks/>
          </p:cNvCxnSpPr>
          <p:nvPr/>
        </p:nvCxnSpPr>
        <p:spPr>
          <a:xfrm>
            <a:off x="2868348" y="8669641"/>
            <a:ext cx="4599252" cy="237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接點 85">
            <a:extLst>
              <a:ext uri="{FF2B5EF4-FFF2-40B4-BE49-F238E27FC236}">
                <a16:creationId xmlns:a16="http://schemas.microsoft.com/office/drawing/2014/main" id="{D775E7F0-C43C-4DA7-EC2C-7D41C08D21A8}"/>
              </a:ext>
            </a:extLst>
          </p:cNvPr>
          <p:cNvCxnSpPr>
            <a:cxnSpLocks/>
          </p:cNvCxnSpPr>
          <p:nvPr/>
        </p:nvCxnSpPr>
        <p:spPr>
          <a:xfrm>
            <a:off x="2778863" y="6736891"/>
            <a:ext cx="8142" cy="1956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線接點 89">
            <a:extLst>
              <a:ext uri="{FF2B5EF4-FFF2-40B4-BE49-F238E27FC236}">
                <a16:creationId xmlns:a16="http://schemas.microsoft.com/office/drawing/2014/main" id="{B60AAA54-3A22-5C15-6EFA-94ADB2A66A55}"/>
              </a:ext>
            </a:extLst>
          </p:cNvPr>
          <p:cNvCxnSpPr>
            <a:cxnSpLocks/>
          </p:cNvCxnSpPr>
          <p:nvPr/>
        </p:nvCxnSpPr>
        <p:spPr>
          <a:xfrm>
            <a:off x="5770842" y="6706024"/>
            <a:ext cx="8142" cy="1956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DC69ADAD-AA78-C526-649D-BAF80FDBE585}"/>
              </a:ext>
            </a:extLst>
          </p:cNvPr>
          <p:cNvSpPr txBox="1"/>
          <p:nvPr/>
        </p:nvSpPr>
        <p:spPr>
          <a:xfrm>
            <a:off x="14266513" y="5983644"/>
            <a:ext cx="387025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dirty="0"/>
              <a:t>Can parents understand what each profile means?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dirty="0"/>
              <a:t>Could they mistake the profiles for a ranking of good and bad schools?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dirty="0"/>
              <a:t>Does the animation help parents connect profiles to locations?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dirty="0"/>
              <a:t>Is the information card short and easy to understand?</a:t>
            </a:r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86C97D90-5BC9-AD77-D54E-621EEA6D0FF3}"/>
              </a:ext>
            </a:extLst>
          </p:cNvPr>
          <p:cNvSpPr txBox="1"/>
          <p:nvPr/>
        </p:nvSpPr>
        <p:spPr>
          <a:xfrm>
            <a:off x="10809232" y="612554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Sin Ping CHAN</a:t>
            </a:r>
            <a:endParaRPr lang="zh-HK" altLang="en-US" dirty="0"/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5B04503-32EE-F56E-B69C-8831C13C544B}"/>
              </a:ext>
            </a:extLst>
          </p:cNvPr>
          <p:cNvSpPr txBox="1"/>
          <p:nvPr/>
        </p:nvSpPr>
        <p:spPr>
          <a:xfrm>
            <a:off x="14192148" y="623600"/>
            <a:ext cx="1300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08/10/2026</a:t>
            </a:r>
            <a:endParaRPr lang="zh-HK" altLang="en-US" dirty="0"/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D5C270A1-D9C5-889B-2B11-5F02BD86120A}"/>
              </a:ext>
            </a:extLst>
          </p:cNvPr>
          <p:cNvSpPr txBox="1"/>
          <p:nvPr/>
        </p:nvSpPr>
        <p:spPr>
          <a:xfrm>
            <a:off x="17330721" y="6041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1</a:t>
            </a:r>
            <a:endParaRPr lang="zh-HK" altLang="en-US" dirty="0"/>
          </a:p>
        </p:txBody>
      </p:sp>
      <p:sp>
        <p:nvSpPr>
          <p:cNvPr id="103" name="文字方塊 102">
            <a:extLst>
              <a:ext uri="{FF2B5EF4-FFF2-40B4-BE49-F238E27FC236}">
                <a16:creationId xmlns:a16="http://schemas.microsoft.com/office/drawing/2014/main" id="{AA21E38C-F64E-AECB-6556-EC281AB1B482}"/>
              </a:ext>
            </a:extLst>
          </p:cNvPr>
          <p:cNvSpPr txBox="1"/>
          <p:nvPr/>
        </p:nvSpPr>
        <p:spPr>
          <a:xfrm>
            <a:off x="7640726" y="7884349"/>
            <a:ext cx="1903219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050" dirty="0"/>
              <a:t>Show </a:t>
            </a:r>
            <a:r>
              <a:rPr lang="en-US" altLang="zh-HK" sz="1050" dirty="0"/>
              <a:t>4</a:t>
            </a:r>
            <a:r>
              <a:rPr lang="zh-HK" altLang="zh-HK" sz="1050" dirty="0"/>
              <a:t> profile circles with clear labels</a:t>
            </a:r>
            <a:r>
              <a:rPr lang="en-US" altLang="zh-HK" sz="1050" dirty="0"/>
              <a:t>. </a:t>
            </a:r>
            <a:r>
              <a:rPr lang="zh-HK" altLang="zh-HK" sz="1050" dirty="0"/>
              <a:t>Select a circle to reveal the three-year trend of an example school and a short explanation. Use colour to identify profiles</a:t>
            </a:r>
            <a:endParaRPr lang="zh-HK" altLang="en-US" sz="1050" dirty="0"/>
          </a:p>
        </p:txBody>
      </p:sp>
      <p:cxnSp>
        <p:nvCxnSpPr>
          <p:cNvPr id="105" name="直線接點 104">
            <a:extLst>
              <a:ext uri="{FF2B5EF4-FFF2-40B4-BE49-F238E27FC236}">
                <a16:creationId xmlns:a16="http://schemas.microsoft.com/office/drawing/2014/main" id="{87F54385-647F-A525-8FFC-54FD209A1D46}"/>
              </a:ext>
            </a:extLst>
          </p:cNvPr>
          <p:cNvCxnSpPr>
            <a:cxnSpLocks/>
          </p:cNvCxnSpPr>
          <p:nvPr/>
        </p:nvCxnSpPr>
        <p:spPr>
          <a:xfrm>
            <a:off x="7644363" y="6694612"/>
            <a:ext cx="8142" cy="1956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7A8BD0C8-2690-43FC-0637-4E42888BC351}"/>
              </a:ext>
            </a:extLst>
          </p:cNvPr>
          <p:cNvSpPr txBox="1"/>
          <p:nvPr/>
        </p:nvSpPr>
        <p:spPr>
          <a:xfrm>
            <a:off x="10401300" y="997682"/>
            <a:ext cx="915035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400" dirty="0"/>
              <a:t>Explore</a:t>
            </a:r>
            <a:r>
              <a:rPr lang="en-US" altLang="zh-HK" sz="1400" dirty="0"/>
              <a:t> </a:t>
            </a:r>
            <a:r>
              <a:rPr lang="zh-HK" altLang="zh-HK" sz="1400" dirty="0"/>
              <a:t>visualisation ideas to develop an interactive story for parents considering a move for</a:t>
            </a:r>
            <a:endParaRPr lang="en-US" altLang="zh-HK" sz="1400" dirty="0"/>
          </a:p>
          <a:p>
            <a:r>
              <a:rPr lang="zh-HK" altLang="zh-HK" sz="1400" dirty="0"/>
              <a:t> a secondary school zone. Help them understand school results alongside student backgrounds,</a:t>
            </a:r>
            <a:endParaRPr lang="en-US" altLang="zh-HK" sz="1400" dirty="0"/>
          </a:p>
          <a:p>
            <a:r>
              <a:rPr lang="zh-HK" altLang="zh-HK" sz="1400" dirty="0"/>
              <a:t>three-year trends and locations.</a:t>
            </a:r>
            <a:endParaRPr lang="zh-HK" altLang="en-US" sz="1400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BE13F20D-B834-9EFE-83A8-1777CD13B687}"/>
              </a:ext>
            </a:extLst>
          </p:cNvPr>
          <p:cNvSpPr txBox="1"/>
          <p:nvPr/>
        </p:nvSpPr>
        <p:spPr>
          <a:xfrm>
            <a:off x="10439400" y="106978"/>
            <a:ext cx="9779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dirty="0"/>
              <a:t>Choosing a Secondary School Zone: Results, Student Backgrounds and Trends</a:t>
            </a:r>
            <a:endParaRPr lang="zh-HK" altLang="en-US" dirty="0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4864DC8D-0D29-7C78-9FFD-88B7322BAEAD}"/>
              </a:ext>
            </a:extLst>
          </p:cNvPr>
          <p:cNvSpPr txBox="1"/>
          <p:nvPr/>
        </p:nvSpPr>
        <p:spPr>
          <a:xfrm>
            <a:off x="703017" y="5773341"/>
            <a:ext cx="78893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dirty="0"/>
              <a:t>These ideas use simple visuals, short explanations and guided interactions to help busy parents follow the story without needing statistical knowledge.</a:t>
            </a:r>
            <a:endParaRPr lang="zh-HK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9695177" cy="6675157"/>
            <a:chOff x="0" y="0"/>
            <a:chExt cx="2553462" cy="17580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53462" cy="1758066"/>
            </a:xfrm>
            <a:custGeom>
              <a:avLst/>
              <a:gdLst/>
              <a:ahLst/>
              <a:cxnLst/>
              <a:rect l="l" t="t" r="r" b="b"/>
              <a:pathLst>
                <a:path w="2553462" h="1758066">
                  <a:moveTo>
                    <a:pt x="0" y="0"/>
                  </a:moveTo>
                  <a:lnTo>
                    <a:pt x="2553462" y="0"/>
                  </a:lnTo>
                  <a:lnTo>
                    <a:pt x="2553462" y="1758066"/>
                  </a:lnTo>
                  <a:lnTo>
                    <a:pt x="0" y="1758066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553462" cy="17961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88640" y="134436"/>
            <a:ext cx="878160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Layout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0" y="6675157"/>
            <a:ext cx="9695177" cy="3611843"/>
            <a:chOff x="0" y="0"/>
            <a:chExt cx="2553462" cy="95126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53462" cy="951267"/>
            </a:xfrm>
            <a:custGeom>
              <a:avLst/>
              <a:gdLst/>
              <a:ahLst/>
              <a:cxnLst/>
              <a:rect l="l" t="t" r="r" b="b"/>
              <a:pathLst>
                <a:path w="2553462" h="951267">
                  <a:moveTo>
                    <a:pt x="0" y="0"/>
                  </a:moveTo>
                  <a:lnTo>
                    <a:pt x="2553462" y="0"/>
                  </a:lnTo>
                  <a:lnTo>
                    <a:pt x="2553462" y="951267"/>
                  </a:lnTo>
                  <a:lnTo>
                    <a:pt x="0" y="951267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553462" cy="9893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695177" y="6910501"/>
            <a:ext cx="8592823" cy="3415292"/>
            <a:chOff x="0" y="0"/>
            <a:chExt cx="2263130" cy="95755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263130" cy="957552"/>
            </a:xfrm>
            <a:custGeom>
              <a:avLst/>
              <a:gdLst/>
              <a:ahLst/>
              <a:cxnLst/>
              <a:rect l="l" t="t" r="r" b="b"/>
              <a:pathLst>
                <a:path w="2263130" h="957552">
                  <a:moveTo>
                    <a:pt x="0" y="0"/>
                  </a:moveTo>
                  <a:lnTo>
                    <a:pt x="2263130" y="0"/>
                  </a:lnTo>
                  <a:lnTo>
                    <a:pt x="2263130" y="957552"/>
                  </a:lnTo>
                  <a:lnTo>
                    <a:pt x="0" y="95755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263130" cy="9956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9549282" y="1673398"/>
            <a:ext cx="1659183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Operations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8640" y="6799316"/>
            <a:ext cx="394002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Focus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793279" y="7000629"/>
            <a:ext cx="394002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Discussion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9695177" y="598638"/>
            <a:ext cx="3776039" cy="434255"/>
            <a:chOff x="0" y="0"/>
            <a:chExt cx="994512" cy="11437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994512" cy="114372"/>
            </a:xfrm>
            <a:custGeom>
              <a:avLst/>
              <a:gdLst/>
              <a:ahLst/>
              <a:cxnLst/>
              <a:rect l="l" t="t" r="r" b="b"/>
              <a:pathLst>
                <a:path w="994512" h="114372">
                  <a:moveTo>
                    <a:pt x="0" y="0"/>
                  </a:moveTo>
                  <a:lnTo>
                    <a:pt x="994512" y="0"/>
                  </a:lnTo>
                  <a:lnTo>
                    <a:pt x="994512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994512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695177" y="0"/>
            <a:ext cx="8592823" cy="594627"/>
            <a:chOff x="0" y="0"/>
            <a:chExt cx="2263130" cy="15661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263130" cy="156610"/>
            </a:xfrm>
            <a:custGeom>
              <a:avLst/>
              <a:gdLst/>
              <a:ahLst/>
              <a:cxnLst/>
              <a:rect l="l" t="t" r="r" b="b"/>
              <a:pathLst>
                <a:path w="2263130" h="156610">
                  <a:moveTo>
                    <a:pt x="0" y="0"/>
                  </a:moveTo>
                  <a:lnTo>
                    <a:pt x="2263130" y="0"/>
                  </a:lnTo>
                  <a:lnTo>
                    <a:pt x="2263130" y="156610"/>
                  </a:lnTo>
                  <a:lnTo>
                    <a:pt x="0" y="156610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2263130" cy="1947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471215" y="598638"/>
            <a:ext cx="2661097" cy="434255"/>
            <a:chOff x="0" y="0"/>
            <a:chExt cx="700865" cy="11437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0865" cy="114372"/>
            </a:xfrm>
            <a:custGeom>
              <a:avLst/>
              <a:gdLst/>
              <a:ahLst/>
              <a:cxnLst/>
              <a:rect l="l" t="t" r="r" b="b"/>
              <a:pathLst>
                <a:path w="700865" h="114372">
                  <a:moveTo>
                    <a:pt x="0" y="0"/>
                  </a:moveTo>
                  <a:lnTo>
                    <a:pt x="700865" y="0"/>
                  </a:lnTo>
                  <a:lnTo>
                    <a:pt x="700865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700865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695177" y="1032893"/>
            <a:ext cx="8592823" cy="639196"/>
            <a:chOff x="0" y="0"/>
            <a:chExt cx="2263130" cy="16834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263130" cy="168348"/>
            </a:xfrm>
            <a:custGeom>
              <a:avLst/>
              <a:gdLst/>
              <a:ahLst/>
              <a:cxnLst/>
              <a:rect l="l" t="t" r="r" b="b"/>
              <a:pathLst>
                <a:path w="2263130" h="168348">
                  <a:moveTo>
                    <a:pt x="0" y="0"/>
                  </a:moveTo>
                  <a:lnTo>
                    <a:pt x="2263130" y="0"/>
                  </a:lnTo>
                  <a:lnTo>
                    <a:pt x="2263130" y="168348"/>
                  </a:lnTo>
                  <a:lnTo>
                    <a:pt x="0" y="168348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2263130" cy="2064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9780579" y="117926"/>
            <a:ext cx="981397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Title: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780580" y="652888"/>
            <a:ext cx="1116020" cy="2971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Author: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3556940" y="652887"/>
            <a:ext cx="844860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Date: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6132312" y="598638"/>
            <a:ext cx="2155688" cy="434255"/>
            <a:chOff x="0" y="0"/>
            <a:chExt cx="567753" cy="114372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567753" cy="114372"/>
            </a:xfrm>
            <a:custGeom>
              <a:avLst/>
              <a:gdLst/>
              <a:ahLst/>
              <a:cxnLst/>
              <a:rect l="l" t="t" r="r" b="b"/>
              <a:pathLst>
                <a:path w="567753" h="114372">
                  <a:moveTo>
                    <a:pt x="0" y="0"/>
                  </a:moveTo>
                  <a:lnTo>
                    <a:pt x="567753" y="0"/>
                  </a:lnTo>
                  <a:lnTo>
                    <a:pt x="567753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38100"/>
              <a:ext cx="567753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6218036" y="652888"/>
            <a:ext cx="844859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Sheet: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780580" y="1189613"/>
            <a:ext cx="887420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Task:</a:t>
            </a:r>
          </a:p>
        </p:txBody>
      </p:sp>
      <p:pic>
        <p:nvPicPr>
          <p:cNvPr id="41" name="圖片 40">
            <a:extLst>
              <a:ext uri="{FF2B5EF4-FFF2-40B4-BE49-F238E27FC236}">
                <a16:creationId xmlns:a16="http://schemas.microsoft.com/office/drawing/2014/main" id="{D278EC06-E08B-C696-7254-FB49344AF5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02"/>
          <a:stretch>
            <a:fillRect/>
          </a:stretch>
        </p:blipFill>
        <p:spPr>
          <a:xfrm>
            <a:off x="6537441" y="3902973"/>
            <a:ext cx="1790344" cy="1311843"/>
          </a:xfrm>
          <a:prstGeom prst="rect">
            <a:avLst/>
          </a:prstGeom>
        </p:spPr>
      </p:pic>
      <p:pic>
        <p:nvPicPr>
          <p:cNvPr id="43" name="圖片 42">
            <a:extLst>
              <a:ext uri="{FF2B5EF4-FFF2-40B4-BE49-F238E27FC236}">
                <a16:creationId xmlns:a16="http://schemas.microsoft.com/office/drawing/2014/main" id="{87D49D0D-21AE-2FB7-6634-54CF6CE5B5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0248" y="1490647"/>
            <a:ext cx="1690758" cy="1511292"/>
          </a:xfrm>
          <a:prstGeom prst="rect">
            <a:avLst/>
          </a:prstGeom>
        </p:spPr>
      </p:pic>
      <p:pic>
        <p:nvPicPr>
          <p:cNvPr id="47" name="圖片 46">
            <a:extLst>
              <a:ext uri="{FF2B5EF4-FFF2-40B4-BE49-F238E27FC236}">
                <a16:creationId xmlns:a16="http://schemas.microsoft.com/office/drawing/2014/main" id="{72895365-49BF-8EA6-660F-4DCC582CEF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6263" y="5274988"/>
            <a:ext cx="1790344" cy="1391713"/>
          </a:xfrm>
          <a:prstGeom prst="rect">
            <a:avLst/>
          </a:prstGeom>
        </p:spPr>
      </p:pic>
      <p:grpSp>
        <p:nvGrpSpPr>
          <p:cNvPr id="103" name="群組 102">
            <a:extLst>
              <a:ext uri="{FF2B5EF4-FFF2-40B4-BE49-F238E27FC236}">
                <a16:creationId xmlns:a16="http://schemas.microsoft.com/office/drawing/2014/main" id="{DF5B0B4D-639F-F572-6C1C-DE494C96F30C}"/>
              </a:ext>
            </a:extLst>
          </p:cNvPr>
          <p:cNvGrpSpPr/>
          <p:nvPr/>
        </p:nvGrpSpPr>
        <p:grpSpPr>
          <a:xfrm>
            <a:off x="7649499" y="2623935"/>
            <a:ext cx="1729769" cy="1285740"/>
            <a:chOff x="6467731" y="2801152"/>
            <a:chExt cx="1457069" cy="1013663"/>
          </a:xfrm>
        </p:grpSpPr>
        <p:pic>
          <p:nvPicPr>
            <p:cNvPr id="45" name="圖片 44">
              <a:extLst>
                <a:ext uri="{FF2B5EF4-FFF2-40B4-BE49-F238E27FC236}">
                  <a16:creationId xmlns:a16="http://schemas.microsoft.com/office/drawing/2014/main" id="{5750988D-9C38-BAB9-0898-04EB9D24A54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6056"/>
            <a:stretch>
              <a:fillRect/>
            </a:stretch>
          </p:blipFill>
          <p:spPr>
            <a:xfrm>
              <a:off x="6467731" y="2801152"/>
              <a:ext cx="999595" cy="1013663"/>
            </a:xfrm>
            <a:prstGeom prst="rect">
              <a:avLst/>
            </a:prstGeom>
          </p:spPr>
        </p:pic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96F5B227-F902-E4B3-F0BC-A47B08D638AE}"/>
                </a:ext>
              </a:extLst>
            </p:cNvPr>
            <p:cNvSpPr/>
            <p:nvPr/>
          </p:nvSpPr>
          <p:spPr>
            <a:xfrm>
              <a:off x="7323844" y="3102420"/>
              <a:ext cx="600956" cy="12415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HK" sz="300" dirty="0">
                  <a:ln w="0"/>
                  <a:solidFill>
                    <a:schemeClr val="tx1"/>
                  </a:solidFill>
                </a:rPr>
                <a:t>School name+ type</a:t>
              </a:r>
              <a:br>
                <a:rPr lang="en-US" altLang="zh-HK" sz="300" dirty="0">
                  <a:ln w="0"/>
                  <a:solidFill>
                    <a:schemeClr val="tx1"/>
                  </a:solidFill>
                </a:rPr>
              </a:br>
              <a:r>
                <a:rPr lang="zh-HK" altLang="zh-HK" sz="300" b="1" dirty="0">
                  <a:solidFill>
                    <a:schemeClr val="tx1"/>
                  </a:solidFill>
                </a:rPr>
                <a:t>See its three-year trend</a:t>
              </a:r>
              <a:endParaRPr lang="zh-HK" altLang="en-US" sz="300" dirty="0">
                <a:solidFill>
                  <a:schemeClr val="tx1"/>
                </a:solidFill>
              </a:endParaRPr>
            </a:p>
          </p:txBody>
        </p:sp>
        <p:pic>
          <p:nvPicPr>
            <p:cNvPr id="62" name="圖片 61">
              <a:extLst>
                <a:ext uri="{FF2B5EF4-FFF2-40B4-BE49-F238E27FC236}">
                  <a16:creationId xmlns:a16="http://schemas.microsoft.com/office/drawing/2014/main" id="{83724F94-AD85-A0D1-2D4B-CE6B53CD87D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027" t="24395" r="5900" b="21499"/>
            <a:stretch>
              <a:fillRect/>
            </a:stretch>
          </p:blipFill>
          <p:spPr>
            <a:xfrm>
              <a:off x="7328885" y="3243032"/>
              <a:ext cx="509749" cy="418248"/>
            </a:xfrm>
            <a:prstGeom prst="rect">
              <a:avLst/>
            </a:prstGeom>
          </p:spPr>
        </p:pic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1DD0387F-A2E4-394E-161D-5D4449A021B8}"/>
                </a:ext>
              </a:extLst>
            </p:cNvPr>
            <p:cNvSpPr/>
            <p:nvPr/>
          </p:nvSpPr>
          <p:spPr>
            <a:xfrm>
              <a:off x="7385303" y="3164497"/>
              <a:ext cx="37785" cy="45719"/>
            </a:xfrm>
            <a:prstGeom prst="rect">
              <a:avLst/>
            </a:prstGeom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64" name="手繪多邊形: 圖案 63">
              <a:extLst>
                <a:ext uri="{FF2B5EF4-FFF2-40B4-BE49-F238E27FC236}">
                  <a16:creationId xmlns:a16="http://schemas.microsoft.com/office/drawing/2014/main" id="{38173A6B-345D-E904-D3DE-FAC0BED6379E}"/>
                </a:ext>
              </a:extLst>
            </p:cNvPr>
            <p:cNvSpPr/>
            <p:nvPr/>
          </p:nvSpPr>
          <p:spPr>
            <a:xfrm>
              <a:off x="7393781" y="3157538"/>
              <a:ext cx="47625" cy="43499"/>
            </a:xfrm>
            <a:custGeom>
              <a:avLst/>
              <a:gdLst>
                <a:gd name="csX0" fmla="*/ 0 w 47625"/>
                <a:gd name="csY0" fmla="*/ 28575 h 43499"/>
                <a:gd name="csX1" fmla="*/ 35719 w 47625"/>
                <a:gd name="csY1" fmla="*/ 14287 h 43499"/>
                <a:gd name="csX2" fmla="*/ 47625 w 47625"/>
                <a:gd name="csY2" fmla="*/ 0 h 434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7625" h="43499">
                  <a:moveTo>
                    <a:pt x="0" y="28575"/>
                  </a:moveTo>
                  <a:cubicBezTo>
                    <a:pt x="4961" y="53372"/>
                    <a:pt x="-125" y="46358"/>
                    <a:pt x="35719" y="14287"/>
                  </a:cubicBezTo>
                  <a:cubicBezTo>
                    <a:pt x="40339" y="10153"/>
                    <a:pt x="47625" y="0"/>
                    <a:pt x="47625" y="0"/>
                  </a:cubicBezTo>
                </a:path>
              </a:pathLst>
            </a:custGeom>
            <a:ln w="31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HK" altLang="en-US"/>
            </a:p>
          </p:txBody>
        </p:sp>
      </p:grpSp>
      <p:pic>
        <p:nvPicPr>
          <p:cNvPr id="68" name="圖片 67">
            <a:extLst>
              <a:ext uri="{FF2B5EF4-FFF2-40B4-BE49-F238E27FC236}">
                <a16:creationId xmlns:a16="http://schemas.microsoft.com/office/drawing/2014/main" id="{9F464E21-BEA6-21B4-7A05-4FBCB06D867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872" t="59593" r="38610"/>
          <a:stretch>
            <a:fillRect/>
          </a:stretch>
        </p:blipFill>
        <p:spPr>
          <a:xfrm>
            <a:off x="7729294" y="4394821"/>
            <a:ext cx="914400" cy="508455"/>
          </a:xfrm>
          <a:prstGeom prst="rect">
            <a:avLst/>
          </a:prstGeom>
        </p:spPr>
      </p:pic>
      <p:sp>
        <p:nvSpPr>
          <p:cNvPr id="69" name="文字方塊 68">
            <a:extLst>
              <a:ext uri="{FF2B5EF4-FFF2-40B4-BE49-F238E27FC236}">
                <a16:creationId xmlns:a16="http://schemas.microsoft.com/office/drawing/2014/main" id="{5B4A993B-2BB4-ABAE-9B94-E315D1B3D234}"/>
              </a:ext>
            </a:extLst>
          </p:cNvPr>
          <p:cNvSpPr txBox="1"/>
          <p:nvPr/>
        </p:nvSpPr>
        <p:spPr>
          <a:xfrm>
            <a:off x="7624322" y="4858445"/>
            <a:ext cx="18546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HK" altLang="zh-HK" sz="1200" dirty="0"/>
              <a:t>Where are these schools</a:t>
            </a:r>
            <a:r>
              <a:rPr lang="en-US" altLang="zh-HK" sz="1200" dirty="0"/>
              <a:t>?</a:t>
            </a:r>
            <a:endParaRPr lang="zh-HK" altLang="en-US" sz="1200" dirty="0"/>
          </a:p>
        </p:txBody>
      </p: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E93B9360-DE2E-DAED-DD73-0AD3799261E7}"/>
              </a:ext>
            </a:extLst>
          </p:cNvPr>
          <p:cNvSpPr txBox="1"/>
          <p:nvPr/>
        </p:nvSpPr>
        <p:spPr>
          <a:xfrm>
            <a:off x="244237" y="3259594"/>
            <a:ext cx="62058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b="1" u="sng" dirty="0"/>
              <a:t>Scroll through results, regional options, student backgrounds and recent trends. Finish with school-zone details.</a:t>
            </a:r>
            <a:endParaRPr lang="zh-HK" altLang="en-US" b="1" u="sng" dirty="0"/>
          </a:p>
        </p:txBody>
      </p:sp>
      <p:pic>
        <p:nvPicPr>
          <p:cNvPr id="77" name="圖片 76">
            <a:extLst>
              <a:ext uri="{FF2B5EF4-FFF2-40B4-BE49-F238E27FC236}">
                <a16:creationId xmlns:a16="http://schemas.microsoft.com/office/drawing/2014/main" id="{B96B0CC9-7D33-DF34-A92A-6B45FED513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1498" y="900823"/>
            <a:ext cx="4724824" cy="2403713"/>
          </a:xfrm>
          <a:prstGeom prst="rect">
            <a:avLst/>
          </a:prstGeom>
        </p:spPr>
      </p:pic>
      <p:sp>
        <p:nvSpPr>
          <p:cNvPr id="80" name="矩形 79">
            <a:extLst>
              <a:ext uri="{FF2B5EF4-FFF2-40B4-BE49-F238E27FC236}">
                <a16:creationId xmlns:a16="http://schemas.microsoft.com/office/drawing/2014/main" id="{9E836B5B-80A3-344B-CFFC-0066633A2EDC}"/>
              </a:ext>
            </a:extLst>
          </p:cNvPr>
          <p:cNvSpPr/>
          <p:nvPr/>
        </p:nvSpPr>
        <p:spPr>
          <a:xfrm>
            <a:off x="518650" y="875249"/>
            <a:ext cx="5126999" cy="22738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pic>
        <p:nvPicPr>
          <p:cNvPr id="82" name="圖片 81">
            <a:extLst>
              <a:ext uri="{FF2B5EF4-FFF2-40B4-BE49-F238E27FC236}">
                <a16:creationId xmlns:a16="http://schemas.microsoft.com/office/drawing/2014/main" id="{69F92E4E-A900-B3DE-2194-1C770D77EC3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b="10614"/>
          <a:stretch>
            <a:fillRect/>
          </a:stretch>
        </p:blipFill>
        <p:spPr>
          <a:xfrm>
            <a:off x="935756" y="1375967"/>
            <a:ext cx="2192754" cy="1466583"/>
          </a:xfrm>
          <a:prstGeom prst="rect">
            <a:avLst/>
          </a:prstGeom>
        </p:spPr>
      </p:pic>
      <p:grpSp>
        <p:nvGrpSpPr>
          <p:cNvPr id="102" name="群組 101">
            <a:extLst>
              <a:ext uri="{FF2B5EF4-FFF2-40B4-BE49-F238E27FC236}">
                <a16:creationId xmlns:a16="http://schemas.microsoft.com/office/drawing/2014/main" id="{F08AEEA6-2D02-36DC-AB23-0298EAE18A92}"/>
              </a:ext>
            </a:extLst>
          </p:cNvPr>
          <p:cNvGrpSpPr/>
          <p:nvPr/>
        </p:nvGrpSpPr>
        <p:grpSpPr>
          <a:xfrm>
            <a:off x="7480481" y="325416"/>
            <a:ext cx="2128971" cy="1408848"/>
            <a:chOff x="6662426" y="284834"/>
            <a:chExt cx="1732581" cy="1213191"/>
          </a:xfrm>
        </p:grpSpPr>
        <p:pic>
          <p:nvPicPr>
            <p:cNvPr id="79" name="圖片 78">
              <a:extLst>
                <a:ext uri="{FF2B5EF4-FFF2-40B4-BE49-F238E27FC236}">
                  <a16:creationId xmlns:a16="http://schemas.microsoft.com/office/drawing/2014/main" id="{0AAD1700-20F6-7FEC-EC75-7DE39C22954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b="10614"/>
            <a:stretch>
              <a:fillRect/>
            </a:stretch>
          </p:blipFill>
          <p:spPr>
            <a:xfrm>
              <a:off x="6662426" y="284834"/>
              <a:ext cx="1418307" cy="1213191"/>
            </a:xfrm>
            <a:prstGeom prst="rect">
              <a:avLst/>
            </a:prstGeom>
          </p:spPr>
        </p:pic>
        <p:sp>
          <p:nvSpPr>
            <p:cNvPr id="83" name="流程圖: 接點 82">
              <a:extLst>
                <a:ext uri="{FF2B5EF4-FFF2-40B4-BE49-F238E27FC236}">
                  <a16:creationId xmlns:a16="http://schemas.microsoft.com/office/drawing/2014/main" id="{23586336-4F6C-2E40-0F6B-341082909CAB}"/>
                </a:ext>
              </a:extLst>
            </p:cNvPr>
            <p:cNvSpPr/>
            <p:nvPr/>
          </p:nvSpPr>
          <p:spPr>
            <a:xfrm>
              <a:off x="7448452" y="922892"/>
              <a:ext cx="200759" cy="188351"/>
            </a:xfrm>
            <a:prstGeom prst="flowChartConnector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/>
            </a:p>
          </p:txBody>
        </p:sp>
        <p:sp>
          <p:nvSpPr>
            <p:cNvPr id="84" name="圖說文字: 直線 83">
              <a:extLst>
                <a:ext uri="{FF2B5EF4-FFF2-40B4-BE49-F238E27FC236}">
                  <a16:creationId xmlns:a16="http://schemas.microsoft.com/office/drawing/2014/main" id="{6EF1D37A-08FA-11C2-E8E9-E5B8ECF87A39}"/>
                </a:ext>
              </a:extLst>
            </p:cNvPr>
            <p:cNvSpPr/>
            <p:nvPr/>
          </p:nvSpPr>
          <p:spPr>
            <a:xfrm>
              <a:off x="7826672" y="659978"/>
              <a:ext cx="568335" cy="258407"/>
            </a:xfrm>
            <a:prstGeom prst="borderCallout1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/>
            </a:p>
          </p:txBody>
        </p:sp>
      </p:grp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29CDC686-FDB7-E681-9D6F-E1039521536E}"/>
              </a:ext>
            </a:extLst>
          </p:cNvPr>
          <p:cNvSpPr txBox="1"/>
          <p:nvPr/>
        </p:nvSpPr>
        <p:spPr>
          <a:xfrm>
            <a:off x="9695177" y="2028839"/>
            <a:ext cx="8404183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zh-HK" altLang="zh-HK" sz="1200" b="1" dirty="0"/>
              <a:t>Results:</a:t>
            </a:r>
            <a:r>
              <a:rPr lang="zh-HK" altLang="zh-HK" sz="1200" dirty="0"/>
              <a:t> </a:t>
            </a:r>
            <a:endParaRPr lang="en-US" altLang="zh-HK" sz="12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Scroll down: government-school dots remain highlighted while other sectors fade.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A short transition introduces the public-school focus.</a:t>
            </a:r>
          </a:p>
          <a:p>
            <a:pPr>
              <a:buNone/>
            </a:pPr>
            <a:r>
              <a:rPr lang="zh-HK" altLang="zh-HK" sz="1200" b="1" dirty="0"/>
              <a:t>2. Location:</a:t>
            </a:r>
            <a:endParaRPr lang="en-US" altLang="zh-HK" sz="1200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Switch between regional VCE and ICSEA summaries; the shading and legend update.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Individual school symbols are not clickable.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Scroll down to explore student backgrounds.</a:t>
            </a:r>
          </a:p>
          <a:p>
            <a:pPr>
              <a:buNone/>
            </a:pPr>
            <a:r>
              <a:rPr lang="zh-HK" altLang="zh-HK" sz="1200" b="1" dirty="0"/>
              <a:t>3. Background:</a:t>
            </a:r>
            <a:r>
              <a:rPr lang="zh-HK" altLang="zh-HK" sz="1200" dirty="0"/>
              <a:t> </a:t>
            </a:r>
            <a:endParaRPr lang="en-US" altLang="zh-HK" sz="12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Select a school dot to highlight it and show its name.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Select </a:t>
            </a:r>
            <a:r>
              <a:rPr lang="zh-HK" altLang="zh-HK" sz="1200" b="1" dirty="0"/>
              <a:t>“See its three-year trend”</a:t>
            </a:r>
            <a:r>
              <a:rPr lang="zh-HK" altLang="zh-HK" sz="1200" dirty="0"/>
              <a:t> to reveal a small line chart.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Close the trend to return to the scatter plot.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Scroll down to learn about the four school profiles.</a:t>
            </a:r>
          </a:p>
          <a:p>
            <a:pPr>
              <a:buNone/>
            </a:pPr>
            <a:r>
              <a:rPr lang="zh-HK" altLang="zh-HK" sz="1200" b="1" dirty="0"/>
              <a:t>4. Profiles:</a:t>
            </a:r>
            <a:r>
              <a:rPr lang="zh-HK" altLang="zh-HK" sz="1200" dirty="0"/>
              <a:t> </a:t>
            </a:r>
            <a:endParaRPr lang="en-US" altLang="zh-HK" sz="12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Select a profile circle to reveal its explanation and an example school’s three-year trend.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Select </a:t>
            </a:r>
            <a:r>
              <a:rPr lang="zh-HK" altLang="zh-HK" sz="1200" b="1" dirty="0"/>
              <a:t>“Where are these schools?”</a:t>
            </a:r>
            <a:r>
              <a:rPr lang="zh-HK" altLang="zh-HK" sz="1200" dirty="0"/>
              <a:t> to animate its school dots onto the map.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Movement trails disappear after the dots arrive. Individual markers are not clickable.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Select </a:t>
            </a:r>
            <a:r>
              <a:rPr lang="zh-HK" altLang="zh-HK" sz="1200" b="1" dirty="0"/>
              <a:t>“Back to profiles”</a:t>
            </a:r>
            <a:r>
              <a:rPr lang="zh-HK" altLang="zh-HK" sz="1200" dirty="0"/>
              <a:t> to return, or scroll down to explore school zones.</a:t>
            </a:r>
          </a:p>
          <a:p>
            <a:pPr>
              <a:buNone/>
            </a:pPr>
            <a:r>
              <a:rPr lang="zh-HK" altLang="zh-HK" sz="1200" b="1" dirty="0"/>
              <a:t>5. School zones:</a:t>
            </a:r>
            <a:r>
              <a:rPr lang="zh-HK" altLang="zh-HK" sz="1200" dirty="0"/>
              <a:t> </a:t>
            </a:r>
            <a:endParaRPr lang="en-US" altLang="zh-HK" sz="12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Move the results slider to highlight zones within the selected range.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Other zones fade but remain visible for geographical context.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Select a zone to open a white information card showing its associated school’s results and year, ICSEA, three-year change and available course information.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The card includes the data source and zone reference year.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Close the card to return to the map.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200" dirty="0"/>
              <a:t>Scroll down to the final takeaway: consider background, trends, courses and entry requirements before moving.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C18B7681-FF85-D6F3-0B76-1A2BB59C7B0A}"/>
              </a:ext>
            </a:extLst>
          </p:cNvPr>
          <p:cNvSpPr txBox="1"/>
          <p:nvPr/>
        </p:nvSpPr>
        <p:spPr>
          <a:xfrm>
            <a:off x="10809232" y="612554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Sin Ping CHAN</a:t>
            </a:r>
            <a:endParaRPr lang="zh-HK" altLang="en-US" dirty="0"/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ECAEA615-74F3-A6FB-3C15-85E3FEB144E5}"/>
              </a:ext>
            </a:extLst>
          </p:cNvPr>
          <p:cNvSpPr txBox="1"/>
          <p:nvPr/>
        </p:nvSpPr>
        <p:spPr>
          <a:xfrm>
            <a:off x="14192148" y="623600"/>
            <a:ext cx="1300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08/10/2026</a:t>
            </a:r>
            <a:endParaRPr lang="zh-HK" altLang="en-US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D2C00E28-024C-0B7B-AB39-8CBCEDB25917}"/>
              </a:ext>
            </a:extLst>
          </p:cNvPr>
          <p:cNvSpPr txBox="1"/>
          <p:nvPr/>
        </p:nvSpPr>
        <p:spPr>
          <a:xfrm>
            <a:off x="17330721" y="6041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2</a:t>
            </a:r>
            <a:endParaRPr lang="zh-HK" altLang="en-US" dirty="0"/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B7064CBC-816F-A11A-38D0-91EBC0ED214E}"/>
              </a:ext>
            </a:extLst>
          </p:cNvPr>
          <p:cNvSpPr txBox="1"/>
          <p:nvPr/>
        </p:nvSpPr>
        <p:spPr>
          <a:xfrm>
            <a:off x="10404273" y="1174214"/>
            <a:ext cx="100647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dirty="0"/>
              <a:t>Design a scrolling story for parents considering a move for a school zone.</a:t>
            </a:r>
            <a:endParaRPr lang="zh-HK" altLang="en-US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2727F4D-7C9F-3A11-7CD0-AD13A9904767}"/>
              </a:ext>
            </a:extLst>
          </p:cNvPr>
          <p:cNvSpPr txBox="1"/>
          <p:nvPr/>
        </p:nvSpPr>
        <p:spPr>
          <a:xfrm>
            <a:off x="1086121" y="98758"/>
            <a:ext cx="10236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b="1" dirty="0">
                <a:highlight>
                  <a:srgbClr val="FFFF00"/>
                </a:highlight>
              </a:rPr>
              <a:t>Genre:</a:t>
            </a:r>
            <a:r>
              <a:rPr lang="zh-HK" altLang="zh-HK" dirty="0">
                <a:highlight>
                  <a:srgbClr val="FFFF00"/>
                </a:highlight>
              </a:rPr>
              <a:t> Magazine + annotated charts | Guided story with limited interaction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101" name="文字方塊 100">
            <a:extLst>
              <a:ext uri="{FF2B5EF4-FFF2-40B4-BE49-F238E27FC236}">
                <a16:creationId xmlns:a16="http://schemas.microsoft.com/office/drawing/2014/main" id="{A4889F77-776D-D02A-ABBD-B1BC61F928AE}"/>
              </a:ext>
            </a:extLst>
          </p:cNvPr>
          <p:cNvSpPr txBox="1"/>
          <p:nvPr/>
        </p:nvSpPr>
        <p:spPr>
          <a:xfrm>
            <a:off x="377954" y="4009586"/>
            <a:ext cx="607408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zh-HK" altLang="zh-HK" sz="1400" b="1" dirty="0"/>
              <a:t>Results — Sector distributions</a:t>
            </a:r>
            <a:r>
              <a:rPr lang="en-US" altLang="zh-HK" sz="1400" b="1" dirty="0"/>
              <a:t> </a:t>
            </a:r>
            <a:r>
              <a:rPr lang="zh-HK" altLang="zh-HK" sz="1400" dirty="0"/>
              <a:t>#1</a:t>
            </a:r>
            <a:br>
              <a:rPr lang="en-US" altLang="zh-HK" sz="1400" b="1" dirty="0"/>
            </a:br>
            <a:r>
              <a:rPr lang="zh-HK" altLang="zh-HK" sz="1400" dirty="0"/>
              <a:t>Shows how results vary within sectors. Government schools also have a wide range of results.</a:t>
            </a:r>
            <a:r>
              <a:rPr lang="en-US" altLang="zh-HK" sz="1400" b="1" dirty="0"/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zh-HK" altLang="zh-HK" sz="1400" b="1" dirty="0"/>
              <a:t>Location — Regional school options</a:t>
            </a:r>
            <a:r>
              <a:rPr lang="en-US" altLang="zh-HK" sz="1400" b="1" dirty="0"/>
              <a:t>  </a:t>
            </a:r>
            <a:r>
              <a:rPr lang="zh-HK" altLang="zh-HK" sz="1400" dirty="0"/>
              <a:t>#5 + #6</a:t>
            </a:r>
            <a:br>
              <a:rPr lang="en-US" altLang="zh-HK" sz="1400" dirty="0"/>
            </a:br>
            <a:r>
              <a:rPr lang="zh-HK" altLang="zh-HK" sz="1400" dirty="0"/>
              <a:t>Shows school locations and the mix of school sectors within each region.</a:t>
            </a:r>
          </a:p>
          <a:p>
            <a:pPr marL="342900" lvl="0" indent="-342900">
              <a:buFont typeface="+mj-lt"/>
              <a:buAutoNum type="arabicPeriod"/>
            </a:pPr>
            <a:r>
              <a:rPr lang="zh-HK" altLang="zh-HK" sz="1400" b="1" dirty="0"/>
              <a:t>Background — ICSEA and results</a:t>
            </a:r>
            <a:r>
              <a:rPr lang="en-US" altLang="zh-HK" sz="1400" b="1" dirty="0"/>
              <a:t>  </a:t>
            </a:r>
            <a:r>
              <a:rPr lang="zh-HK" altLang="zh-HK" sz="1400" dirty="0"/>
              <a:t>#1 + #2</a:t>
            </a:r>
            <a:br>
              <a:rPr lang="en-US" altLang="zh-HK" sz="1400" dirty="0"/>
            </a:br>
            <a:r>
              <a:rPr lang="zh-HK" altLang="zh-HK" sz="1400" dirty="0"/>
              <a:t>Shows the relationship between ICSEA and school results.</a:t>
            </a:r>
          </a:p>
          <a:p>
            <a:pPr marL="342900" indent="-342900">
              <a:buFont typeface="+mj-lt"/>
              <a:buAutoNum type="arabicPeriod"/>
            </a:pPr>
            <a:r>
              <a:rPr lang="zh-HK" altLang="zh-HK" sz="1400" b="1" dirty="0"/>
              <a:t>Profiles — Trends and locations</a:t>
            </a:r>
            <a:r>
              <a:rPr lang="en-US" altLang="zh-HK" sz="1400" b="1" dirty="0"/>
              <a:t>  </a:t>
            </a:r>
            <a:r>
              <a:rPr lang="zh-HK" altLang="zh-HK" sz="1400" dirty="0"/>
              <a:t>#7 + #2 + #5</a:t>
            </a:r>
            <a:br>
              <a:rPr lang="en-US" altLang="zh-HK" sz="1400" dirty="0"/>
            </a:br>
            <a:r>
              <a:rPr lang="zh-HK" altLang="zh-HK" sz="1400" dirty="0"/>
              <a:t>Explains </a:t>
            </a:r>
            <a:r>
              <a:rPr lang="en-US" altLang="zh-HK" sz="1400" dirty="0"/>
              <a:t>4 </a:t>
            </a:r>
            <a:r>
              <a:rPr lang="zh-HK" altLang="zh-HK" sz="1400" dirty="0"/>
              <a:t>school profiles and shows where their schools are located.</a:t>
            </a:r>
          </a:p>
          <a:p>
            <a:pPr marL="342900" indent="-342900">
              <a:buFont typeface="+mj-lt"/>
              <a:buAutoNum type="arabicPeriod"/>
            </a:pPr>
            <a:r>
              <a:rPr lang="zh-HK" altLang="zh-HK" sz="1400" b="1" dirty="0"/>
              <a:t>School zones — Details before moving</a:t>
            </a:r>
            <a:r>
              <a:rPr lang="en-US" altLang="zh-HK" sz="1400" b="1" dirty="0"/>
              <a:t>  </a:t>
            </a:r>
            <a:r>
              <a:rPr lang="zh-HK" altLang="zh-HK" sz="1400" dirty="0"/>
              <a:t>#6 + slider + card</a:t>
            </a:r>
            <a:br>
              <a:rPr lang="en-US" altLang="zh-HK" sz="1400" dirty="0"/>
            </a:br>
            <a:r>
              <a:rPr lang="zh-HK" altLang="zh-HK" sz="1400" dirty="0"/>
              <a:t>Helps parents read school-zone details beyond a single score.</a:t>
            </a:r>
          </a:p>
          <a:p>
            <a:pPr marL="342900" lvl="0" indent="-342900">
              <a:buFont typeface="+mj-lt"/>
              <a:buAutoNum type="arabicPeriod"/>
            </a:pPr>
            <a:endParaRPr lang="zh-HK" altLang="zh-HK" sz="1400" dirty="0"/>
          </a:p>
        </p:txBody>
      </p:sp>
      <p:sp>
        <p:nvSpPr>
          <p:cNvPr id="105" name="文字方塊 104">
            <a:extLst>
              <a:ext uri="{FF2B5EF4-FFF2-40B4-BE49-F238E27FC236}">
                <a16:creationId xmlns:a16="http://schemas.microsoft.com/office/drawing/2014/main" id="{F76D4820-A477-E296-2080-75B220EF15DD}"/>
              </a:ext>
            </a:extLst>
          </p:cNvPr>
          <p:cNvSpPr txBox="1"/>
          <p:nvPr/>
        </p:nvSpPr>
        <p:spPr>
          <a:xfrm>
            <a:off x="665820" y="2755301"/>
            <a:ext cx="26869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dirty="0"/>
              <a:t>One main visual at a time</a:t>
            </a:r>
            <a:endParaRPr lang="zh-HK" altLang="en-US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4EA784F9-8386-5491-1BCD-83307AAA283A}"/>
              </a:ext>
            </a:extLst>
          </p:cNvPr>
          <p:cNvSpPr txBox="1"/>
          <p:nvPr/>
        </p:nvSpPr>
        <p:spPr>
          <a:xfrm>
            <a:off x="5979405" y="12541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2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4C55626D-02CE-A0BE-AF14-6C73AAA34681}"/>
              </a:ext>
            </a:extLst>
          </p:cNvPr>
          <p:cNvSpPr txBox="1"/>
          <p:nvPr/>
        </p:nvSpPr>
        <p:spPr>
          <a:xfrm>
            <a:off x="7388646" y="44136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1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113" name="文字方塊 112">
            <a:extLst>
              <a:ext uri="{FF2B5EF4-FFF2-40B4-BE49-F238E27FC236}">
                <a16:creationId xmlns:a16="http://schemas.microsoft.com/office/drawing/2014/main" id="{B83A8C7B-78C6-0412-C643-7CDCD3FDF8F5}"/>
              </a:ext>
            </a:extLst>
          </p:cNvPr>
          <p:cNvSpPr txBox="1"/>
          <p:nvPr/>
        </p:nvSpPr>
        <p:spPr>
          <a:xfrm>
            <a:off x="7564096" y="268973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3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115" name="文字方塊 114">
            <a:extLst>
              <a:ext uri="{FF2B5EF4-FFF2-40B4-BE49-F238E27FC236}">
                <a16:creationId xmlns:a16="http://schemas.microsoft.com/office/drawing/2014/main" id="{16219C46-2FA1-30A6-BD82-E1ED1CAFDDFF}"/>
              </a:ext>
            </a:extLst>
          </p:cNvPr>
          <p:cNvSpPr txBox="1"/>
          <p:nvPr/>
        </p:nvSpPr>
        <p:spPr>
          <a:xfrm>
            <a:off x="6535444" y="38641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4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F1EAB190-A4FC-C8E0-DA2E-E4AC451841B9}"/>
              </a:ext>
            </a:extLst>
          </p:cNvPr>
          <p:cNvSpPr txBox="1"/>
          <p:nvPr/>
        </p:nvSpPr>
        <p:spPr>
          <a:xfrm>
            <a:off x="6719396" y="532806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>
                <a:highlight>
                  <a:srgbClr val="FFFF00"/>
                </a:highlight>
              </a:rPr>
              <a:t>5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15D419DE-6486-C490-B0B8-85B7F4903C58}"/>
              </a:ext>
            </a:extLst>
          </p:cNvPr>
          <p:cNvSpPr txBox="1"/>
          <p:nvPr/>
        </p:nvSpPr>
        <p:spPr>
          <a:xfrm>
            <a:off x="884733" y="6706647"/>
            <a:ext cx="75616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HK" altLang="zh-HK" b="1" dirty="0">
                <a:highlight>
                  <a:srgbClr val="FFFF00"/>
                </a:highlight>
              </a:rPr>
              <a:t>Scene 4 interaction: select, explain, locate</a:t>
            </a:r>
            <a:endParaRPr lang="zh-HK" altLang="zh-HK" dirty="0">
              <a:highlight>
                <a:srgbClr val="FFFF00"/>
              </a:highlight>
            </a:endParaRPr>
          </a:p>
        </p:txBody>
      </p:sp>
      <p:sp>
        <p:nvSpPr>
          <p:cNvPr id="121" name="文字方塊 120">
            <a:extLst>
              <a:ext uri="{FF2B5EF4-FFF2-40B4-BE49-F238E27FC236}">
                <a16:creationId xmlns:a16="http://schemas.microsoft.com/office/drawing/2014/main" id="{309C17DD-E402-7346-4962-722DE4C6AEED}"/>
              </a:ext>
            </a:extLst>
          </p:cNvPr>
          <p:cNvSpPr txBox="1"/>
          <p:nvPr/>
        </p:nvSpPr>
        <p:spPr>
          <a:xfrm>
            <a:off x="9889810" y="7365754"/>
            <a:ext cx="820955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HK" altLang="zh-HK" sz="1400" b="1" dirty="0"/>
              <a:t>Strengths</a:t>
            </a:r>
            <a:endParaRPr lang="zh-HK" altLang="zh-HK" sz="1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400" dirty="0"/>
              <a:t>One focal visual reduces clutter.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400" dirty="0"/>
              <a:t>A fixed sequence connects the story.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400" dirty="0"/>
              <a:t>Short explanations support parents.</a:t>
            </a:r>
          </a:p>
          <a:p>
            <a:pPr>
              <a:buNone/>
            </a:pPr>
            <a:r>
              <a:rPr lang="zh-HK" altLang="zh-HK" sz="1400" b="1" dirty="0"/>
              <a:t>Trade-offs</a:t>
            </a:r>
            <a:endParaRPr lang="zh-HK" altLang="zh-HK" sz="1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400" dirty="0"/>
              <a:t>Long scrolling needs progress cues.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400" dirty="0"/>
              <a:t>Animation needs a static alternative.</a:t>
            </a:r>
          </a:p>
          <a:p>
            <a:pPr>
              <a:buNone/>
            </a:pPr>
            <a:r>
              <a:rPr lang="zh-HK" altLang="zh-HK" sz="1400" b="1" dirty="0"/>
              <a:t>Design notes</a:t>
            </a:r>
            <a:endParaRPr lang="zh-HK" altLang="zh-HK" sz="14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400" dirty="0"/>
              <a:t>Keep axes and colour meanings clear.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400" dirty="0"/>
              <a:t>Mark selective status separately from sector.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HK" altLang="zh-HK" sz="1400" dirty="0"/>
              <a:t>SA4 summaries are not school-zone values.</a:t>
            </a:r>
          </a:p>
          <a:p>
            <a:pPr>
              <a:buNone/>
            </a:pPr>
            <a:r>
              <a:rPr lang="zh-HK" altLang="zh-HK" sz="1400" dirty="0"/>
              <a:t>Draft design. All points and boundaries are illustrative. Final measures and scales must match the dataset.</a:t>
            </a:r>
          </a:p>
        </p:txBody>
      </p:sp>
      <p:sp>
        <p:nvSpPr>
          <p:cNvPr id="123" name="文字方塊 122">
            <a:extLst>
              <a:ext uri="{FF2B5EF4-FFF2-40B4-BE49-F238E27FC236}">
                <a16:creationId xmlns:a16="http://schemas.microsoft.com/office/drawing/2014/main" id="{90EF12C5-26F2-8DF0-9555-C8432349A05B}"/>
              </a:ext>
            </a:extLst>
          </p:cNvPr>
          <p:cNvSpPr txBox="1"/>
          <p:nvPr/>
        </p:nvSpPr>
        <p:spPr>
          <a:xfrm>
            <a:off x="3829975" y="2822989"/>
            <a:ext cx="196651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400" dirty="0"/>
              <a:t>Clickable progress bar</a:t>
            </a:r>
            <a:endParaRPr lang="zh-HK" altLang="en-US" sz="1400" dirty="0"/>
          </a:p>
        </p:txBody>
      </p:sp>
      <p:pic>
        <p:nvPicPr>
          <p:cNvPr id="125" name="圖片 124">
            <a:extLst>
              <a:ext uri="{FF2B5EF4-FFF2-40B4-BE49-F238E27FC236}">
                <a16:creationId xmlns:a16="http://schemas.microsoft.com/office/drawing/2014/main" id="{7A7C2504-8E05-FF0D-96AB-CF0464092A6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92" y="7084435"/>
            <a:ext cx="3560338" cy="1877591"/>
          </a:xfrm>
          <a:prstGeom prst="rect">
            <a:avLst/>
          </a:prstGeom>
        </p:spPr>
      </p:pic>
      <p:pic>
        <p:nvPicPr>
          <p:cNvPr id="127" name="圖片 126">
            <a:extLst>
              <a:ext uri="{FF2B5EF4-FFF2-40B4-BE49-F238E27FC236}">
                <a16:creationId xmlns:a16="http://schemas.microsoft.com/office/drawing/2014/main" id="{B2DE9534-84B9-3A3B-70C2-4D73A8BB943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42739" y="7029978"/>
            <a:ext cx="3395478" cy="1451100"/>
          </a:xfrm>
          <a:prstGeom prst="rect">
            <a:avLst/>
          </a:prstGeom>
        </p:spPr>
      </p:pic>
      <p:pic>
        <p:nvPicPr>
          <p:cNvPr id="129" name="圖片 128">
            <a:extLst>
              <a:ext uri="{FF2B5EF4-FFF2-40B4-BE49-F238E27FC236}">
                <a16:creationId xmlns:a16="http://schemas.microsoft.com/office/drawing/2014/main" id="{9FCD77CD-7A49-6BEA-EED0-7A54A62E433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62028" y="8242840"/>
            <a:ext cx="2887254" cy="1968581"/>
          </a:xfrm>
          <a:prstGeom prst="rect">
            <a:avLst/>
          </a:prstGeom>
        </p:spPr>
      </p:pic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BAB481DF-F5BC-97AD-5769-7D2F644E2E25}"/>
              </a:ext>
            </a:extLst>
          </p:cNvPr>
          <p:cNvSpPr txBox="1"/>
          <p:nvPr/>
        </p:nvSpPr>
        <p:spPr>
          <a:xfrm>
            <a:off x="10439400" y="106978"/>
            <a:ext cx="9779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dirty="0"/>
              <a:t>Choosing a Secondary School Zone: Results, Student Backgrounds and Trends</a:t>
            </a:r>
            <a:endParaRPr lang="zh-HK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9695177" cy="6675157"/>
            <a:chOff x="0" y="0"/>
            <a:chExt cx="2553462" cy="17580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53462" cy="1758066"/>
            </a:xfrm>
            <a:custGeom>
              <a:avLst/>
              <a:gdLst/>
              <a:ahLst/>
              <a:cxnLst/>
              <a:rect l="l" t="t" r="r" b="b"/>
              <a:pathLst>
                <a:path w="2553462" h="1758066">
                  <a:moveTo>
                    <a:pt x="0" y="0"/>
                  </a:moveTo>
                  <a:lnTo>
                    <a:pt x="2553462" y="0"/>
                  </a:lnTo>
                  <a:lnTo>
                    <a:pt x="2553462" y="1758066"/>
                  </a:lnTo>
                  <a:lnTo>
                    <a:pt x="0" y="1758066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553462" cy="17961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99150" y="141192"/>
            <a:ext cx="1030560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Layout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0" y="6675157"/>
            <a:ext cx="9695177" cy="3611843"/>
            <a:chOff x="0" y="0"/>
            <a:chExt cx="2553462" cy="95126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53462" cy="951267"/>
            </a:xfrm>
            <a:custGeom>
              <a:avLst/>
              <a:gdLst/>
              <a:ahLst/>
              <a:cxnLst/>
              <a:rect l="l" t="t" r="r" b="b"/>
              <a:pathLst>
                <a:path w="2553462" h="951267">
                  <a:moveTo>
                    <a:pt x="0" y="0"/>
                  </a:moveTo>
                  <a:lnTo>
                    <a:pt x="2553462" y="0"/>
                  </a:lnTo>
                  <a:lnTo>
                    <a:pt x="2553462" y="951267"/>
                  </a:lnTo>
                  <a:lnTo>
                    <a:pt x="0" y="951267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553462" cy="9893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95177" y="6982976"/>
            <a:ext cx="8592823" cy="3304024"/>
            <a:chOff x="0" y="0"/>
            <a:chExt cx="2263130" cy="131139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263130" cy="1311396"/>
            </a:xfrm>
            <a:custGeom>
              <a:avLst/>
              <a:gdLst/>
              <a:ahLst/>
              <a:cxnLst/>
              <a:rect l="l" t="t" r="r" b="b"/>
              <a:pathLst>
                <a:path w="2263130" h="1311396">
                  <a:moveTo>
                    <a:pt x="0" y="0"/>
                  </a:moveTo>
                  <a:lnTo>
                    <a:pt x="2263130" y="0"/>
                  </a:lnTo>
                  <a:lnTo>
                    <a:pt x="2263130" y="1311396"/>
                  </a:lnTo>
                  <a:lnTo>
                    <a:pt x="0" y="1311396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263130" cy="13494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9847017" y="1824487"/>
            <a:ext cx="1582983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Operations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8640" y="6799316"/>
            <a:ext cx="394002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Focus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865392" y="7079231"/>
            <a:ext cx="394002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Discussion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9695177" y="598638"/>
            <a:ext cx="3776039" cy="434255"/>
            <a:chOff x="0" y="0"/>
            <a:chExt cx="994512" cy="11437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994512" cy="114372"/>
            </a:xfrm>
            <a:custGeom>
              <a:avLst/>
              <a:gdLst/>
              <a:ahLst/>
              <a:cxnLst/>
              <a:rect l="l" t="t" r="r" b="b"/>
              <a:pathLst>
                <a:path w="994512" h="114372">
                  <a:moveTo>
                    <a:pt x="0" y="0"/>
                  </a:moveTo>
                  <a:lnTo>
                    <a:pt x="994512" y="0"/>
                  </a:lnTo>
                  <a:lnTo>
                    <a:pt x="994512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994512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695177" y="0"/>
            <a:ext cx="8592823" cy="594627"/>
            <a:chOff x="0" y="0"/>
            <a:chExt cx="2263130" cy="15661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263130" cy="156610"/>
            </a:xfrm>
            <a:custGeom>
              <a:avLst/>
              <a:gdLst/>
              <a:ahLst/>
              <a:cxnLst/>
              <a:rect l="l" t="t" r="r" b="b"/>
              <a:pathLst>
                <a:path w="2263130" h="156610">
                  <a:moveTo>
                    <a:pt x="0" y="0"/>
                  </a:moveTo>
                  <a:lnTo>
                    <a:pt x="2263130" y="0"/>
                  </a:lnTo>
                  <a:lnTo>
                    <a:pt x="2263130" y="156610"/>
                  </a:lnTo>
                  <a:lnTo>
                    <a:pt x="0" y="156610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2263130" cy="1947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471215" y="598638"/>
            <a:ext cx="2661097" cy="434255"/>
            <a:chOff x="0" y="0"/>
            <a:chExt cx="700865" cy="11437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0865" cy="114372"/>
            </a:xfrm>
            <a:custGeom>
              <a:avLst/>
              <a:gdLst/>
              <a:ahLst/>
              <a:cxnLst/>
              <a:rect l="l" t="t" r="r" b="b"/>
              <a:pathLst>
                <a:path w="700865" h="114372">
                  <a:moveTo>
                    <a:pt x="0" y="0"/>
                  </a:moveTo>
                  <a:lnTo>
                    <a:pt x="700865" y="0"/>
                  </a:lnTo>
                  <a:lnTo>
                    <a:pt x="700865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700865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695177" y="1032893"/>
            <a:ext cx="8592823" cy="639196"/>
            <a:chOff x="0" y="0"/>
            <a:chExt cx="2263130" cy="16834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263130" cy="168348"/>
            </a:xfrm>
            <a:custGeom>
              <a:avLst/>
              <a:gdLst/>
              <a:ahLst/>
              <a:cxnLst/>
              <a:rect l="l" t="t" r="r" b="b"/>
              <a:pathLst>
                <a:path w="2263130" h="168348">
                  <a:moveTo>
                    <a:pt x="0" y="0"/>
                  </a:moveTo>
                  <a:lnTo>
                    <a:pt x="2263130" y="0"/>
                  </a:lnTo>
                  <a:lnTo>
                    <a:pt x="2263130" y="168348"/>
                  </a:lnTo>
                  <a:lnTo>
                    <a:pt x="0" y="168348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2263130" cy="2064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9780580" y="117926"/>
            <a:ext cx="658820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Title: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780580" y="652888"/>
            <a:ext cx="1113006" cy="3000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Author: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3556940" y="652888"/>
            <a:ext cx="583109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Date: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6132312" y="598638"/>
            <a:ext cx="2155688" cy="434255"/>
            <a:chOff x="0" y="0"/>
            <a:chExt cx="567753" cy="114372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567753" cy="114372"/>
            </a:xfrm>
            <a:custGeom>
              <a:avLst/>
              <a:gdLst/>
              <a:ahLst/>
              <a:cxnLst/>
              <a:rect l="l" t="t" r="r" b="b"/>
              <a:pathLst>
                <a:path w="567753" h="114372">
                  <a:moveTo>
                    <a:pt x="0" y="0"/>
                  </a:moveTo>
                  <a:lnTo>
                    <a:pt x="567753" y="0"/>
                  </a:lnTo>
                  <a:lnTo>
                    <a:pt x="567753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38100"/>
              <a:ext cx="567753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6218037" y="652888"/>
            <a:ext cx="698078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Sheet: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780580" y="1189612"/>
            <a:ext cx="825326" cy="311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Task:</a:t>
            </a: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1083649D-F6CD-0BA1-8EC9-9E6A7F51F255}"/>
              </a:ext>
            </a:extLst>
          </p:cNvPr>
          <p:cNvSpPr txBox="1"/>
          <p:nvPr/>
        </p:nvSpPr>
        <p:spPr>
          <a:xfrm>
            <a:off x="10809232" y="612554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Sin Ping CHAN</a:t>
            </a:r>
            <a:endParaRPr lang="zh-HK" altLang="en-US" dirty="0"/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69ACD2E1-B17D-22E7-C68F-2024E8FA66B1}"/>
              </a:ext>
            </a:extLst>
          </p:cNvPr>
          <p:cNvSpPr txBox="1"/>
          <p:nvPr/>
        </p:nvSpPr>
        <p:spPr>
          <a:xfrm>
            <a:off x="14192148" y="623600"/>
            <a:ext cx="13003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08/10/2026</a:t>
            </a:r>
            <a:endParaRPr lang="zh-HK" altLang="en-US" dirty="0"/>
          </a:p>
        </p:txBody>
      </p: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2FFA90AF-193D-E602-0C11-54E302D68DC7}"/>
              </a:ext>
            </a:extLst>
          </p:cNvPr>
          <p:cNvSpPr txBox="1"/>
          <p:nvPr/>
        </p:nvSpPr>
        <p:spPr>
          <a:xfrm>
            <a:off x="17330721" y="60416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HK" dirty="0"/>
              <a:t>3</a:t>
            </a:r>
            <a:endParaRPr lang="zh-HK" altLang="en-US" dirty="0"/>
          </a:p>
        </p:txBody>
      </p: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9EDE1A1C-0E4B-1059-EDA9-D42CED5B8CF3}"/>
              </a:ext>
            </a:extLst>
          </p:cNvPr>
          <p:cNvSpPr txBox="1"/>
          <p:nvPr/>
        </p:nvSpPr>
        <p:spPr>
          <a:xfrm>
            <a:off x="10439400" y="106978"/>
            <a:ext cx="9779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dirty="0"/>
              <a:t>Choosing a Secondary School Zone: Results, Student Backgrounds and Trends</a:t>
            </a:r>
            <a:endParaRPr lang="zh-HK" altLang="en-US" dirty="0"/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E924F0B2-9287-92C5-5D95-DF15EF4FFBD7}"/>
              </a:ext>
            </a:extLst>
          </p:cNvPr>
          <p:cNvSpPr txBox="1"/>
          <p:nvPr/>
        </p:nvSpPr>
        <p:spPr>
          <a:xfrm>
            <a:off x="9990056" y="2220561"/>
            <a:ext cx="8404183" cy="54476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200" b="1" dirty="0"/>
              <a:t>1. Results</a:t>
            </a:r>
            <a:endParaRPr lang="zh-HK" altLang="zh-HK" sz="1200" dirty="0"/>
          </a:p>
          <a:p>
            <a:pPr lvl="0"/>
            <a:r>
              <a:rPr lang="zh-HK" altLang="zh-HK" sz="1200" dirty="0"/>
              <a:t>Select a dot to show the school name, median VCE study score and share of study scores ≥40.</a:t>
            </a:r>
          </a:p>
          <a:p>
            <a:pPr lvl="0"/>
            <a:r>
              <a:rPr lang="zh-HK" altLang="zh-HK" sz="1200" dirty="0"/>
              <a:t>Select </a:t>
            </a:r>
            <a:r>
              <a:rPr lang="zh-HK" altLang="zh-HK" sz="1200" b="1" dirty="0"/>
              <a:t>“Focus on government schools”</a:t>
            </a:r>
            <a:r>
              <a:rPr lang="zh-HK" altLang="zh-HK" sz="1200" dirty="0"/>
              <a:t> to highlight government-school dots while other sectors fade.</a:t>
            </a:r>
          </a:p>
          <a:p>
            <a:pPr lvl="0"/>
            <a:r>
              <a:rPr lang="zh-HK" altLang="zh-HK" sz="1200" dirty="0"/>
              <a:t>Open Question 2 to explore student background.</a:t>
            </a:r>
          </a:p>
          <a:p>
            <a:r>
              <a:rPr lang="zh-HK" altLang="zh-HK" sz="1200" b="1" dirty="0"/>
              <a:t>2. Background</a:t>
            </a:r>
            <a:endParaRPr lang="zh-HK" altLang="zh-HK" sz="1200" dirty="0"/>
          </a:p>
          <a:p>
            <a:pPr lvl="0"/>
            <a:r>
              <a:rPr lang="zh-HK" altLang="zh-HK" sz="1200" dirty="0"/>
              <a:t>Select a school dot to highlight it and show its name.</a:t>
            </a:r>
          </a:p>
          <a:p>
            <a:pPr lvl="0"/>
            <a:r>
              <a:rPr lang="zh-HK" altLang="zh-HK" sz="1200" dirty="0"/>
              <a:t>Select </a:t>
            </a:r>
            <a:r>
              <a:rPr lang="zh-HK" altLang="zh-HK" sz="1200" b="1" dirty="0"/>
              <a:t>“See its three-year trend”</a:t>
            </a:r>
            <a:r>
              <a:rPr lang="zh-HK" altLang="zh-HK" sz="1200" dirty="0"/>
              <a:t> to reveal a small line chart.</a:t>
            </a:r>
          </a:p>
          <a:p>
            <a:pPr lvl="0"/>
            <a:r>
              <a:rPr lang="zh-HK" altLang="zh-HK" sz="1200" dirty="0"/>
              <a:t>Close the trend to return to the scatter plot.</a:t>
            </a:r>
          </a:p>
          <a:p>
            <a:pPr lvl="0"/>
            <a:r>
              <a:rPr lang="zh-HK" altLang="zh-HK" sz="1200" dirty="0"/>
              <a:t>Open Question 3 to explore the four profiles.</a:t>
            </a:r>
          </a:p>
          <a:p>
            <a:r>
              <a:rPr lang="zh-HK" altLang="zh-HK" sz="1200" b="1" dirty="0"/>
              <a:t>3. Profiles</a:t>
            </a:r>
            <a:endParaRPr lang="zh-HK" altLang="zh-HK" sz="1200" dirty="0"/>
          </a:p>
          <a:p>
            <a:pPr lvl="0"/>
            <a:r>
              <a:rPr lang="zh-HK" altLang="zh-HK" sz="1200" dirty="0"/>
              <a:t>Select a profile circle to highlight it.</a:t>
            </a:r>
          </a:p>
          <a:p>
            <a:pPr lvl="0"/>
            <a:r>
              <a:rPr lang="zh-HK" altLang="zh-HK" sz="1200" dirty="0"/>
              <a:t>Show its school count and five average values.</a:t>
            </a:r>
          </a:p>
          <a:p>
            <a:pPr lvl="0"/>
            <a:r>
              <a:rPr lang="zh-HK" altLang="zh-HK" sz="1200" dirty="0"/>
              <a:t>Group the values under </a:t>
            </a:r>
            <a:r>
              <a:rPr lang="zh-HK" altLang="zh-HK" sz="1200" b="1" dirty="0"/>
              <a:t>Current results</a:t>
            </a:r>
            <a:r>
              <a:rPr lang="zh-HK" altLang="zh-HK" sz="1200" dirty="0"/>
              <a:t>, </a:t>
            </a:r>
            <a:r>
              <a:rPr lang="zh-HK" altLang="zh-HK" sz="1200" b="1" dirty="0"/>
              <a:t>Recent change</a:t>
            </a:r>
            <a:r>
              <a:rPr lang="zh-HK" altLang="zh-HK" sz="1200" dirty="0"/>
              <a:t> and </a:t>
            </a:r>
            <a:r>
              <a:rPr lang="zh-HK" altLang="zh-HK" sz="1200" b="1" dirty="0"/>
              <a:t>Student background</a:t>
            </a:r>
            <a:r>
              <a:rPr lang="zh-HK" altLang="zh-HK" sz="1200" dirty="0"/>
              <a:t>.</a:t>
            </a:r>
          </a:p>
          <a:p>
            <a:pPr lvl="0"/>
            <a:r>
              <a:rPr lang="zh-HK" altLang="zh-HK" sz="1200" dirty="0"/>
              <a:t>Show median-score change in points and high-score-share change in percentage points.</a:t>
            </a:r>
          </a:p>
          <a:p>
            <a:pPr lvl="0"/>
            <a:r>
              <a:rPr lang="zh-HK" altLang="zh-HK" sz="1200" dirty="0"/>
              <a:t>Add a short explanation of the profile’s main features.</a:t>
            </a:r>
          </a:p>
          <a:p>
            <a:pPr lvl="0"/>
            <a:r>
              <a:rPr lang="zh-HK" altLang="zh-HK" sz="1200" dirty="0"/>
              <a:t>Select </a:t>
            </a:r>
            <a:r>
              <a:rPr lang="zh-HK" altLang="zh-HK" sz="1200" b="1" dirty="0"/>
              <a:t>“Where are these schools?”</a:t>
            </a:r>
            <a:r>
              <a:rPr lang="zh-HK" altLang="zh-HK" sz="1200" dirty="0"/>
              <a:t> to open Question 4 with the same profile selected.</a:t>
            </a:r>
          </a:p>
          <a:p>
            <a:r>
              <a:rPr lang="zh-HK" altLang="zh-HK" sz="1200" b="1" dirty="0"/>
              <a:t>4. Locations</a:t>
            </a:r>
            <a:endParaRPr lang="zh-HK" altLang="zh-HK" sz="1200" dirty="0"/>
          </a:p>
          <a:p>
            <a:pPr lvl="0"/>
            <a:r>
              <a:rPr lang="zh-HK" altLang="zh-HK" sz="1200" dirty="0"/>
              <a:t>Highlight school zones linked to schools in the selected profile.</a:t>
            </a:r>
          </a:p>
          <a:p>
            <a:pPr lvl="0"/>
            <a:r>
              <a:rPr lang="zh-HK" altLang="zh-HK" sz="1200" dirty="0"/>
              <a:t>Other zones fade but remain visible for context.</a:t>
            </a:r>
          </a:p>
          <a:p>
            <a:pPr lvl="0"/>
            <a:r>
              <a:rPr lang="zh-HK" altLang="zh-HK" sz="1200" dirty="0"/>
              <a:t>Select another profile label to update the map and explanation.</a:t>
            </a:r>
          </a:p>
          <a:p>
            <a:pPr lvl="0"/>
            <a:r>
              <a:rPr lang="zh-HK" altLang="zh-HK" sz="1200" dirty="0"/>
              <a:t>Keep SA4 outlines and names visible.</a:t>
            </a:r>
          </a:p>
          <a:p>
            <a:pPr lvl="0"/>
            <a:r>
              <a:rPr lang="zh-HK" altLang="zh-HK" sz="1200" dirty="0"/>
              <a:t>Individual zones do not open information cards in this section.</a:t>
            </a:r>
          </a:p>
          <a:p>
            <a:pPr lvl="0"/>
            <a:r>
              <a:rPr lang="zh-HK" altLang="zh-HK" sz="1200" dirty="0"/>
              <a:t>Open Question 5 to read school-zone details.</a:t>
            </a:r>
          </a:p>
          <a:p>
            <a:r>
              <a:rPr lang="zh-HK" altLang="zh-HK" sz="1200" b="1" dirty="0"/>
              <a:t>5. School zones</a:t>
            </a:r>
            <a:endParaRPr lang="zh-HK" altLang="zh-HK" sz="1200" dirty="0"/>
          </a:p>
          <a:p>
            <a:pPr lvl="0"/>
            <a:r>
              <a:rPr lang="zh-HK" altLang="zh-HK" sz="1200" dirty="0"/>
              <a:t>Move the labelled results slider to highlight matching zones.</a:t>
            </a:r>
          </a:p>
          <a:p>
            <a:pPr lvl="0"/>
            <a:r>
              <a:rPr lang="zh-HK" altLang="zh-HK" sz="1200" dirty="0"/>
              <a:t>Select a zone to open its associated school’s information card.</a:t>
            </a:r>
          </a:p>
          <a:p>
            <a:pPr lvl="0"/>
            <a:r>
              <a:rPr lang="zh-HK" altLang="zh-HK" sz="1200" dirty="0"/>
              <a:t>Show results and year, ICSEA, three-year change, available course information, data source and zone reference year.</a:t>
            </a:r>
          </a:p>
          <a:p>
            <a:pPr lvl="0"/>
            <a:r>
              <a:rPr lang="zh-HK" altLang="zh-HK" sz="1200" dirty="0"/>
              <a:t>Close the card to return to the map.</a:t>
            </a:r>
          </a:p>
          <a:p>
            <a:pPr lvl="0"/>
            <a:r>
              <a:rPr lang="zh-HK" altLang="zh-HK" sz="1200" dirty="0"/>
              <a:t>Do not include shortlist or comparison controls.</a:t>
            </a:r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5527BF44-BABB-B96C-CF5C-335F75872D79}"/>
              </a:ext>
            </a:extLst>
          </p:cNvPr>
          <p:cNvSpPr txBox="1"/>
          <p:nvPr/>
        </p:nvSpPr>
        <p:spPr>
          <a:xfrm>
            <a:off x="11240289" y="6986079"/>
            <a:ext cx="7047711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400" b="1" dirty="0"/>
              <a:t>Strengths</a:t>
            </a:r>
            <a:endParaRPr lang="zh-HK" altLang="zh-HK" sz="14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One question per slide keeps the message clear.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Readers control the pace and can return easily.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A fixed visual area provides a consistent layout.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The selected profile connects the explanation to the next map.</a:t>
            </a:r>
          </a:p>
          <a:p>
            <a:r>
              <a:rPr lang="zh-HK" altLang="zh-HK" sz="1400" b="1" dirty="0"/>
              <a:t>Trade-offs</a:t>
            </a:r>
            <a:endParaRPr lang="zh-HK" altLang="zh-HK" sz="14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Readers must click to continue.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Skipping slides may leave gaps in understanding.</a:t>
            </a:r>
          </a:p>
          <a:p>
            <a:r>
              <a:rPr lang="zh-HK" altLang="zh-HK" sz="1400" b="1" dirty="0"/>
              <a:t>Design notes</a:t>
            </a:r>
            <a:endParaRPr lang="zh-HK" altLang="zh-HK" sz="14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Use clear question titles, direct labels and consistent colours.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Use profile colours for school-zone shading; use SA4 outlines for location.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The profiles describe 111 zone-linked government schools with complete data.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Profile averages are not school-quality grades or predictions.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Mark unclassified schools separately.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zh-HK" altLang="zh-HK" sz="1400" dirty="0"/>
              <a:t>Keep metric names, years and scales clear.</a:t>
            </a:r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24D897D1-87AC-BD41-4990-24A8046D92D4}"/>
              </a:ext>
            </a:extLst>
          </p:cNvPr>
          <p:cNvSpPr txBox="1"/>
          <p:nvPr/>
        </p:nvSpPr>
        <p:spPr>
          <a:xfrm>
            <a:off x="1086121" y="98758"/>
            <a:ext cx="852333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b="1" dirty="0">
                <a:highlight>
                  <a:srgbClr val="FFFF00"/>
                </a:highlight>
              </a:rPr>
              <a:t>Genre:</a:t>
            </a:r>
            <a:r>
              <a:rPr lang="zh-HK" altLang="zh-HK" dirty="0">
                <a:highlight>
                  <a:srgbClr val="FFFF00"/>
                </a:highlight>
              </a:rPr>
              <a:t> Question-led</a:t>
            </a:r>
            <a:r>
              <a:rPr lang="en-US" altLang="zh-HK" dirty="0">
                <a:highlight>
                  <a:srgbClr val="FFFF00"/>
                </a:highlight>
              </a:rPr>
              <a:t> slides</a:t>
            </a:r>
            <a:r>
              <a:rPr lang="zh-HK" altLang="zh-HK" dirty="0">
                <a:highlight>
                  <a:srgbClr val="FFFF00"/>
                </a:highlight>
              </a:rPr>
              <a:t> + annotated charts</a:t>
            </a:r>
            <a:br>
              <a:rPr lang="zh-HK" altLang="zh-HK" dirty="0">
                <a:highlight>
                  <a:srgbClr val="FFFF00"/>
                </a:highlight>
              </a:rPr>
            </a:br>
            <a:r>
              <a:rPr lang="zh-HK" altLang="zh-HK" b="1" dirty="0">
                <a:highlight>
                  <a:srgbClr val="FFFF00"/>
                </a:highlight>
              </a:rPr>
              <a:t>Style:</a:t>
            </a:r>
            <a:r>
              <a:rPr lang="zh-HK" altLang="zh-HK" dirty="0">
                <a:highlight>
                  <a:srgbClr val="FFFF00"/>
                </a:highlight>
              </a:rPr>
              <a:t> Guided questions with reader-controlled exploration</a:t>
            </a:r>
            <a:endParaRPr lang="zh-HK" altLang="en-US" dirty="0">
              <a:highlight>
                <a:srgbClr val="FFFF00"/>
              </a:highlight>
            </a:endParaRPr>
          </a:p>
        </p:txBody>
      </p:sp>
      <p:sp>
        <p:nvSpPr>
          <p:cNvPr id="53" name="文字方塊 52">
            <a:extLst>
              <a:ext uri="{FF2B5EF4-FFF2-40B4-BE49-F238E27FC236}">
                <a16:creationId xmlns:a16="http://schemas.microsoft.com/office/drawing/2014/main" id="{B71F849C-5BBE-2588-E148-4085646F16B6}"/>
              </a:ext>
            </a:extLst>
          </p:cNvPr>
          <p:cNvSpPr txBox="1"/>
          <p:nvPr/>
        </p:nvSpPr>
        <p:spPr>
          <a:xfrm>
            <a:off x="884733" y="6706647"/>
            <a:ext cx="75616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HK" altLang="zh-HK" b="1" dirty="0">
                <a:highlight>
                  <a:srgbClr val="FFFF00"/>
                </a:highlight>
              </a:rPr>
              <a:t>Scene 4 interaction: select, explain, locate</a:t>
            </a:r>
            <a:endParaRPr lang="zh-HK" altLang="zh-HK" dirty="0">
              <a:highlight>
                <a:srgbClr val="FFFF00"/>
              </a:highlight>
            </a:endParaRPr>
          </a:p>
        </p:txBody>
      </p:sp>
      <p:sp>
        <p:nvSpPr>
          <p:cNvPr id="57" name="文字方塊 56">
            <a:extLst>
              <a:ext uri="{FF2B5EF4-FFF2-40B4-BE49-F238E27FC236}">
                <a16:creationId xmlns:a16="http://schemas.microsoft.com/office/drawing/2014/main" id="{9D0CA6E1-2DF4-B4F6-F89D-BE06A9366E9E}"/>
              </a:ext>
            </a:extLst>
          </p:cNvPr>
          <p:cNvSpPr txBox="1"/>
          <p:nvPr/>
        </p:nvSpPr>
        <p:spPr>
          <a:xfrm>
            <a:off x="143005" y="924240"/>
            <a:ext cx="3785327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HK" altLang="zh-HK" sz="1400" b="1" dirty="0"/>
              <a:t>Accordion navigation</a:t>
            </a:r>
            <a:endParaRPr lang="zh-HK" altLang="zh-HK" sz="1400" dirty="0"/>
          </a:p>
          <a:p>
            <a:pPr>
              <a:buNone/>
            </a:pPr>
            <a:r>
              <a:rPr lang="zh-HK" altLang="zh-HK" sz="1400" dirty="0"/>
              <a:t>Show </a:t>
            </a:r>
            <a:r>
              <a:rPr lang="en-US" altLang="zh-HK" sz="1400" dirty="0"/>
              <a:t>5</a:t>
            </a:r>
            <a:r>
              <a:rPr lang="zh-HK" altLang="zh-HK" sz="1400" dirty="0"/>
              <a:t> questions as stacked accordion bars. </a:t>
            </a:r>
            <a:endParaRPr lang="en-US" altLang="zh-HK" sz="1400" dirty="0"/>
          </a:p>
          <a:p>
            <a:pPr>
              <a:buNone/>
            </a:pPr>
            <a:r>
              <a:rPr lang="zh-HK" altLang="zh-HK" sz="1400" dirty="0"/>
              <a:t>Click a question to reveal its short answer, main visual and explanation. </a:t>
            </a:r>
            <a:endParaRPr lang="en-US" altLang="zh-HK" sz="1400" dirty="0"/>
          </a:p>
          <a:p>
            <a:pPr>
              <a:buNone/>
            </a:pPr>
            <a:r>
              <a:rPr lang="zh-HK" altLang="zh-HK" sz="1400" dirty="0"/>
              <a:t>Click it again to close it.</a:t>
            </a:r>
          </a:p>
          <a:p>
            <a:pPr>
              <a:buNone/>
            </a:pPr>
            <a:r>
              <a:rPr lang="zh-HK" altLang="zh-HK" sz="1400" dirty="0"/>
              <a:t>Open one question at a time. Opening another closes the previous one. </a:t>
            </a:r>
            <a:endParaRPr lang="en-US" altLang="zh-HK" sz="1400" dirty="0"/>
          </a:p>
          <a:p>
            <a:pPr>
              <a:buNone/>
            </a:pPr>
            <a:r>
              <a:rPr lang="zh-HK" altLang="zh-HK" sz="1400" dirty="0"/>
              <a:t>Readers can follow the numbered order or choose a question.</a:t>
            </a:r>
            <a:endParaRPr lang="en-US" altLang="zh-HK" sz="1400" dirty="0"/>
          </a:p>
        </p:txBody>
      </p:sp>
      <p:pic>
        <p:nvPicPr>
          <p:cNvPr id="59" name="圖片 58">
            <a:extLst>
              <a:ext uri="{FF2B5EF4-FFF2-40B4-BE49-F238E27FC236}">
                <a16:creationId xmlns:a16="http://schemas.microsoft.com/office/drawing/2014/main" id="{C49B67C8-EFED-01A9-FD77-AD221A8442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3188" y="5148943"/>
            <a:ext cx="1790344" cy="1391713"/>
          </a:xfrm>
          <a:prstGeom prst="rect">
            <a:avLst/>
          </a:prstGeom>
        </p:spPr>
      </p:pic>
      <p:pic>
        <p:nvPicPr>
          <p:cNvPr id="61" name="圖片 60">
            <a:extLst>
              <a:ext uri="{FF2B5EF4-FFF2-40B4-BE49-F238E27FC236}">
                <a16:creationId xmlns:a16="http://schemas.microsoft.com/office/drawing/2014/main" id="{1FFDA2A6-88FE-82E3-F208-14397B7B99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3841" y="5118100"/>
            <a:ext cx="1690758" cy="1511292"/>
          </a:xfrm>
          <a:prstGeom prst="rect">
            <a:avLst/>
          </a:prstGeom>
        </p:spPr>
      </p:pic>
      <p:pic>
        <p:nvPicPr>
          <p:cNvPr id="68" name="圖片 67">
            <a:extLst>
              <a:ext uri="{FF2B5EF4-FFF2-40B4-BE49-F238E27FC236}">
                <a16:creationId xmlns:a16="http://schemas.microsoft.com/office/drawing/2014/main" id="{C7AC3D9B-62AE-472C-50A0-0E637D3237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68468"/>
          <a:stretch>
            <a:fillRect/>
          </a:stretch>
        </p:blipFill>
        <p:spPr>
          <a:xfrm>
            <a:off x="4347235" y="732552"/>
            <a:ext cx="4515480" cy="1120426"/>
          </a:xfrm>
          <a:prstGeom prst="rect">
            <a:avLst/>
          </a:prstGeom>
        </p:spPr>
      </p:pic>
      <p:pic>
        <p:nvPicPr>
          <p:cNvPr id="70" name="圖片 69">
            <a:extLst>
              <a:ext uri="{FF2B5EF4-FFF2-40B4-BE49-F238E27FC236}">
                <a16:creationId xmlns:a16="http://schemas.microsoft.com/office/drawing/2014/main" id="{399808B6-9B4C-4B53-F7E9-E042E2ADA6A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3300"/>
          <a:stretch>
            <a:fillRect/>
          </a:stretch>
        </p:blipFill>
        <p:spPr>
          <a:xfrm>
            <a:off x="4270003" y="4295325"/>
            <a:ext cx="4515480" cy="593407"/>
          </a:xfrm>
          <a:prstGeom prst="rect">
            <a:avLst/>
          </a:prstGeom>
        </p:spPr>
      </p:pic>
      <p:pic>
        <p:nvPicPr>
          <p:cNvPr id="72" name="圖片 71">
            <a:extLst>
              <a:ext uri="{FF2B5EF4-FFF2-40B4-BE49-F238E27FC236}">
                <a16:creationId xmlns:a16="http://schemas.microsoft.com/office/drawing/2014/main" id="{9BA4935B-F3D7-E7EE-6530-C90B663E5DC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1532" b="16700"/>
          <a:stretch>
            <a:fillRect/>
          </a:stretch>
        </p:blipFill>
        <p:spPr>
          <a:xfrm>
            <a:off x="4289053" y="1949037"/>
            <a:ext cx="4515480" cy="1839488"/>
          </a:xfrm>
          <a:prstGeom prst="rect">
            <a:avLst/>
          </a:prstGeom>
        </p:spPr>
      </p:pic>
      <p:grpSp>
        <p:nvGrpSpPr>
          <p:cNvPr id="73" name="群組 72">
            <a:extLst>
              <a:ext uri="{FF2B5EF4-FFF2-40B4-BE49-F238E27FC236}">
                <a16:creationId xmlns:a16="http://schemas.microsoft.com/office/drawing/2014/main" id="{2380DEBC-AE21-9AF5-96BA-358CA6AEB633}"/>
              </a:ext>
            </a:extLst>
          </p:cNvPr>
          <p:cNvGrpSpPr/>
          <p:nvPr/>
        </p:nvGrpSpPr>
        <p:grpSpPr>
          <a:xfrm>
            <a:off x="377129" y="5026968"/>
            <a:ext cx="1879486" cy="1408848"/>
            <a:chOff x="6662426" y="284834"/>
            <a:chExt cx="1529547" cy="1213191"/>
          </a:xfrm>
        </p:grpSpPr>
        <p:pic>
          <p:nvPicPr>
            <p:cNvPr id="74" name="圖片 73">
              <a:extLst>
                <a:ext uri="{FF2B5EF4-FFF2-40B4-BE49-F238E27FC236}">
                  <a16:creationId xmlns:a16="http://schemas.microsoft.com/office/drawing/2014/main" id="{3B106A0E-6E0E-63F2-6244-6CC490DC0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10614"/>
            <a:stretch>
              <a:fillRect/>
            </a:stretch>
          </p:blipFill>
          <p:spPr>
            <a:xfrm>
              <a:off x="6662426" y="284834"/>
              <a:ext cx="1418307" cy="1213191"/>
            </a:xfrm>
            <a:prstGeom prst="rect">
              <a:avLst/>
            </a:prstGeom>
          </p:spPr>
        </p:pic>
        <p:sp>
          <p:nvSpPr>
            <p:cNvPr id="75" name="流程圖: 接點 74">
              <a:extLst>
                <a:ext uri="{FF2B5EF4-FFF2-40B4-BE49-F238E27FC236}">
                  <a16:creationId xmlns:a16="http://schemas.microsoft.com/office/drawing/2014/main" id="{BCAD4408-B390-1781-6F16-0839120A4547}"/>
                </a:ext>
              </a:extLst>
            </p:cNvPr>
            <p:cNvSpPr/>
            <p:nvPr/>
          </p:nvSpPr>
          <p:spPr>
            <a:xfrm>
              <a:off x="7448452" y="922892"/>
              <a:ext cx="200759" cy="188351"/>
            </a:xfrm>
            <a:prstGeom prst="flowChartConnector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/>
            </a:p>
          </p:txBody>
        </p:sp>
        <p:sp>
          <p:nvSpPr>
            <p:cNvPr id="76" name="圖說文字: 直線 75">
              <a:extLst>
                <a:ext uri="{FF2B5EF4-FFF2-40B4-BE49-F238E27FC236}">
                  <a16:creationId xmlns:a16="http://schemas.microsoft.com/office/drawing/2014/main" id="{40AB535A-ED35-E9BB-5488-0F0F37330783}"/>
                </a:ext>
              </a:extLst>
            </p:cNvPr>
            <p:cNvSpPr/>
            <p:nvPr/>
          </p:nvSpPr>
          <p:spPr>
            <a:xfrm>
              <a:off x="7826672" y="659978"/>
              <a:ext cx="365301" cy="168002"/>
            </a:xfrm>
            <a:prstGeom prst="borderCallout1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/>
            </a:p>
          </p:txBody>
        </p:sp>
      </p:grpSp>
      <p:grpSp>
        <p:nvGrpSpPr>
          <p:cNvPr id="77" name="群組 76">
            <a:extLst>
              <a:ext uri="{FF2B5EF4-FFF2-40B4-BE49-F238E27FC236}">
                <a16:creationId xmlns:a16="http://schemas.microsoft.com/office/drawing/2014/main" id="{34D1637C-855D-86FE-70E6-EBD7CD23459E}"/>
              </a:ext>
            </a:extLst>
          </p:cNvPr>
          <p:cNvGrpSpPr/>
          <p:nvPr/>
        </p:nvGrpSpPr>
        <p:grpSpPr>
          <a:xfrm>
            <a:off x="2697415" y="5118100"/>
            <a:ext cx="1729769" cy="1285740"/>
            <a:chOff x="6467731" y="2801152"/>
            <a:chExt cx="1457069" cy="1013663"/>
          </a:xfrm>
        </p:grpSpPr>
        <p:pic>
          <p:nvPicPr>
            <p:cNvPr id="78" name="圖片 77">
              <a:extLst>
                <a:ext uri="{FF2B5EF4-FFF2-40B4-BE49-F238E27FC236}">
                  <a16:creationId xmlns:a16="http://schemas.microsoft.com/office/drawing/2014/main" id="{30B49643-5AF1-6CE4-BFCD-D019E47E79D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6056"/>
            <a:stretch>
              <a:fillRect/>
            </a:stretch>
          </p:blipFill>
          <p:spPr>
            <a:xfrm>
              <a:off x="6467731" y="2801152"/>
              <a:ext cx="999595" cy="1013663"/>
            </a:xfrm>
            <a:prstGeom prst="rect">
              <a:avLst/>
            </a:prstGeom>
          </p:spPr>
        </p:pic>
        <p:sp>
          <p:nvSpPr>
            <p:cNvPr id="79" name="矩形 78">
              <a:extLst>
                <a:ext uri="{FF2B5EF4-FFF2-40B4-BE49-F238E27FC236}">
                  <a16:creationId xmlns:a16="http://schemas.microsoft.com/office/drawing/2014/main" id="{1602C02A-8AEF-872E-1F9D-BE0A2DD445DE}"/>
                </a:ext>
              </a:extLst>
            </p:cNvPr>
            <p:cNvSpPr/>
            <p:nvPr/>
          </p:nvSpPr>
          <p:spPr>
            <a:xfrm>
              <a:off x="7323844" y="3102420"/>
              <a:ext cx="600956" cy="124154"/>
            </a:xfrm>
            <a:prstGeom prst="rect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HK" sz="300" dirty="0">
                  <a:ln w="0"/>
                  <a:solidFill>
                    <a:schemeClr val="tx1"/>
                  </a:solidFill>
                </a:rPr>
                <a:t>School name+ type</a:t>
              </a:r>
              <a:br>
                <a:rPr lang="en-US" altLang="zh-HK" sz="300" dirty="0">
                  <a:ln w="0"/>
                  <a:solidFill>
                    <a:schemeClr val="tx1"/>
                  </a:solidFill>
                </a:rPr>
              </a:br>
              <a:r>
                <a:rPr lang="zh-HK" altLang="zh-HK" sz="300" b="1" dirty="0">
                  <a:solidFill>
                    <a:schemeClr val="tx1"/>
                  </a:solidFill>
                </a:rPr>
                <a:t>See its three-year trend</a:t>
              </a:r>
              <a:endParaRPr lang="zh-HK" altLang="en-US" sz="300" dirty="0">
                <a:solidFill>
                  <a:schemeClr val="tx1"/>
                </a:solidFill>
              </a:endParaRPr>
            </a:p>
          </p:txBody>
        </p:sp>
        <p:pic>
          <p:nvPicPr>
            <p:cNvPr id="80" name="圖片 79">
              <a:extLst>
                <a:ext uri="{FF2B5EF4-FFF2-40B4-BE49-F238E27FC236}">
                  <a16:creationId xmlns:a16="http://schemas.microsoft.com/office/drawing/2014/main" id="{8D3B91CE-3F32-56A3-90EB-4050D0F112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027" t="24395" r="5900" b="21499"/>
            <a:stretch>
              <a:fillRect/>
            </a:stretch>
          </p:blipFill>
          <p:spPr>
            <a:xfrm>
              <a:off x="7328885" y="3243032"/>
              <a:ext cx="509749" cy="418248"/>
            </a:xfrm>
            <a:prstGeom prst="rect">
              <a:avLst/>
            </a:prstGeom>
          </p:spPr>
        </p:pic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464901CD-6C19-356C-B8C0-8FB9B3E19E75}"/>
                </a:ext>
              </a:extLst>
            </p:cNvPr>
            <p:cNvSpPr/>
            <p:nvPr/>
          </p:nvSpPr>
          <p:spPr>
            <a:xfrm>
              <a:off x="7385303" y="3164497"/>
              <a:ext cx="37785" cy="45719"/>
            </a:xfrm>
            <a:prstGeom prst="rect">
              <a:avLst/>
            </a:prstGeom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82" name="手繪多邊形: 圖案 81">
              <a:extLst>
                <a:ext uri="{FF2B5EF4-FFF2-40B4-BE49-F238E27FC236}">
                  <a16:creationId xmlns:a16="http://schemas.microsoft.com/office/drawing/2014/main" id="{CBA8B007-7193-0417-C642-FB4EA845CB74}"/>
                </a:ext>
              </a:extLst>
            </p:cNvPr>
            <p:cNvSpPr/>
            <p:nvPr/>
          </p:nvSpPr>
          <p:spPr>
            <a:xfrm>
              <a:off x="7393781" y="3157538"/>
              <a:ext cx="47625" cy="43499"/>
            </a:xfrm>
            <a:custGeom>
              <a:avLst/>
              <a:gdLst>
                <a:gd name="csX0" fmla="*/ 0 w 47625"/>
                <a:gd name="csY0" fmla="*/ 28575 h 43499"/>
                <a:gd name="csX1" fmla="*/ 35719 w 47625"/>
                <a:gd name="csY1" fmla="*/ 14287 h 43499"/>
                <a:gd name="csX2" fmla="*/ 47625 w 47625"/>
                <a:gd name="csY2" fmla="*/ 0 h 434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7625" h="43499">
                  <a:moveTo>
                    <a:pt x="0" y="28575"/>
                  </a:moveTo>
                  <a:cubicBezTo>
                    <a:pt x="4961" y="53372"/>
                    <a:pt x="-125" y="46358"/>
                    <a:pt x="35719" y="14287"/>
                  </a:cubicBezTo>
                  <a:cubicBezTo>
                    <a:pt x="40339" y="10153"/>
                    <a:pt x="47625" y="0"/>
                    <a:pt x="47625" y="0"/>
                  </a:cubicBezTo>
                </a:path>
              </a:pathLst>
            </a:custGeom>
            <a:ln w="31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HK" altLang="en-US"/>
            </a:p>
          </p:txBody>
        </p:sp>
      </p:grpSp>
      <p:pic>
        <p:nvPicPr>
          <p:cNvPr id="84" name="圖片 83">
            <a:extLst>
              <a:ext uri="{FF2B5EF4-FFF2-40B4-BE49-F238E27FC236}">
                <a16:creationId xmlns:a16="http://schemas.microsoft.com/office/drawing/2014/main" id="{5FC74858-241C-2748-B964-599095A80C0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0146" y="5256112"/>
            <a:ext cx="1444109" cy="11231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9695177" cy="6675157"/>
            <a:chOff x="0" y="0"/>
            <a:chExt cx="2553462" cy="17580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53462" cy="1758066"/>
            </a:xfrm>
            <a:custGeom>
              <a:avLst/>
              <a:gdLst/>
              <a:ahLst/>
              <a:cxnLst/>
              <a:rect l="l" t="t" r="r" b="b"/>
              <a:pathLst>
                <a:path w="2553462" h="1758066">
                  <a:moveTo>
                    <a:pt x="0" y="0"/>
                  </a:moveTo>
                  <a:lnTo>
                    <a:pt x="2553462" y="0"/>
                  </a:lnTo>
                  <a:lnTo>
                    <a:pt x="2553462" y="1758066"/>
                  </a:lnTo>
                  <a:lnTo>
                    <a:pt x="0" y="1758066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553462" cy="17961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88640" y="134436"/>
            <a:ext cx="756791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Layout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0" y="6675157"/>
            <a:ext cx="9695177" cy="3611843"/>
            <a:chOff x="0" y="0"/>
            <a:chExt cx="2553462" cy="95126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53462" cy="951267"/>
            </a:xfrm>
            <a:custGeom>
              <a:avLst/>
              <a:gdLst/>
              <a:ahLst/>
              <a:cxnLst/>
              <a:rect l="l" t="t" r="r" b="b"/>
              <a:pathLst>
                <a:path w="2553462" h="951267">
                  <a:moveTo>
                    <a:pt x="0" y="0"/>
                  </a:moveTo>
                  <a:lnTo>
                    <a:pt x="2553462" y="0"/>
                  </a:lnTo>
                  <a:lnTo>
                    <a:pt x="2553462" y="951267"/>
                  </a:lnTo>
                  <a:lnTo>
                    <a:pt x="0" y="951267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553462" cy="9893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95177" y="5307795"/>
            <a:ext cx="8592823" cy="4979205"/>
            <a:chOff x="0" y="0"/>
            <a:chExt cx="2263130" cy="131139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263130" cy="1311396"/>
            </a:xfrm>
            <a:custGeom>
              <a:avLst/>
              <a:gdLst/>
              <a:ahLst/>
              <a:cxnLst/>
              <a:rect l="l" t="t" r="r" b="b"/>
              <a:pathLst>
                <a:path w="2263130" h="1311396">
                  <a:moveTo>
                    <a:pt x="0" y="0"/>
                  </a:moveTo>
                  <a:lnTo>
                    <a:pt x="2263130" y="0"/>
                  </a:lnTo>
                  <a:lnTo>
                    <a:pt x="2263130" y="1311396"/>
                  </a:lnTo>
                  <a:lnTo>
                    <a:pt x="0" y="1311396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263130" cy="13494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695177" y="1672088"/>
            <a:ext cx="8592823" cy="3635707"/>
            <a:chOff x="0" y="0"/>
            <a:chExt cx="2263130" cy="95755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263130" cy="957552"/>
            </a:xfrm>
            <a:custGeom>
              <a:avLst/>
              <a:gdLst/>
              <a:ahLst/>
              <a:cxnLst/>
              <a:rect l="l" t="t" r="r" b="b"/>
              <a:pathLst>
                <a:path w="2263130" h="957552">
                  <a:moveTo>
                    <a:pt x="0" y="0"/>
                  </a:moveTo>
                  <a:lnTo>
                    <a:pt x="2263130" y="0"/>
                  </a:lnTo>
                  <a:lnTo>
                    <a:pt x="2263130" y="957552"/>
                  </a:lnTo>
                  <a:lnTo>
                    <a:pt x="0" y="95755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263130" cy="9956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9847017" y="1824488"/>
            <a:ext cx="1227609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Operations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8640" y="6799316"/>
            <a:ext cx="394002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Focus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847017" y="5479245"/>
            <a:ext cx="394002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Discussion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9695177" y="598638"/>
            <a:ext cx="3776039" cy="434255"/>
            <a:chOff x="0" y="0"/>
            <a:chExt cx="994512" cy="11437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994512" cy="114372"/>
            </a:xfrm>
            <a:custGeom>
              <a:avLst/>
              <a:gdLst/>
              <a:ahLst/>
              <a:cxnLst/>
              <a:rect l="l" t="t" r="r" b="b"/>
              <a:pathLst>
                <a:path w="994512" h="114372">
                  <a:moveTo>
                    <a:pt x="0" y="0"/>
                  </a:moveTo>
                  <a:lnTo>
                    <a:pt x="994512" y="0"/>
                  </a:lnTo>
                  <a:lnTo>
                    <a:pt x="994512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994512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695177" y="0"/>
            <a:ext cx="8592823" cy="594627"/>
            <a:chOff x="0" y="0"/>
            <a:chExt cx="2263130" cy="15661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263130" cy="156610"/>
            </a:xfrm>
            <a:custGeom>
              <a:avLst/>
              <a:gdLst/>
              <a:ahLst/>
              <a:cxnLst/>
              <a:rect l="l" t="t" r="r" b="b"/>
              <a:pathLst>
                <a:path w="2263130" h="156610">
                  <a:moveTo>
                    <a:pt x="0" y="0"/>
                  </a:moveTo>
                  <a:lnTo>
                    <a:pt x="2263130" y="0"/>
                  </a:lnTo>
                  <a:lnTo>
                    <a:pt x="2263130" y="156610"/>
                  </a:lnTo>
                  <a:lnTo>
                    <a:pt x="0" y="156610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2263130" cy="1947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471215" y="598638"/>
            <a:ext cx="2661097" cy="434255"/>
            <a:chOff x="0" y="0"/>
            <a:chExt cx="700865" cy="11437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0865" cy="114372"/>
            </a:xfrm>
            <a:custGeom>
              <a:avLst/>
              <a:gdLst/>
              <a:ahLst/>
              <a:cxnLst/>
              <a:rect l="l" t="t" r="r" b="b"/>
              <a:pathLst>
                <a:path w="700865" h="114372">
                  <a:moveTo>
                    <a:pt x="0" y="0"/>
                  </a:moveTo>
                  <a:lnTo>
                    <a:pt x="700865" y="0"/>
                  </a:lnTo>
                  <a:lnTo>
                    <a:pt x="700865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700865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695177" y="1032893"/>
            <a:ext cx="8592823" cy="639196"/>
            <a:chOff x="0" y="0"/>
            <a:chExt cx="2263130" cy="16834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263130" cy="168348"/>
            </a:xfrm>
            <a:custGeom>
              <a:avLst/>
              <a:gdLst/>
              <a:ahLst/>
              <a:cxnLst/>
              <a:rect l="l" t="t" r="r" b="b"/>
              <a:pathLst>
                <a:path w="2263130" h="168348">
                  <a:moveTo>
                    <a:pt x="0" y="0"/>
                  </a:moveTo>
                  <a:lnTo>
                    <a:pt x="2263130" y="0"/>
                  </a:lnTo>
                  <a:lnTo>
                    <a:pt x="2263130" y="168348"/>
                  </a:lnTo>
                  <a:lnTo>
                    <a:pt x="0" y="168348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2263130" cy="2064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9780580" y="117926"/>
            <a:ext cx="543744" cy="297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Title: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780580" y="652888"/>
            <a:ext cx="825326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Author: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3556940" y="652888"/>
            <a:ext cx="583109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Date: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6132312" y="598638"/>
            <a:ext cx="2155688" cy="434255"/>
            <a:chOff x="0" y="0"/>
            <a:chExt cx="567753" cy="114372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567753" cy="114372"/>
            </a:xfrm>
            <a:custGeom>
              <a:avLst/>
              <a:gdLst/>
              <a:ahLst/>
              <a:cxnLst/>
              <a:rect l="l" t="t" r="r" b="b"/>
              <a:pathLst>
                <a:path w="567753" h="114372">
                  <a:moveTo>
                    <a:pt x="0" y="0"/>
                  </a:moveTo>
                  <a:lnTo>
                    <a:pt x="567753" y="0"/>
                  </a:lnTo>
                  <a:lnTo>
                    <a:pt x="567753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38100"/>
              <a:ext cx="567753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6218037" y="652888"/>
            <a:ext cx="698078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Sheet: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780580" y="1189613"/>
            <a:ext cx="53377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Task: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9695177" cy="6675157"/>
            <a:chOff x="0" y="0"/>
            <a:chExt cx="2553462" cy="175806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553462" cy="1758066"/>
            </a:xfrm>
            <a:custGeom>
              <a:avLst/>
              <a:gdLst/>
              <a:ahLst/>
              <a:cxnLst/>
              <a:rect l="l" t="t" r="r" b="b"/>
              <a:pathLst>
                <a:path w="2553462" h="1758066">
                  <a:moveTo>
                    <a:pt x="0" y="0"/>
                  </a:moveTo>
                  <a:lnTo>
                    <a:pt x="2553462" y="0"/>
                  </a:lnTo>
                  <a:lnTo>
                    <a:pt x="2553462" y="1758066"/>
                  </a:lnTo>
                  <a:lnTo>
                    <a:pt x="0" y="1758066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553462" cy="179616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88640" y="134436"/>
            <a:ext cx="756791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Layout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0" y="6675157"/>
            <a:ext cx="9695177" cy="3611843"/>
            <a:chOff x="0" y="0"/>
            <a:chExt cx="2553462" cy="95126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553462" cy="951267"/>
            </a:xfrm>
            <a:custGeom>
              <a:avLst/>
              <a:gdLst/>
              <a:ahLst/>
              <a:cxnLst/>
              <a:rect l="l" t="t" r="r" b="b"/>
              <a:pathLst>
                <a:path w="2553462" h="951267">
                  <a:moveTo>
                    <a:pt x="0" y="0"/>
                  </a:moveTo>
                  <a:lnTo>
                    <a:pt x="2553462" y="0"/>
                  </a:lnTo>
                  <a:lnTo>
                    <a:pt x="2553462" y="951267"/>
                  </a:lnTo>
                  <a:lnTo>
                    <a:pt x="0" y="951267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553462" cy="9893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95177" y="5989375"/>
            <a:ext cx="8592823" cy="4297625"/>
            <a:chOff x="0" y="0"/>
            <a:chExt cx="2263130" cy="113188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263130" cy="1131885"/>
            </a:xfrm>
            <a:custGeom>
              <a:avLst/>
              <a:gdLst/>
              <a:ahLst/>
              <a:cxnLst/>
              <a:rect l="l" t="t" r="r" b="b"/>
              <a:pathLst>
                <a:path w="2263130" h="1131885">
                  <a:moveTo>
                    <a:pt x="0" y="0"/>
                  </a:moveTo>
                  <a:lnTo>
                    <a:pt x="2263130" y="0"/>
                  </a:lnTo>
                  <a:lnTo>
                    <a:pt x="2263130" y="1131885"/>
                  </a:lnTo>
                  <a:lnTo>
                    <a:pt x="0" y="1131885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263130" cy="11699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695177" y="1672088"/>
            <a:ext cx="8592823" cy="4317287"/>
            <a:chOff x="0" y="0"/>
            <a:chExt cx="2263130" cy="1137063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263130" cy="1137063"/>
            </a:xfrm>
            <a:custGeom>
              <a:avLst/>
              <a:gdLst/>
              <a:ahLst/>
              <a:cxnLst/>
              <a:rect l="l" t="t" r="r" b="b"/>
              <a:pathLst>
                <a:path w="2263130" h="1137063">
                  <a:moveTo>
                    <a:pt x="0" y="0"/>
                  </a:moveTo>
                  <a:lnTo>
                    <a:pt x="2263130" y="0"/>
                  </a:lnTo>
                  <a:lnTo>
                    <a:pt x="2263130" y="1137063"/>
                  </a:lnTo>
                  <a:lnTo>
                    <a:pt x="0" y="1137063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2263130" cy="11751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9847017" y="1824488"/>
            <a:ext cx="1227609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Operations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8640" y="6799316"/>
            <a:ext cx="394002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Focus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847017" y="6098370"/>
            <a:ext cx="394002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Details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9695177" y="598638"/>
            <a:ext cx="3776039" cy="434255"/>
            <a:chOff x="0" y="0"/>
            <a:chExt cx="994512" cy="114372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994512" cy="114372"/>
            </a:xfrm>
            <a:custGeom>
              <a:avLst/>
              <a:gdLst/>
              <a:ahLst/>
              <a:cxnLst/>
              <a:rect l="l" t="t" r="r" b="b"/>
              <a:pathLst>
                <a:path w="994512" h="114372">
                  <a:moveTo>
                    <a:pt x="0" y="0"/>
                  </a:moveTo>
                  <a:lnTo>
                    <a:pt x="994512" y="0"/>
                  </a:lnTo>
                  <a:lnTo>
                    <a:pt x="994512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994512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9695177" y="0"/>
            <a:ext cx="8592823" cy="594627"/>
            <a:chOff x="0" y="0"/>
            <a:chExt cx="2263130" cy="15661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263130" cy="156610"/>
            </a:xfrm>
            <a:custGeom>
              <a:avLst/>
              <a:gdLst/>
              <a:ahLst/>
              <a:cxnLst/>
              <a:rect l="l" t="t" r="r" b="b"/>
              <a:pathLst>
                <a:path w="2263130" h="156610">
                  <a:moveTo>
                    <a:pt x="0" y="0"/>
                  </a:moveTo>
                  <a:lnTo>
                    <a:pt x="2263130" y="0"/>
                  </a:lnTo>
                  <a:lnTo>
                    <a:pt x="2263130" y="156610"/>
                  </a:lnTo>
                  <a:lnTo>
                    <a:pt x="0" y="156610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2263130" cy="19471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3471215" y="598638"/>
            <a:ext cx="2661097" cy="434255"/>
            <a:chOff x="0" y="0"/>
            <a:chExt cx="700865" cy="11437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00865" cy="114372"/>
            </a:xfrm>
            <a:custGeom>
              <a:avLst/>
              <a:gdLst/>
              <a:ahLst/>
              <a:cxnLst/>
              <a:rect l="l" t="t" r="r" b="b"/>
              <a:pathLst>
                <a:path w="700865" h="114372">
                  <a:moveTo>
                    <a:pt x="0" y="0"/>
                  </a:moveTo>
                  <a:lnTo>
                    <a:pt x="700865" y="0"/>
                  </a:lnTo>
                  <a:lnTo>
                    <a:pt x="700865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700865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9695177" y="1032893"/>
            <a:ext cx="8592823" cy="639196"/>
            <a:chOff x="0" y="0"/>
            <a:chExt cx="2263130" cy="16834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263130" cy="168348"/>
            </a:xfrm>
            <a:custGeom>
              <a:avLst/>
              <a:gdLst/>
              <a:ahLst/>
              <a:cxnLst/>
              <a:rect l="l" t="t" r="r" b="b"/>
              <a:pathLst>
                <a:path w="2263130" h="168348">
                  <a:moveTo>
                    <a:pt x="0" y="0"/>
                  </a:moveTo>
                  <a:lnTo>
                    <a:pt x="2263130" y="0"/>
                  </a:lnTo>
                  <a:lnTo>
                    <a:pt x="2263130" y="168348"/>
                  </a:lnTo>
                  <a:lnTo>
                    <a:pt x="0" y="168348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2263130" cy="2064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9780580" y="117926"/>
            <a:ext cx="543744" cy="297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Title: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780580" y="652888"/>
            <a:ext cx="825326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Author: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3556940" y="652888"/>
            <a:ext cx="583109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Date: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6132312" y="598638"/>
            <a:ext cx="2155688" cy="434255"/>
            <a:chOff x="0" y="0"/>
            <a:chExt cx="567753" cy="114372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567753" cy="114372"/>
            </a:xfrm>
            <a:custGeom>
              <a:avLst/>
              <a:gdLst/>
              <a:ahLst/>
              <a:cxnLst/>
              <a:rect l="l" t="t" r="r" b="b"/>
              <a:pathLst>
                <a:path w="567753" h="114372">
                  <a:moveTo>
                    <a:pt x="0" y="0"/>
                  </a:moveTo>
                  <a:lnTo>
                    <a:pt x="567753" y="0"/>
                  </a:lnTo>
                  <a:lnTo>
                    <a:pt x="567753" y="114372"/>
                  </a:lnTo>
                  <a:lnTo>
                    <a:pt x="0" y="114372"/>
                  </a:lnTo>
                  <a:close/>
                </a:path>
              </a:pathLst>
            </a:custGeom>
            <a:ln w="9525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endParaRPr lang="zh-HK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38100"/>
              <a:ext cx="567753" cy="1524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6218037" y="652888"/>
            <a:ext cx="698078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Sheet: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780580" y="1189613"/>
            <a:ext cx="533772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Task: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76892" y="219633"/>
            <a:ext cx="4392873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REFERENCES: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76892" y="6676645"/>
            <a:ext cx="4392873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DECLARATION: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1642</TotalTime>
  <Words>1765</Words>
  <Application>Microsoft Office PowerPoint</Application>
  <PresentationFormat>自訂</PresentationFormat>
  <Paragraphs>206</Paragraphs>
  <Slides>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2" baseType="lpstr">
      <vt:lpstr>Canva Sans Bold</vt:lpstr>
      <vt:lpstr>Arial</vt:lpstr>
      <vt:lpstr>Calibri</vt:lpstr>
      <vt:lpstr>Canva Sans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FIT5147 FDS Slide template</dc:title>
  <cp:lastModifiedBy>mingfung yu</cp:lastModifiedBy>
  <cp:revision>15</cp:revision>
  <dcterms:created xsi:type="dcterms:W3CDTF">2006-08-16T00:00:00Z</dcterms:created>
  <dcterms:modified xsi:type="dcterms:W3CDTF">2026-10-08T11:31:39Z</dcterms:modified>
  <dc:identifier>DAHVIjpNEn4</dc:identifier>
</cp:coreProperties>
</file>