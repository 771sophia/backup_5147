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Canva Sans" panose="02020500000000000000" charset="0"/>
      <p:regular r:id="rId9"/>
    </p:embeddedFont>
    <p:embeddedFont>
      <p:font typeface="Canva Sans Bold" panose="02020500000000000000" charset="0"/>
      <p:regular r:id="rId10"/>
    </p:embeddedFont>
    <p:embeddedFont>
      <p:font typeface="Elephant" panose="02020904090505020303" pitchFamily="18" charset="0"/>
      <p:regular r:id="rId11"/>
      <p:italic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07D"/>
    <a:srgbClr val="7260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-18" y="-2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3:23:21.725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0 266,'3'0,"143"-6,-126 3,0 0,-1-2,1 0,-1-1,23-11,24-13,97-62,-155 87,0 0,-1-1,0 1,0-2,-1 1,1-1,-2 0,1 0,8-14,-4-1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3:23:24.93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1,'22'0,"-1"1,0 1,1 1,-1 1,28 9,-39-10,0 1,0 0,0 1,0 0,-1 0,0 1,0 1,-1-1,0 2,0-1,0 1,-1 0,0 0,7 12,-6-6,0-1,-2 1,1 1,-2-1,0 1,-1 0,3 18,-6-29,0 1,0 0,-1-1,0 1,0 0,0 0,-1 0,0-1,0 1,0 0,0-1,-1 1,1-1,-1 0,-1 1,1-1,0 0,-1 0,0 0,0-1,0 1,0-1,-1 1,1-1,-1 0,-8 5,-2-2,-1 0,0 0,0-2,0 0,-1 0,0-2,-28 2,19-2,-44 10,51-3,28-2,34 1,250-4,-287-3,0-1,0 1,0 0,0 1,-1-1,1 1,0 1,-1-1,1 1,-1 0,0 1,0 0,0-1,0 2,-1-1,0 1,8 8,-8-6,0 1,0 0,-1 0,-1 0,1 0,-1 1,0 0,-1-1,0 1,-1 0,0 0,0 0,-1 11,0-14,1 13,-1 0,-1 0,-1 1,-8 34,10-51,-1 0,0 0,0 0,0 0,0 0,0 0,-1-1,1 1,-1 0,0-1,1 0,-1 1,-1-1,1 0,0 0,0 0,-1 0,1 0,-1-1,0 1,1-1,-1 1,0-1,0 0,0 0,0-1,0 1,0 0,0-1,0 0,0 0,0 0,0 0,0 0,0-1,0 1,0-1,0 0,-5-2,4 2,0-1,0 1,0-1,0 0,0-1,0 1,1-1,-1 0,1 0,0 0,0 0,0 0,0-1,-4-6,3 2,-1 0,1-1,1 1,0-1,0 0,-2-16,2 3,0-1,2 1,1-1,1 1,4-25,2 17,1-1,1 2,2-1,1 1,16-28,-24 47,12-22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3:23:47.03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1,'0'3,"0"-1,1 1,0 0,0-1,0 1,0 0,0-1,0 0,1 1,-1-1,1 0,-1 1,1-1,0 0,0 0,0 0,0-1,0 1,1-1,-1 1,0-1,1 1,5 1,1 1,2 0,-1-1,0 0,19 3,-11-4,0 0,-1 1,1 1,-1 1,0 0,0 1,-1 1,1 1,28 18,-5 3,-27-21,0 1,0 1,-1 0,-1 0,0 1,0 1,10 14,-13-13,1 0,1 0,0-1,15 13,-20-21,1 1,-1-1,1-1,0 1,1-1,-1 0,0-1,1 1,0-1,-1-1,1 1,8 0,16 1,1 0,0-2,0-2,0 0,0-3,0 0,-1-2,0-2,0 0,-1-2,42-20,-36 12,-3 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3:23:55.73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144 1448,'-1'-16,"0"1,-2 0,-7-27,-4-25,3-97,-3-33,-4 45,-10-59,17 88,10 89,-1 1,-14-62,13 84,0-1,0 1,1-1,1 0,0 0,1 0,0-14,1 22,0-1,1 1,-1-1,1 1,0 0,0-1,0 1,1 0,-1 0,1 1,0-1,0 0,0 1,0 0,1 0,0 0,-1 0,1 0,0 1,0 0,5-3,22-7,-1 1,2 1,-1 1,1 2,41-4,20-5,-28 7,1 3,-1 3,91 6,-28 0,-88-3,-14-1,0 1,47 7,-64-5,0 0,0 1,0 0,-1 0,1 1,-1 0,0 1,0 0,0 0,-1 1,12 10,-9-7,-1 1,-1 0,0 1,0 0,-1 0,-1 1,1 0,-2 0,0 0,0 0,-1 1,-1 0,0 0,2 25,-5-35,-1 1,0 0,1-1,-1 1,0-1,-1 1,1-1,-1 0,1 1,-1-1,0 0,0 0,-1 0,1 0,0-1,-1 1,0-1,0 1,0-1,-6 4,-5 2,-2 0,1-1,-21 7,20-8,-37 12,-2-2,0-2,0-3,-88 6,-228-11,294-7,70 1,0 0,0 0,0 1,0 0,0 0,1 1,-1 0,0 0,1 0,-1 1,1 0,0 0,-1 1,2 0,-9 6,7-3,1 0,1 0,-1 0,1 0,0 1,1 0,0 0,0 0,1 0,0 1,-4 15,3-4,0 0,1 0,1 0,1 40,1-53,0 0,1-1,0 1,1 0,-1 0,1-1,0 1,1-1,0 1,0-1,0 0,1 0,0-1,0 1,0-1,0 0,11 9,-10-10,0 1,0-1,0 1,-1 0,0 0,0 1,0-1,0 1,-1 0,0 0,4 11,-1 2,-1 1,4 30,-8-34,2-1,0 0,1 1,1-1,6 15,-8-25,0 0,1 1,-1-1,1-1,0 1,0 0,0-1,1 0,0 0,0 0,0-1,0 0,0 0,1 0,-1 0,1-1,7 2,-1 0,0-1,0 0,0-1,0-1,0 0,1 0,-1-1,0-1,1 0,-1 0,0-2,0 1,0-2,0 1,-1-2,1 1,-1-2,0 1,-1-2,1 1,-1-1,0-1,16-16,-8 6,-1-1,24-34,-19 23,-17 24,-6 9,-15 19,-27 32,-21 7,37-36,1 1,-28 35,46-50,1 0,0 1,0-1,1 2,1-1,0 1,1-1,0 1,-4 24,-19 154,26-189,1 1,-1 0,1-1,0 1,0 0,0 0,1-1,-1 1,1 0,-1-1,1 1,0 0,0-1,0 1,0-1,0 1,1-1,-1 0,1 0,0 1,0-1,-1 0,1-1,0 1,1 0,-1 0,0-1,0 1,1-1,-1 0,1 0,2 1,8 1,0 0,0-1,1 0,-1-1,21-1,27 3,-46 1,-1 0,1 1,-1 1,0 1,0 0,14 9,-16-8,0-1,1 0,-1-1,2 0,-1-1,1-1,23 5,28-5,85-5,-63-1,-80 3,0-1,0-1,1 1,-1-1,0 0,0 0,0-1,0 0,-1-1,1 1,0-1,-1 0,0-1,0 0,0 0,0 0,0 0,-1-1,0 0,0 0,0-1,-1 1,1-1,-2 0,1 0,0-1,-1 1,3-9,5-12,0-1,-2 0,-1 0,-1-1,-1 0,2-47,-8-183,-4 112,5 89,2 0,16-91,-12 114,-2-1,-1 0,-3 1,-2-49,1 81,0 1,0 0,0-1,-1 1,1 0,0 0,-1 0,0-1,1 1,-1 0,0 0,0 0,0 0,-1 0,1 0,0 0,-1 0,1 1,-1-1,-2-1,3 2,-1 1,1 0,-1-1,1 1,-1 0,1 0,-1 0,1 0,-1 0,1 0,-1 1,1-1,-1 0,1 1,-1-1,1 1,-1 0,1-1,0 1,-1 0,-1 2,-5 3,0 0,1 1,0 0,0 1,1-1,0 1,-8 15,1 2,1 0,1 2,2-1,1 1,1 0,1 1,1-1,2 1,-1 44,4-62,0 32,0-41,0 1,0 0,-1 0,1-1,0 1,-1 0,1-1,-1 1,1 0,-1-1,0 1,0 0,0-1,0 0,0 1,-2 2,2-4,1-1,-1 1,1 0,-1 0,1-1,-1 1,1 0,-1-1,1 1,-1 0,1-1,0 1,-1-1,1 1,0-1,-1 1,1-1,0 1,0-1,0 1,-1-1,1 1,0-1,0 1,0-1,0 1,0-1,0 1,0-2,-4-21,-5-75,5-1,9-103,-3 180,2 0,1 0,0 0,2 0,0 1,1 0,2 0,18-31,-15 28,-2 0,-3 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24.026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1,'3'0,"4"0,4 0,2 0,4 0,0 0,1 0,0 0,1 0,-4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25.495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0,'389'0,"-374"0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26.668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0,'0'3,"6"1,11 0,15-1,13 2,12 1,8-2,-1 0,-6-2,-9-1,-14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27.722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22,'3'0,"7"0,5 0,6 0,2 0,0 0,0 0,-2 0,-1 0,-1 0,-1 0,0 0,0-3,-1-1,-2-3,-5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34.630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1,'3'0,"13"0,13 0,16 0,13 0,5 0,-5 0,-9 0,-13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35.548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1,'3'0,"7"0,7 0,11 0,12 0,11 0,9 0,1 0,-8 0,-9 0,-13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36.806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1,'3'0,"4"0,4 0,6 0,6 0,8 0,8 0,3 0,4 0,-4 0,-2 0,-5 0,-6 0,-7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37.467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18,'0'-3,"3"-1,4 1,3 0,4 0,2 2,2 0,3 1,1 0,3 0,1 0,-2 1,-5-1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0:38.193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0,'3'0,"4"0,7 0,6 0,10 0,11 0,8 0,5 3,-2 1,-5 0,-12-1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33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0,'2'0,"2"0,1 0,3 0,0 0,1 0,1 0,0 0,-1 0,-1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34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0,'205'0,"-197"0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35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0,'0'2,"3"1,6-1,8 0,7 2,6-1,4 0,-1-1,-2 0,-5-1,-7-1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36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14,'2'0,"3"0,3 0,3 0,1 0,0 0,0 0,-1 0,0 0,-1 0,-1 0,1 0,-1-2,0 0,-1-3,-3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37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1,'2'0,"6"0,8 0,7 0,8 0,2 0,-2 0,-5 0,-8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38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1,'2'0,"3"0,4 0,6 0,6 0,6 0,5 0,0 0,-4 0,-5 0,-7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39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1,'2'0,"2"0,1 0,4 0,3 0,5 0,3 0,3 0,1 0,-2 0,-1 0,-3 0,-2 0,-5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40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12,'0'-2,"2"0,2-1,1 1,3 1,0 0,1 0,2 1,1 0,1 0,1 0,-2 0,-1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09:02:23.841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0,'2'0,"2"0,3 0,4 0,5 0,5 0,5 0,2 2,0 1,-4-1,-5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05.20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0 171,'2'0,"92"-4,-81 2,-1 0,1-1,-1 0,1-1,14-7,15-8,63-41,-100 57,0 0,0 0,-1-1,1 0,-1 0,0 0,0-1,-1 0,6-8,-2-2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05.202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0,'14'1,"0"-1,-1 2,1-1,0 2,17 5,-24-6,-1 1,1 0,-1 0,0 0,0 0,0 1,0 0,-1 1,0-1,0 1,0 0,0 0,-1 1,6 7,-5-5,-1 1,1 0,-1 0,-1 0,1 1,-2-1,3 13,-5-19,1 0,-1 0,0 0,0 0,0 0,0 0,0 0,-1 0,1 0,-1 0,0 0,0 0,0 0,0-1,-1 1,1 0,-1-1,1 1,-1-1,0 1,0-1,0 0,-1 1,1-1,0-1,-6 4,-1 0,-1-1,1-1,-1 0,0 0,0-1,0-1,-19 2,14-2,-30 7,33-2,19-2,21 1,161-2,-184-3,-1 1,1-1,-1 1,1 0,-1 0,0 0,1 1,-1-1,0 1,0 0,0 0,0 1,0-1,-1 1,1 0,-1 0,5 5,-4-3,-1 0,-1 0,1 0,0 1,-1-1,0 0,-1 1,1 0,-1-1,0 1,0 0,-1-1,0 8,1-9,-1 8,0 1,-1-1,0 0,-5 24,5-34,1 0,-1-1,1 1,-1 0,0 0,1 0,-1-1,0 1,0 0,-1-1,1 1,0-1,0 1,-1-1,1 1,-1-1,1 0,-1 0,0 0,1 0,-1 0,0 0,0 0,0-1,1 1,-1-1,0 1,0-1,0 0,0 0,0 1,0-1,0-1,0 1,0 0,0 0,0-1,0 1,-3-2,3 1,-1 0,0 0,1-1,-1 1,1 0,-1-1,1 0,0 0,0 1,0-1,0 0,0-1,0 1,-2-4,1 1,0-1,0 1,1-1,0 0,0 1,-1-11,1 2,1-1,0 1,1-1,0 0,3-14,2 9,0 1,1-1,1 1,0 1,12-19,-16 31,7-15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05.20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1,'1'1,"-1"1,0 0,1 0,-1-1,1 1,0 0,-1-1,1 1,0-1,0 1,0-1,0 1,0-1,1 0,-1 0,0 1,1-1,-1 0,0 0,1 0,0 0,-1 0,4 0,1 2,1 0,-1-1,1 0,12 2,-8-3,1 0,-1 1,0 1,0 0,0 0,0 1,0 1,-1-1,19 13,-3 2,-18-14,1 1,-1 0,-1 1,1-1,-1 2,0-1,6 10,-7-9,0 1,0-1,1 0,8 8,-11-14,-1 1,1 0,0-1,0 0,-1 0,2 0,-1 0,0-1,0 0,1 1,-1-2,5 2,12 0,-1 0,1-2,-1 0,1-1,-1-1,1-1,-1-1,0-1,0 0,-1-2,27-12,-22 8,-3 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05.20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  <inkml:brushProperty name="ignorePressure" value="1"/>
    </inkml:brush>
  </inkml:definitions>
  <inkml:trace contextRef="#ctx0" brushRef="#br0">93 931,'-1'-10,"0"0,0 0,-6-17,-2-16,2-63,-2-20,-3 28,-5-37,10 56,6 57,-1 1,-8-40,8 54,0-1,0 1,1-1,0 0,1 1,-1-1,2-9,-1 14,1 0,0 1,0-1,0 0,0 0,1 0,-1 1,1-1,-1 1,1-1,0 1,0 0,0-1,0 1,0 0,1 1,-1-1,1 0,-1 0,1 1,3-2,13-5,1 1,0 1,0 0,1 2,25-3,15-4,-20 5,1 2,0 2,58 5,-17-1,-57-3,-9 1,-1 0,31 4,-41-2,0-1,-1 1,1 0,0 0,-1 0,0 1,1 0,-1 0,0 1,0-1,7 8,-6-5,-1 0,1 1,-1-1,0 1,-1 1,1-1,-1 1,-1-1,1 1,-2 0,1 1,-1-1,0 0,1 16,-3-21,0-1,-1 0,1 1,-1-1,0 0,1 0,-1 1,0-1,0 0,-1 0,1 0,0 0,-1 0,1-1,-1 1,0 0,1-1,-1 1,0-1,-4 3,-3 2,-1-1,0-1,-13 5,13-5,-25 8,0-2,0-1,-1-2,-55 4,-148-7,190-5,44 1,1 0,-1 0,1 1,-1-1,1 1,-1 0,1 0,0 1,0-1,-1 1,1 0,0 0,0 0,1 1,-6 4,5-3,0 0,0 1,1-1,-1 1,1 0,0 0,1 0,-1 1,1-1,0 0,-2 11,1-3,1 0,0-1,0 1,2 26,0-35,0 1,1-1,-1 0,1 1,0-1,1 0,-1 0,1 1,-1-1,1 0,1-1,-1 1,0 0,1 0,0-1,0 0,6 6,-6-6,0 0,1 0,-1 0,-1 0,1 0,0 1,-1-1,0 1,1 0,-1 0,2 6,0 3,-1 0,3 19,-5-22,0 0,2 0,-1-1,1 1,4 9,-5-15,0-1,0 1,1-1,-1 0,1 0,-1 0,1 0,0-1,0 1,0-1,1 0,-1 0,0 0,1 0,-1 0,1-1,4 2,0-1,0 0,-1 0,1-1,0 0,0 0,0-1,0 0,0 0,0-1,0 0,-1 0,1-1,0 0,-1 0,1-1,-1 0,0-1,0 1,0-1,0 0,-1-1,1 0,9-10,-4 3,-1 0,15-22,-11 15,-12 15,-4 5,-9 13,-18 22,-13 3,24-23,0 0,-18 24,30-33,0 0,1 0,0 1,0 0,0 0,1 0,0 0,1 0,-3 16,-13 98,18-120,0 0,0 0,-1-1,1 1,0 0,1 0,-1-1,0 1,0 0,1 0,-1-1,1 1,-1-1,1 1,0 0,0-1,0 1,0-1,0 1,0-1,0 0,0 1,0-1,1 0,-1 0,1 0,-1 0,0 0,1 0,0 0,-1-1,3 2,4 0,0-1,1 1,-1-1,1 0,13-2,17 3,-29 1,-1 0,0 0,1 1,-1 0,-1 0,10 7,-10-6,0 0,0-1,0 0,1 0,-1-1,1 0,15 2,18-2,54-4,-40 0,-51 1,-1 1,1-2,0 1,-1 0,1-1,-1 0,1 0,-1-1,0 1,1-1,-1 0,0 0,0 0,0 0,0-1,0 0,-1 0,1 0,-1 0,0 0,0-1,0 1,0-1,-1 0,1 0,-1 0,0 0,2-5,3-9,0 0,-1 0,-1 0,-1-1,0 1,1-31,-5-118,-2 73,2 57,2-1,11-57,-9 72,-1 0,0 0,-2 0,-2-31,1 53,0-1,0 1,0-1,0 1,-1-1,1 1,0-1,-1 1,1 0,-1-1,1 1,-1 0,0-1,0 1,1 0,-1 0,0-1,0 1,0 0,-2-1,2 2,0 0,0-1,0 1,0 0,0 0,0 0,0 0,0 0,0 0,0 0,0 0,1 1,-1-1,0 0,0 1,0-1,0 0,0 1,0-1,0 1,-1 1,-3 2,0 0,0 0,1 1,0-1,-1 1,2 0,-7 10,2 1,1 1,0-1,1 1,0 1,2-1,0 1,1 0,1 0,0 27,2-38,-1 20,1-26,0 0,0 0,0 0,0 0,0 1,-1-1,1 0,0 0,-1 0,1 0,-1 0,1 0,-1 0,0 0,1 0,-2 1,1-2,1 0,0 0,-1 0,1-1,0 1,-1 0,1 0,0 0,-1-1,1 1,0 0,0 0,0-1,-1 1,1 0,0-1,0 1,0 0,-1-1,1 1,0 0,0-1,0 1,0 0,0-1,0 1,0 0,0-1,0 0,-3-14,-2-48,2 0,6-67,-1 116,0 0,1-1,1 1,0 0,1 1,0-1,1 1,12-20,-10 17,-1 0,-1 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0.998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1,'2'0,"2"0,2 0,2 0,1 0,1 0,0 0,1 0,-1 0,-1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0.999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0,'221'0,"-213"0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1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0,'0'2,"4"1,5 0,9-1,8 1,6 1,5-1,-1 0,-3-2,-5 0,-8-1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1.001"/>
    </inkml:context>
    <inkml:brush xml:id="br0">
      <inkml:brushProperty name="width" value="0.2" units="cm"/>
      <inkml:brushProperty name="height" value="0.4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15,'2'0,"4"0,2 0,4 0,1 0,0 0,0 0,-1 0,-1 0,0 0,-1 0,0 0,0-2,0 0,-2-3,-2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1.002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1,'1'0,"8"0,8 0,8 0,8 0,3 0,-3 0,-5 0,-8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1.003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1,'2'0,"4"0,4 0,5 0,8 0,6 0,5 0,0 0,-3 0,-7 0,-6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1.004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1,'1'0,"3"0,2 0,4 0,3 0,5 0,4 0,2 0,2 0,-2 0,-2 0,-2 0,-3 0,-5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1.005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13,'0'-2,"2"-1,2 0,2 1,2 1,1 0,1 0,2 1,1 0,1 0,0 0,0 0,-3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09T10:55:41.006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0,'2'0,"2"0,4 0,4 0,5 0,6 0,5 0,2 2,0 1,-4 0,-6-1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9T11:14:31.2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3 24575,'-61'0'0,"359"-2"0,371 5 0,-493 16 0,-114-10 0,73 1 0,2296-9 0,-1106-3 0,-784-17 0,-80 1 0,1433 14 0,-971 7 0,-298-3-1365,-593 0-5461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9T11:14:33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1 155 24575,'450'2'0,"488"-5"0,-183-65 0,-366 24 0,400 3 0,5 41 0,-319 3 0,3428-3-1365,-3871 0-5461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9T11:14:39.7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24575,'2676'159'-766,"-2512"-142"836,291 38 499,-43-5-452,-309-40-107,246 9-10,-118-9 0,511 35 0,-565-33 0,1-9 0,179-19 0,727-10 0,-728 29 0,-248-1 0,122-5 0,-113-15 0,-77 10 0,68-4 0,-55 8 0,70-15 0,-33 5 0,-5-4 0,-65 12 0,0 2 0,0 0 0,1 1 0,-1 1 0,0 1 0,38 2 0,-55 0 0,1 0 0,-1 0 0,0 0 0,1 1 0,-1-1 0,0 1 0,0 0 0,0 0 0,0 0 0,0 0 0,-1 1 0,1-1 0,-1 1 0,1-1 0,-1 1 0,0 0 0,0 0 0,0 0 0,0 0 0,-1 0 0,1 1 0,-1-1 0,0 0 0,2 7 0,1 9 0,0 0 0,-2 1 0,1 26 0,-2-29 0,1 146 0,-29 257 0,12-253 0,2-24 0,-14 265 0,5 81 0,6 236 0,18-483 0,17 33 0,1-22 0,2 174 0,-14-360 0,23 86 0,-24-120 0,3 43 0,3 19 0,50 117 0,-16-65 0,-38-105 0,-2-1 0,-2 1 0,-2 0 0,-4 67 0,4 53 0,15-70 0,-12-68 0,-1-1 0,2 29 0,2 13-1365,0-41-5461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9T11:14:50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24575,'585'8'0,"-6"40"0,94 36 0,-384-70 0,-17-1 0,259 34 0,-291-37 0,-59-5 0,93 27 0,-225-27 0,0 1 0,0 3 0,-1 1 0,-1 3 0,0 2 0,-1 2 0,62 32 0,21 16 0,155 106 0,-215-119 0,-3 4 0,-2 2 0,60 72 0,-114-120 0,0-1 0,0 0 0,1-1 0,0 0 0,0-1 0,0 0 0,1-1 0,0 0 0,1-1 0,-1 0 0,1-1 0,24 4 0,9-1 0,0-2 0,66-2 0,-60-3 0,55 8 0,-21 10 0,-1 3 0,-1 5 0,86 38 0,-68-25 0,127 31 0,-161-54 0,146 28 0,-197-40 0,0 1 0,0 1 0,-1 0 0,0 1 0,0 1 0,-1 0 0,0 1 0,24 20 0,-14-12 0,47 25 0,-7-15 0,1-2 0,2-4 0,89 17 0,211 18 0,-135-35 0,270-12 0,-493-9 0,1 0 0,0 1 0,-1 0 0,1 1 0,-1 0 0,0 0 0,1 1 0,-1 1 0,10 4 0,-14-5 0,-1 0 0,1 1 0,-1 0 0,0 0 0,1 0 0,-2 1 0,1 0 0,-1 0 0,1 0 0,-1 0 0,-1 1 0,1-1 0,-1 1 0,0 0 0,4 10 0,9 28 0,-5-11 0,1 0 0,3-1 0,25 44 0,-33-65 0,12 18 0,30 37 0,-41-57 0,1 1 0,0-2 0,1 1 0,0-1 0,1-1 0,-1 0 0,15 7 0,10 2 0,0-2 0,1-1 0,1-2 0,0-2 0,41 5 0,190 9 0,-174-18 0,38 11 0,22 2 0,153 4 0,-154-8 0,109 23 0,40 2 0,-38-22 0,274 7 0,1238-26 0,-948 3 0,-261-21 0,17 0 0,2188 22 0,-2758-2-341,-1 0 0,1 1-1,21 5 1,-9 2-6485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11" Type="http://schemas.openxmlformats.org/officeDocument/2006/relationships/image" Target="../media/image17.png"/><Relationship Id="rId5" Type="http://schemas.openxmlformats.org/officeDocument/2006/relationships/image" Target="../media/image3.png"/><Relationship Id="rId10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13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12" Type="http://schemas.openxmlformats.org/officeDocument/2006/relationships/customXml" Target="../ink/ink3.xml"/><Relationship Id="rId17" Type="http://schemas.openxmlformats.org/officeDocument/2006/relationships/image" Target="../media/image13.png"/><Relationship Id="rId2" Type="http://schemas.openxmlformats.org/officeDocument/2006/relationships/image" Target="../media/image18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customXml" Target="../ink/ink4.xml"/><Relationship Id="rId10" Type="http://schemas.openxmlformats.org/officeDocument/2006/relationships/customXml" Target="../ink/ink2.xml"/><Relationship Id="rId4" Type="http://schemas.openxmlformats.org/officeDocument/2006/relationships/image" Target="../media/image11.png"/><Relationship Id="rId9" Type="http://schemas.openxmlformats.org/officeDocument/2006/relationships/image" Target="../media/image21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7.png"/><Relationship Id="rId21" Type="http://schemas.openxmlformats.org/officeDocument/2006/relationships/customXml" Target="../ink/ink10.xml"/><Relationship Id="rId42" Type="http://schemas.openxmlformats.org/officeDocument/2006/relationships/customXml" Target="../ink/ink19.xml"/><Relationship Id="rId47" Type="http://schemas.openxmlformats.org/officeDocument/2006/relationships/image" Target="../media/image48.png"/><Relationship Id="rId63" Type="http://schemas.openxmlformats.org/officeDocument/2006/relationships/image" Target="../media/image25.png"/><Relationship Id="rId68" Type="http://schemas.openxmlformats.org/officeDocument/2006/relationships/customXml" Target="../ink/ink28.xml"/><Relationship Id="rId84" Type="http://schemas.openxmlformats.org/officeDocument/2006/relationships/image" Target="../media/image59.png"/><Relationship Id="rId89" Type="http://schemas.openxmlformats.org/officeDocument/2006/relationships/customXml" Target="../ink/ink39.xml"/><Relationship Id="rId16" Type="http://schemas.openxmlformats.org/officeDocument/2006/relationships/image" Target="../media/image32.png"/><Relationship Id="rId11" Type="http://schemas.openxmlformats.org/officeDocument/2006/relationships/customXml" Target="../ink/ink5.xml"/><Relationship Id="rId32" Type="http://schemas.openxmlformats.org/officeDocument/2006/relationships/customXml" Target="../ink/ink14.xml"/><Relationship Id="rId37" Type="http://schemas.openxmlformats.org/officeDocument/2006/relationships/image" Target="../media/image43.png"/><Relationship Id="rId53" Type="http://schemas.openxmlformats.org/officeDocument/2006/relationships/image" Target="../media/image20.png"/><Relationship Id="rId58" Type="http://schemas.openxmlformats.org/officeDocument/2006/relationships/image" Target="../media/image22.png"/><Relationship Id="rId74" Type="http://schemas.openxmlformats.org/officeDocument/2006/relationships/customXml" Target="../ink/ink31.xml"/><Relationship Id="rId79" Type="http://schemas.openxmlformats.org/officeDocument/2006/relationships/customXml" Target="../ink/ink34.xml"/><Relationship Id="rId5" Type="http://schemas.openxmlformats.org/officeDocument/2006/relationships/image" Target="../media/image11.png"/><Relationship Id="rId90" Type="http://schemas.openxmlformats.org/officeDocument/2006/relationships/image" Target="../media/image62.png"/><Relationship Id="rId14" Type="http://schemas.openxmlformats.org/officeDocument/2006/relationships/image" Target="../media/image31.png"/><Relationship Id="rId22" Type="http://schemas.openxmlformats.org/officeDocument/2006/relationships/image" Target="../media/image35.png"/><Relationship Id="rId27" Type="http://schemas.openxmlformats.org/officeDocument/2006/relationships/customXml" Target="../ink/ink13.xml"/><Relationship Id="rId30" Type="http://schemas.openxmlformats.org/officeDocument/2006/relationships/image" Target="../media/image40.png"/><Relationship Id="rId35" Type="http://schemas.openxmlformats.org/officeDocument/2006/relationships/image" Target="../media/image42.png"/><Relationship Id="rId43" Type="http://schemas.openxmlformats.org/officeDocument/2006/relationships/image" Target="../media/image46.png"/><Relationship Id="rId48" Type="http://schemas.openxmlformats.org/officeDocument/2006/relationships/customXml" Target="../ink/ink22.xml"/><Relationship Id="rId56" Type="http://schemas.openxmlformats.org/officeDocument/2006/relationships/image" Target="../media/image21.png"/><Relationship Id="rId64" Type="http://schemas.openxmlformats.org/officeDocument/2006/relationships/image" Target="../media/image50.png"/><Relationship Id="rId69" Type="http://schemas.openxmlformats.org/officeDocument/2006/relationships/image" Target="../media/image52.png"/><Relationship Id="rId77" Type="http://schemas.openxmlformats.org/officeDocument/2006/relationships/image" Target="../media/image56.png"/><Relationship Id="rId8" Type="http://schemas.openxmlformats.org/officeDocument/2006/relationships/image" Target="../media/image6.png"/><Relationship Id="rId51" Type="http://schemas.openxmlformats.org/officeDocument/2006/relationships/image" Target="../media/image3.png"/><Relationship Id="rId72" Type="http://schemas.openxmlformats.org/officeDocument/2006/relationships/customXml" Target="../ink/ink30.xml"/><Relationship Id="rId80" Type="http://schemas.openxmlformats.org/officeDocument/2006/relationships/image" Target="../media/image57.png"/><Relationship Id="rId85" Type="http://schemas.openxmlformats.org/officeDocument/2006/relationships/customXml" Target="../ink/ink37.xml"/><Relationship Id="rId3" Type="http://schemas.openxmlformats.org/officeDocument/2006/relationships/image" Target="../media/image27.png"/><Relationship Id="rId12" Type="http://schemas.openxmlformats.org/officeDocument/2006/relationships/image" Target="../media/image30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41.png"/><Relationship Id="rId38" Type="http://schemas.openxmlformats.org/officeDocument/2006/relationships/customXml" Target="../ink/ink17.xml"/><Relationship Id="rId46" Type="http://schemas.openxmlformats.org/officeDocument/2006/relationships/customXml" Target="../ink/ink21.xml"/><Relationship Id="rId59" Type="http://schemas.openxmlformats.org/officeDocument/2006/relationships/customXml" Target="../ink/ink25.xml"/><Relationship Id="rId67" Type="http://schemas.openxmlformats.org/officeDocument/2006/relationships/image" Target="../media/image51.png"/><Relationship Id="rId20" Type="http://schemas.openxmlformats.org/officeDocument/2006/relationships/image" Target="../media/image34.png"/><Relationship Id="rId41" Type="http://schemas.openxmlformats.org/officeDocument/2006/relationships/image" Target="../media/image45.png"/><Relationship Id="rId54" Type="http://schemas.microsoft.com/office/2007/relationships/hdphoto" Target="../media/hdphoto1.wdp"/><Relationship Id="rId62" Type="http://schemas.openxmlformats.org/officeDocument/2006/relationships/customXml" Target="../ink/ink26.xml"/><Relationship Id="rId70" Type="http://schemas.openxmlformats.org/officeDocument/2006/relationships/customXml" Target="../ink/ink29.xml"/><Relationship Id="rId75" Type="http://schemas.openxmlformats.org/officeDocument/2006/relationships/image" Target="../media/image55.png"/><Relationship Id="rId83" Type="http://schemas.openxmlformats.org/officeDocument/2006/relationships/customXml" Target="../ink/ink36.xml"/><Relationship Id="rId88" Type="http://schemas.openxmlformats.org/officeDocument/2006/relationships/image" Target="../media/image61.png"/><Relationship Id="rId91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38.png"/><Relationship Id="rId36" Type="http://schemas.openxmlformats.org/officeDocument/2006/relationships/customXml" Target="../ink/ink16.xml"/><Relationship Id="rId49" Type="http://schemas.openxmlformats.org/officeDocument/2006/relationships/image" Target="../media/image49.png"/><Relationship Id="rId57" Type="http://schemas.openxmlformats.org/officeDocument/2006/relationships/customXml" Target="../ink/ink24.xml"/><Relationship Id="rId10" Type="http://schemas.microsoft.com/office/2007/relationships/hdphoto" Target="../media/hdphoto2.wdp"/><Relationship Id="rId31" Type="http://schemas.microsoft.com/office/2007/relationships/hdphoto" Target="../media/hdphoto3.wdp"/><Relationship Id="rId44" Type="http://schemas.openxmlformats.org/officeDocument/2006/relationships/customXml" Target="../ink/ink20.xml"/><Relationship Id="rId52" Type="http://schemas.openxmlformats.org/officeDocument/2006/relationships/image" Target="../media/image18.png"/><Relationship Id="rId60" Type="http://schemas.openxmlformats.org/officeDocument/2006/relationships/image" Target="../media/image23.png"/><Relationship Id="rId65" Type="http://schemas.microsoft.com/office/2007/relationships/hdphoto" Target="../media/hdphoto4.wdp"/><Relationship Id="rId73" Type="http://schemas.openxmlformats.org/officeDocument/2006/relationships/image" Target="../media/image54.png"/><Relationship Id="rId78" Type="http://schemas.openxmlformats.org/officeDocument/2006/relationships/customXml" Target="../ink/ink33.xml"/><Relationship Id="rId81" Type="http://schemas.openxmlformats.org/officeDocument/2006/relationships/customXml" Target="../ink/ink35.xml"/><Relationship Id="rId86" Type="http://schemas.openxmlformats.org/officeDocument/2006/relationships/image" Target="../media/image60.png"/><Relationship Id="rId4" Type="http://schemas.openxmlformats.org/officeDocument/2006/relationships/image" Target="../media/image13.png"/><Relationship Id="rId9" Type="http://schemas.openxmlformats.org/officeDocument/2006/relationships/image" Target="../media/image29.png"/><Relationship Id="rId13" Type="http://schemas.openxmlformats.org/officeDocument/2006/relationships/customXml" Target="../ink/ink6.xml"/><Relationship Id="rId18" Type="http://schemas.openxmlformats.org/officeDocument/2006/relationships/image" Target="../media/image33.png"/><Relationship Id="rId39" Type="http://schemas.openxmlformats.org/officeDocument/2006/relationships/image" Target="../media/image44.png"/><Relationship Id="rId34" Type="http://schemas.openxmlformats.org/officeDocument/2006/relationships/customXml" Target="../ink/ink15.xml"/><Relationship Id="rId50" Type="http://schemas.openxmlformats.org/officeDocument/2006/relationships/image" Target="../media/image8.png"/><Relationship Id="rId55" Type="http://schemas.openxmlformats.org/officeDocument/2006/relationships/customXml" Target="../ink/ink23.xml"/><Relationship Id="rId76" Type="http://schemas.openxmlformats.org/officeDocument/2006/relationships/customXml" Target="../ink/ink32.xml"/><Relationship Id="rId7" Type="http://schemas.openxmlformats.org/officeDocument/2006/relationships/image" Target="../media/image19.png"/><Relationship Id="rId71" Type="http://schemas.openxmlformats.org/officeDocument/2006/relationships/image" Target="../media/image53.png"/><Relationship Id="rId2" Type="http://schemas.openxmlformats.org/officeDocument/2006/relationships/image" Target="../media/image26.png"/><Relationship Id="rId29" Type="http://schemas.openxmlformats.org/officeDocument/2006/relationships/image" Target="../media/image39.png"/><Relationship Id="rId24" Type="http://schemas.openxmlformats.org/officeDocument/2006/relationships/image" Target="../media/image36.png"/><Relationship Id="rId40" Type="http://schemas.openxmlformats.org/officeDocument/2006/relationships/customXml" Target="../ink/ink18.xml"/><Relationship Id="rId45" Type="http://schemas.openxmlformats.org/officeDocument/2006/relationships/image" Target="../media/image47.png"/><Relationship Id="rId66" Type="http://schemas.openxmlformats.org/officeDocument/2006/relationships/customXml" Target="../ink/ink27.xml"/><Relationship Id="rId87" Type="http://schemas.openxmlformats.org/officeDocument/2006/relationships/customXml" Target="../ink/ink38.xml"/><Relationship Id="rId61" Type="http://schemas.openxmlformats.org/officeDocument/2006/relationships/image" Target="../media/image24.png"/><Relationship Id="rId82" Type="http://schemas.openxmlformats.org/officeDocument/2006/relationships/image" Target="../media/image58.png"/><Relationship Id="rId19" Type="http://schemas.openxmlformats.org/officeDocument/2006/relationships/customXml" Target="../ink/ink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22850" y="3649502"/>
            <a:ext cx="6842300" cy="6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799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YOUR PROJECT TITLE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761375" y="87629"/>
            <a:ext cx="4392873" cy="9410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779"/>
              </a:lnSpc>
            </a:pPr>
            <a:r>
              <a:rPr lang="en-US" sz="2699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YOUR NAME</a:t>
            </a:r>
          </a:p>
          <a:p>
            <a:pPr algn="r">
              <a:lnSpc>
                <a:spcPts val="3779"/>
              </a:lnSpc>
              <a:spcBef>
                <a:spcPct val="0"/>
              </a:spcBef>
            </a:pPr>
            <a:endParaRPr lang="en-US" sz="2699" b="1">
              <a:solidFill>
                <a:srgbClr val="FF3131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831129" y="6429533"/>
            <a:ext cx="14126682" cy="9410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6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Purpose: </a:t>
            </a:r>
            <a:r>
              <a:rPr lang="en-US" sz="2699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XXX (Which insights from your DEP are  you communicating in your DVP?)</a:t>
            </a:r>
          </a:p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Audience: </a:t>
            </a:r>
            <a:r>
              <a:rPr lang="en-US" sz="2699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XXX (Who are you designing for?)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411249" y="8225594"/>
            <a:ext cx="11227817" cy="1656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YOU DO NOT HAVE TO USE THIS TEMPLATE </a:t>
            </a:r>
          </a:p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You can adjust the template as you wish based on the assignment criteria.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ALL SUBMITTED SLIDES ARE PRESENTED IN CLASS THEREFORE DO NOT ADD YOUR STUDENT ID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(REMOVE THIS TEXT)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endParaRPr lang="en-US" sz="18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51081" y="121919"/>
            <a:ext cx="8199929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  <a:spcBef>
                <a:spcPct val="0"/>
              </a:spcBef>
            </a:pPr>
            <a:r>
              <a:rPr lang="en-US" sz="26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FIT5147 Data Visualisation Project Part 1: Design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16147" y="1066472"/>
            <a:ext cx="5790204" cy="4077028"/>
            <a:chOff x="0" y="0"/>
            <a:chExt cx="5907113" cy="41593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07113" cy="4057747"/>
            </a:xfrm>
            <a:custGeom>
              <a:avLst/>
              <a:gdLst/>
              <a:ahLst/>
              <a:cxnLst/>
              <a:rect l="l" t="t" r="r" b="b"/>
              <a:pathLst>
                <a:path w="5907113" h="4057747">
                  <a:moveTo>
                    <a:pt x="0" y="0"/>
                  </a:moveTo>
                  <a:lnTo>
                    <a:pt x="5907113" y="0"/>
                  </a:lnTo>
                  <a:lnTo>
                    <a:pt x="5907113" y="4057747"/>
                  </a:lnTo>
                  <a:lnTo>
                    <a:pt x="0" y="4057747"/>
                  </a:lnTo>
                  <a:close/>
                </a:path>
              </a:pathLst>
            </a:custGeom>
            <a:solidFill>
              <a:srgbClr val="FDF9B4"/>
            </a:solidFill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5907113" cy="4159347"/>
            </a:xfrm>
            <a:custGeom>
              <a:avLst/>
              <a:gdLst/>
              <a:ahLst/>
              <a:cxnLst/>
              <a:rect l="l" t="t" r="r" b="b"/>
              <a:pathLst>
                <a:path w="5907113" h="4159347">
                  <a:moveTo>
                    <a:pt x="0" y="4057747"/>
                  </a:moveTo>
                  <a:lnTo>
                    <a:pt x="5907113" y="4057747"/>
                  </a:lnTo>
                  <a:lnTo>
                    <a:pt x="5780113" y="4159347"/>
                  </a:lnTo>
                  <a:cubicBezTo>
                    <a:pt x="5780113" y="4159347"/>
                    <a:pt x="4789513" y="4083147"/>
                    <a:pt x="4687913" y="4083147"/>
                  </a:cubicBezTo>
                  <a:lnTo>
                    <a:pt x="1219200" y="4083147"/>
                  </a:lnTo>
                  <a:cubicBezTo>
                    <a:pt x="1117600" y="4083147"/>
                    <a:pt x="127000" y="4159347"/>
                    <a:pt x="127000" y="4159347"/>
                  </a:cubicBezTo>
                  <a:lnTo>
                    <a:pt x="0" y="4057747"/>
                  </a:lnTo>
                  <a:lnTo>
                    <a:pt x="0" y="0"/>
                  </a:lnTo>
                  <a:lnTo>
                    <a:pt x="5907113" y="0"/>
                  </a:lnTo>
                  <a:lnTo>
                    <a:pt x="5907113" y="4057747"/>
                  </a:lnTo>
                  <a:lnTo>
                    <a:pt x="12700" y="4057747"/>
                  </a:lnTo>
                  <a:lnTo>
                    <a:pt x="12700" y="4045047"/>
                  </a:lnTo>
                  <a:lnTo>
                    <a:pt x="5894413" y="4045047"/>
                  </a:lnTo>
                  <a:lnTo>
                    <a:pt x="5894413" y="12700"/>
                  </a:lnTo>
                  <a:lnTo>
                    <a:pt x="12700" y="12700"/>
                  </a:lnTo>
                  <a:lnTo>
                    <a:pt x="12700" y="4057747"/>
                  </a:lnTo>
                </a:path>
              </a:pathLst>
            </a:custGeom>
            <a:solidFill>
              <a:srgbClr val="394C60">
                <a:alpha val="784"/>
              </a:srgbClr>
            </a:solidFill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907113" cy="3648171"/>
            </a:xfrm>
            <a:prstGeom prst="rect">
              <a:avLst/>
            </a:prstGeom>
          </p:spPr>
          <p:txBody>
            <a:bodyPr lIns="265571" tIns="265571" rIns="265571" bIns="265571" rtlCol="0" anchor="t"/>
            <a:lstStyle/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This is a </a:t>
              </a:r>
              <a:r>
                <a:rPr lang="en-US" sz="2483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read-only</a:t>
              </a: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template file.</a:t>
              </a:r>
            </a:p>
            <a:p>
              <a:pPr algn="l">
                <a:lnSpc>
                  <a:spcPts val="3476"/>
                </a:lnSpc>
              </a:pPr>
              <a:endParaRPr lang="en-US" sz="2483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endParaRPr>
            </a:p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To use the template goto:</a:t>
              </a:r>
            </a:p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File &gt; Make a Copy (to use in Canva)</a:t>
              </a:r>
            </a:p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OR </a:t>
              </a:r>
            </a:p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File &gt; Download to .pptx (to use Powerpoint) 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88640" y="134436"/>
            <a:ext cx="840060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1) Ideas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95177" y="5307795"/>
            <a:ext cx="4536739" cy="4979205"/>
            <a:chOff x="0" y="0"/>
            <a:chExt cx="1194861" cy="131139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94861" cy="1311396"/>
            </a:xfrm>
            <a:custGeom>
              <a:avLst/>
              <a:gdLst/>
              <a:ahLst/>
              <a:cxnLst/>
              <a:rect l="l" t="t" r="r" b="b"/>
              <a:pathLst>
                <a:path w="1194861" h="1311396">
                  <a:moveTo>
                    <a:pt x="0" y="0"/>
                  </a:moveTo>
                  <a:lnTo>
                    <a:pt x="1194861" y="0"/>
                  </a:lnTo>
                  <a:lnTo>
                    <a:pt x="1194861" y="1311396"/>
                  </a:lnTo>
                  <a:lnTo>
                    <a:pt x="0" y="131139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94861" cy="13494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95177" y="1672088"/>
            <a:ext cx="8592823" cy="3635707"/>
            <a:chOff x="0" y="0"/>
            <a:chExt cx="2263130" cy="9575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63130" cy="957552"/>
            </a:xfrm>
            <a:custGeom>
              <a:avLst/>
              <a:gdLst/>
              <a:ahLst/>
              <a:cxnLst/>
              <a:rect l="l" t="t" r="r" b="b"/>
              <a:pathLst>
                <a:path w="2263130" h="957552">
                  <a:moveTo>
                    <a:pt x="0" y="0"/>
                  </a:moveTo>
                  <a:lnTo>
                    <a:pt x="2263130" y="0"/>
                  </a:lnTo>
                  <a:lnTo>
                    <a:pt x="2263130" y="957552"/>
                  </a:lnTo>
                  <a:lnTo>
                    <a:pt x="0" y="95755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263130" cy="9956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231916" y="5307795"/>
            <a:ext cx="4056084" cy="4979205"/>
            <a:chOff x="0" y="0"/>
            <a:chExt cx="1068269" cy="131139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68269" cy="1311396"/>
            </a:xfrm>
            <a:custGeom>
              <a:avLst/>
              <a:gdLst/>
              <a:ahLst/>
              <a:cxnLst/>
              <a:rect l="l" t="t" r="r" b="b"/>
              <a:pathLst>
                <a:path w="1068269" h="1311396">
                  <a:moveTo>
                    <a:pt x="0" y="0"/>
                  </a:moveTo>
                  <a:lnTo>
                    <a:pt x="1068269" y="0"/>
                  </a:lnTo>
                  <a:lnTo>
                    <a:pt x="1068269" y="1311396"/>
                  </a:lnTo>
                  <a:lnTo>
                    <a:pt x="0" y="131139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068269" cy="13494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847017" y="1824488"/>
            <a:ext cx="887834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2) Filter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4) Combine &amp; Refine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47017" y="5479245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3) Categorise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47978" y="5479245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5) Questions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9780580" y="117926"/>
            <a:ext cx="82532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780579" y="652888"/>
            <a:ext cx="1029539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556940" y="652888"/>
            <a:ext cx="67497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6218036" y="652888"/>
            <a:ext cx="77456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780580" y="1189612"/>
            <a:ext cx="658820" cy="297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7D516F3-5536-8F2D-14E7-39100BD24CCD}"/>
              </a:ext>
            </a:extLst>
          </p:cNvPr>
          <p:cNvSpPr txBox="1"/>
          <p:nvPr/>
        </p:nvSpPr>
        <p:spPr>
          <a:xfrm>
            <a:off x="10058240" y="2380520"/>
            <a:ext cx="75311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zh-HK" altLang="zh-HK" b="1" dirty="0"/>
              <a:t>#10 Boxplot</a:t>
            </a:r>
            <a:r>
              <a:rPr lang="en-US" altLang="zh-HK" b="1" dirty="0"/>
              <a:t>: </a:t>
            </a:r>
          </a:p>
          <a:p>
            <a:pPr lvl="0"/>
            <a:r>
              <a:rPr lang="zh-HK" altLang="zh-HK" i="1" dirty="0"/>
              <a:t>Requires statistical explanation that may distract parents from the story.</a:t>
            </a:r>
            <a:endParaRPr lang="zh-HK" altLang="zh-HK" dirty="0"/>
          </a:p>
          <a:p>
            <a:pPr lvl="0"/>
            <a:r>
              <a:rPr lang="zh-HK" altLang="zh-HK" b="1" dirty="0"/>
              <a:t>#11 Bar Chart</a:t>
            </a:r>
            <a:r>
              <a:rPr lang="en-US" altLang="zh-HK" b="1" dirty="0"/>
              <a:t>: </a:t>
            </a:r>
          </a:p>
          <a:p>
            <a:pPr lvl="0"/>
            <a:r>
              <a:rPr lang="zh-HK" altLang="zh-HK" i="1" dirty="0"/>
              <a:t>Small differences across the </a:t>
            </a:r>
            <a:r>
              <a:rPr lang="en-US" altLang="zh-HK" i="1" dirty="0"/>
              <a:t>3</a:t>
            </a:r>
            <a:r>
              <a:rPr lang="zh-HK" altLang="zh-HK" i="1" dirty="0"/>
              <a:t> years do not show a clear message in this design.</a:t>
            </a:r>
            <a:endParaRPr lang="zh-HK" altLang="zh-HK" dirty="0"/>
          </a:p>
          <a:p>
            <a:pPr lvl="0"/>
            <a:endParaRPr lang="zh-HK" altLang="zh-HK" dirty="0"/>
          </a:p>
        </p:txBody>
      </p:sp>
      <p:pic>
        <p:nvPicPr>
          <p:cNvPr id="53" name="圖片 52">
            <a:extLst>
              <a:ext uri="{FF2B5EF4-FFF2-40B4-BE49-F238E27FC236}">
                <a16:creationId xmlns:a16="http://schemas.microsoft.com/office/drawing/2014/main" id="{D297D2D4-F000-67DC-E295-74D34BD79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36" y="136138"/>
            <a:ext cx="9216811" cy="5640287"/>
          </a:xfrm>
          <a:prstGeom prst="rect">
            <a:avLst/>
          </a:prstGeom>
        </p:spPr>
      </p:pic>
      <p:sp>
        <p:nvSpPr>
          <p:cNvPr id="54" name="文字方塊 53">
            <a:extLst>
              <a:ext uri="{FF2B5EF4-FFF2-40B4-BE49-F238E27FC236}">
                <a16:creationId xmlns:a16="http://schemas.microsoft.com/office/drawing/2014/main" id="{11D2D5E2-A124-3BED-C838-04E302F6AE91}"/>
              </a:ext>
            </a:extLst>
          </p:cNvPr>
          <p:cNvSpPr txBox="1"/>
          <p:nvPr/>
        </p:nvSpPr>
        <p:spPr>
          <a:xfrm>
            <a:off x="9982200" y="6134100"/>
            <a:ext cx="384163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Differences and relationships:</a:t>
            </a:r>
            <a:br>
              <a:rPr lang="zh-HK" altLang="zh-HK" dirty="0"/>
            </a:br>
            <a:r>
              <a:rPr lang="zh-HK" altLang="zh-HK" dirty="0"/>
              <a:t>#1 Scatter Dot Plot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Change and patterns:</a:t>
            </a:r>
            <a:br>
              <a:rPr lang="zh-HK" altLang="zh-HK" dirty="0"/>
            </a:br>
            <a:r>
              <a:rPr lang="zh-HK" altLang="zh-HK" dirty="0"/>
              <a:t>#2 Line Chart, #9 Heatmap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Location and regional context:</a:t>
            </a:r>
            <a:br>
              <a:rPr lang="zh-HK" altLang="zh-HK" dirty="0"/>
            </a:br>
            <a:r>
              <a:rPr lang="zh-HK" altLang="zh-HK" dirty="0"/>
              <a:t>#5 Symbol Map, #6 Choropleth Map</a:t>
            </a:r>
            <a:br>
              <a:rPr lang="en-US" altLang="zh-HK" dirty="0"/>
            </a:br>
            <a:r>
              <a:rPr lang="en-US" altLang="zh-HK" dirty="0"/>
              <a:t>#13 </a:t>
            </a:r>
            <a:r>
              <a:rPr lang="zh-HK" altLang="zh-HK" dirty="0"/>
              <a:t>Dot distribution map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Groups and proportions:</a:t>
            </a:r>
            <a:br>
              <a:rPr lang="zh-HK" altLang="zh-HK" dirty="0"/>
            </a:br>
            <a:r>
              <a:rPr lang="zh-HK" altLang="zh-HK" dirty="0"/>
              <a:t>#3 Donut Chart, #4 Radial Bar Chart, #7 School Profile Groups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Connections and stages:</a:t>
            </a:r>
            <a:br>
              <a:rPr lang="zh-HK" altLang="zh-HK" dirty="0"/>
            </a:br>
            <a:r>
              <a:rPr lang="zh-HK" altLang="zh-HK" dirty="0"/>
              <a:t>#8 Sankey Diagram, #12 Funnel 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HK" altLang="en-US" dirty="0"/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7D9B7FF-7271-8670-154D-0AF614B2B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382" y="6638114"/>
            <a:ext cx="1617872" cy="1258345"/>
          </a:xfrm>
          <a:prstGeom prst="rect">
            <a:avLst/>
          </a:prstGeom>
        </p:spPr>
      </p:pic>
      <p:pic>
        <p:nvPicPr>
          <p:cNvPr id="58" name="圖片 57">
            <a:extLst>
              <a:ext uri="{FF2B5EF4-FFF2-40B4-BE49-F238E27FC236}">
                <a16:creationId xmlns:a16="http://schemas.microsoft.com/office/drawing/2014/main" id="{FAD6F6AC-F7A4-436D-D28E-84A7D74B96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45" y="7143787"/>
            <a:ext cx="2413123" cy="1320071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3C7C670-9024-B554-A358-90BFBC9A1E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7005" y="6720039"/>
            <a:ext cx="2800741" cy="2010056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6E396A39-28C5-73DC-5A85-5C6DB1B8BB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037" y="8907449"/>
            <a:ext cx="1551764" cy="1387052"/>
          </a:xfrm>
          <a:prstGeom prst="rect">
            <a:avLst/>
          </a:prstGeom>
        </p:spPr>
      </p:pic>
      <p:sp>
        <p:nvSpPr>
          <p:cNvPr id="66" name="文字方塊 65">
            <a:extLst>
              <a:ext uri="{FF2B5EF4-FFF2-40B4-BE49-F238E27FC236}">
                <a16:creationId xmlns:a16="http://schemas.microsoft.com/office/drawing/2014/main" id="{B3EFAC6F-33B9-4143-4568-C0795AC3A9F2}"/>
              </a:ext>
            </a:extLst>
          </p:cNvPr>
          <p:cNvSpPr txBox="1"/>
          <p:nvPr/>
        </p:nvSpPr>
        <p:spPr>
          <a:xfrm>
            <a:off x="128614" y="8095952"/>
            <a:ext cx="268932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HK" altLang="zh-HK" sz="1200" dirty="0"/>
            </a:br>
            <a:r>
              <a:rPr lang="zh-HK" altLang="zh-HK" sz="1200" dirty="0"/>
              <a:t>Select a school in the scatter plot to reveal its three-year trend. Explain its current results alongside recent changes.</a:t>
            </a: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D5CF0B3-168D-84F2-153E-2AE590658709}"/>
              </a:ext>
            </a:extLst>
          </p:cNvPr>
          <p:cNvSpPr txBox="1"/>
          <p:nvPr/>
        </p:nvSpPr>
        <p:spPr>
          <a:xfrm>
            <a:off x="4726022" y="7527376"/>
            <a:ext cx="898441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HK" altLang="zh-HK" sz="1050" dirty="0"/>
            </a:br>
            <a:r>
              <a:rPr lang="zh-HK" altLang="zh-HK" sz="1050" dirty="0"/>
              <a:t>reveal its three-year trend and a short explanation.</a:t>
            </a:r>
          </a:p>
        </p:txBody>
      </p:sp>
      <p:pic>
        <p:nvPicPr>
          <p:cNvPr id="72" name="圖片 71">
            <a:extLst>
              <a:ext uri="{FF2B5EF4-FFF2-40B4-BE49-F238E27FC236}">
                <a16:creationId xmlns:a16="http://schemas.microsoft.com/office/drawing/2014/main" id="{D6F9144C-BAE1-50FA-FEBE-A4C991E86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801" y="8693402"/>
            <a:ext cx="2058780" cy="1600380"/>
          </a:xfrm>
          <a:prstGeom prst="rect">
            <a:avLst/>
          </a:prstGeom>
        </p:spPr>
      </p:pic>
      <p:sp>
        <p:nvSpPr>
          <p:cNvPr id="74" name="文字方塊 73">
            <a:extLst>
              <a:ext uri="{FF2B5EF4-FFF2-40B4-BE49-F238E27FC236}">
                <a16:creationId xmlns:a16="http://schemas.microsoft.com/office/drawing/2014/main" id="{F05556FF-B9FF-CC6D-9936-9258A95ECA25}"/>
              </a:ext>
            </a:extLst>
          </p:cNvPr>
          <p:cNvSpPr txBox="1"/>
          <p:nvPr/>
        </p:nvSpPr>
        <p:spPr>
          <a:xfrm>
            <a:off x="5879678" y="8973295"/>
            <a:ext cx="371480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zh-HK" altLang="zh-HK" sz="1400" dirty="0"/>
            </a:br>
            <a:r>
              <a:rPr lang="zh-HK" altLang="zh-HK" sz="1400" dirty="0"/>
              <a:t>Move the slider to highlight school zones </a:t>
            </a:r>
            <a:r>
              <a:rPr lang="en-US" altLang="zh-HK" sz="1400" dirty="0"/>
              <a:t>within </a:t>
            </a:r>
            <a:r>
              <a:rPr lang="zh-HK" altLang="zh-HK" sz="1400" dirty="0"/>
              <a:t>a results range. </a:t>
            </a:r>
            <a:r>
              <a:rPr lang="en-US" altLang="zh-HK" sz="1400" dirty="0"/>
              <a:t>Click</a:t>
            </a:r>
            <a:r>
              <a:rPr lang="zh-HK" altLang="zh-HK" sz="1400" dirty="0"/>
              <a:t> a zone to open a white card explaining its associated school</a:t>
            </a:r>
            <a:r>
              <a:rPr lang="en-US" altLang="zh-HK" sz="1400" dirty="0"/>
              <a:t>’s details(</a:t>
            </a:r>
            <a:r>
              <a:rPr lang="zh-HK" altLang="zh-HK" sz="1400" dirty="0"/>
              <a:t> ICSEA</a:t>
            </a:r>
            <a:r>
              <a:rPr lang="en-US" altLang="zh-HK" sz="1400" dirty="0"/>
              <a:t>, VCE </a:t>
            </a:r>
            <a:r>
              <a:rPr lang="en-US" altLang="zh-HK" sz="1400" dirty="0" err="1"/>
              <a:t>score,etc</a:t>
            </a:r>
            <a:r>
              <a:rPr lang="en-US" altLang="zh-HK" sz="1400" dirty="0"/>
              <a:t>)</a:t>
            </a:r>
            <a:r>
              <a:rPr lang="zh-HK" altLang="zh-HK" sz="1400" dirty="0"/>
              <a:t> Include a close button</a:t>
            </a:r>
            <a:endParaRPr lang="zh-HK" altLang="en-US" sz="14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46283F55-433E-ADA7-C22D-6B69ADA17F7C}"/>
              </a:ext>
            </a:extLst>
          </p:cNvPr>
          <p:cNvSpPr txBox="1"/>
          <p:nvPr/>
        </p:nvSpPr>
        <p:spPr>
          <a:xfrm>
            <a:off x="1711659" y="8883076"/>
            <a:ext cx="246701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HK" altLang="zh-HK" sz="1400" dirty="0"/>
            </a:br>
            <a:r>
              <a:rPr lang="zh-HK" altLang="zh-HK" sz="1400" dirty="0"/>
              <a:t>Place school symbols over shaded regions. Show regional context and individual school locations together.</a:t>
            </a:r>
          </a:p>
        </p:txBody>
      </p:sp>
      <p:pic>
        <p:nvPicPr>
          <p:cNvPr id="78" name="圖片 77">
            <a:extLst>
              <a:ext uri="{FF2B5EF4-FFF2-40B4-BE49-F238E27FC236}">
                <a16:creationId xmlns:a16="http://schemas.microsoft.com/office/drawing/2014/main" id="{FD0EB374-A3AB-6644-78AD-9F0663C5FC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02"/>
          <a:stretch>
            <a:fillRect/>
          </a:stretch>
        </p:blipFill>
        <p:spPr>
          <a:xfrm>
            <a:off x="5850379" y="6750350"/>
            <a:ext cx="1853002" cy="1357755"/>
          </a:xfrm>
          <a:prstGeom prst="rect">
            <a:avLst/>
          </a:prstGeom>
        </p:spPr>
      </p:pic>
      <p:sp>
        <p:nvSpPr>
          <p:cNvPr id="80" name="文字方塊 79">
            <a:extLst>
              <a:ext uri="{FF2B5EF4-FFF2-40B4-BE49-F238E27FC236}">
                <a16:creationId xmlns:a16="http://schemas.microsoft.com/office/drawing/2014/main" id="{D1740EFD-3BCC-3110-2785-840FBB4C0670}"/>
              </a:ext>
            </a:extLst>
          </p:cNvPr>
          <p:cNvSpPr txBox="1"/>
          <p:nvPr/>
        </p:nvSpPr>
        <p:spPr>
          <a:xfrm>
            <a:off x="5825911" y="7894192"/>
            <a:ext cx="18530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HK" altLang="zh-HK" sz="1200" dirty="0"/>
            </a:br>
            <a:r>
              <a:rPr lang="zh-HK" altLang="zh-HK" sz="1200" u="sng" dirty="0"/>
              <a:t>Select a profile circle. </a:t>
            </a:r>
            <a:endParaRPr lang="en-US" altLang="zh-HK" sz="1200" u="sng" dirty="0"/>
          </a:p>
          <a:p>
            <a:pPr>
              <a:buNone/>
            </a:pPr>
            <a:r>
              <a:rPr lang="en-US" altLang="zh-HK" sz="1200" u="sng" dirty="0"/>
              <a:t>-</a:t>
            </a:r>
            <a:r>
              <a:rPr lang="zh-HK" altLang="zh-HK" sz="1200" dirty="0"/>
              <a:t>Animate its school dots onto their map locations.</a:t>
            </a:r>
            <a:endParaRPr lang="en-US" altLang="zh-HK" sz="1200" dirty="0"/>
          </a:p>
        </p:txBody>
      </p:sp>
      <p:cxnSp>
        <p:nvCxnSpPr>
          <p:cNvPr id="82" name="直線接點 81">
            <a:extLst>
              <a:ext uri="{FF2B5EF4-FFF2-40B4-BE49-F238E27FC236}">
                <a16:creationId xmlns:a16="http://schemas.microsoft.com/office/drawing/2014/main" id="{60924C04-0755-64ED-AAB4-746A42E3AF30}"/>
              </a:ext>
            </a:extLst>
          </p:cNvPr>
          <p:cNvCxnSpPr>
            <a:cxnSpLocks/>
          </p:cNvCxnSpPr>
          <p:nvPr/>
        </p:nvCxnSpPr>
        <p:spPr>
          <a:xfrm>
            <a:off x="128614" y="8973295"/>
            <a:ext cx="3605186" cy="19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接點 83">
            <a:extLst>
              <a:ext uri="{FF2B5EF4-FFF2-40B4-BE49-F238E27FC236}">
                <a16:creationId xmlns:a16="http://schemas.microsoft.com/office/drawing/2014/main" id="{343AFD1B-D184-EC8D-AFDE-6CED978B6675}"/>
              </a:ext>
            </a:extLst>
          </p:cNvPr>
          <p:cNvCxnSpPr>
            <a:cxnSpLocks/>
          </p:cNvCxnSpPr>
          <p:nvPr/>
        </p:nvCxnSpPr>
        <p:spPr>
          <a:xfrm>
            <a:off x="2868348" y="8669641"/>
            <a:ext cx="4599252" cy="237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接點 85">
            <a:extLst>
              <a:ext uri="{FF2B5EF4-FFF2-40B4-BE49-F238E27FC236}">
                <a16:creationId xmlns:a16="http://schemas.microsoft.com/office/drawing/2014/main" id="{D775E7F0-C43C-4DA7-EC2C-7D41C08D21A8}"/>
              </a:ext>
            </a:extLst>
          </p:cNvPr>
          <p:cNvCxnSpPr>
            <a:cxnSpLocks/>
          </p:cNvCxnSpPr>
          <p:nvPr/>
        </p:nvCxnSpPr>
        <p:spPr>
          <a:xfrm>
            <a:off x="2778863" y="6736891"/>
            <a:ext cx="8142" cy="1956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接點 89">
            <a:extLst>
              <a:ext uri="{FF2B5EF4-FFF2-40B4-BE49-F238E27FC236}">
                <a16:creationId xmlns:a16="http://schemas.microsoft.com/office/drawing/2014/main" id="{B60AAA54-3A22-5C15-6EFA-94ADB2A66A55}"/>
              </a:ext>
            </a:extLst>
          </p:cNvPr>
          <p:cNvCxnSpPr>
            <a:cxnSpLocks/>
          </p:cNvCxnSpPr>
          <p:nvPr/>
        </p:nvCxnSpPr>
        <p:spPr>
          <a:xfrm>
            <a:off x="5770842" y="6706024"/>
            <a:ext cx="8142" cy="1956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DC69ADAD-AA78-C526-649D-BAF80FDBE585}"/>
              </a:ext>
            </a:extLst>
          </p:cNvPr>
          <p:cNvSpPr txBox="1"/>
          <p:nvPr/>
        </p:nvSpPr>
        <p:spPr>
          <a:xfrm>
            <a:off x="14266513" y="5983644"/>
            <a:ext cx="387025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dirty="0"/>
              <a:t>Can parents understand what each profile means?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dirty="0"/>
              <a:t>Could they mistake the profiles for a ranking of good and bad schools?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dirty="0"/>
              <a:t>Does the animation help parents connect profiles to locations?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dirty="0"/>
              <a:t>Is the information card short and easy to understand?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86C97D90-5BC9-AD77-D54E-621EEA6D0FF3}"/>
              </a:ext>
            </a:extLst>
          </p:cNvPr>
          <p:cNvSpPr txBox="1"/>
          <p:nvPr/>
        </p:nvSpPr>
        <p:spPr>
          <a:xfrm>
            <a:off x="10809232" y="612554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Sin Ping CHAN</a:t>
            </a:r>
            <a:endParaRPr lang="zh-HK" altLang="en-US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5B04503-32EE-F56E-B69C-8831C13C544B}"/>
              </a:ext>
            </a:extLst>
          </p:cNvPr>
          <p:cNvSpPr txBox="1"/>
          <p:nvPr/>
        </p:nvSpPr>
        <p:spPr>
          <a:xfrm>
            <a:off x="14192148" y="6236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06/10/2026</a:t>
            </a:r>
            <a:endParaRPr lang="zh-HK" altLang="en-US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D5C270A1-D9C5-889B-2B11-5F02BD86120A}"/>
              </a:ext>
            </a:extLst>
          </p:cNvPr>
          <p:cNvSpPr txBox="1"/>
          <p:nvPr/>
        </p:nvSpPr>
        <p:spPr>
          <a:xfrm>
            <a:off x="17330721" y="6041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1</a:t>
            </a:r>
            <a:endParaRPr lang="zh-HK" altLang="en-US" dirty="0"/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AA21E38C-F64E-AECB-6556-EC281AB1B482}"/>
              </a:ext>
            </a:extLst>
          </p:cNvPr>
          <p:cNvSpPr txBox="1"/>
          <p:nvPr/>
        </p:nvSpPr>
        <p:spPr>
          <a:xfrm>
            <a:off x="7640726" y="7884349"/>
            <a:ext cx="1903219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050" dirty="0"/>
              <a:t>Show </a:t>
            </a:r>
            <a:r>
              <a:rPr lang="en-US" altLang="zh-HK" sz="1050" dirty="0"/>
              <a:t>4</a:t>
            </a:r>
            <a:r>
              <a:rPr lang="zh-HK" altLang="zh-HK" sz="1050" dirty="0"/>
              <a:t> profile circles with clear labels</a:t>
            </a:r>
            <a:r>
              <a:rPr lang="en-US" altLang="zh-HK" sz="1050" dirty="0"/>
              <a:t>. </a:t>
            </a:r>
            <a:r>
              <a:rPr lang="zh-HK" altLang="zh-HK" sz="1050" dirty="0"/>
              <a:t>Select a circle to reveal the three-year trend of an example school and a short explanation. Use colour to identify profiles</a:t>
            </a:r>
            <a:endParaRPr lang="zh-HK" altLang="en-US" sz="1050" dirty="0"/>
          </a:p>
        </p:txBody>
      </p:sp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87F54385-647F-A525-8FFC-54FD209A1D46}"/>
              </a:ext>
            </a:extLst>
          </p:cNvPr>
          <p:cNvCxnSpPr>
            <a:cxnSpLocks/>
          </p:cNvCxnSpPr>
          <p:nvPr/>
        </p:nvCxnSpPr>
        <p:spPr>
          <a:xfrm>
            <a:off x="7644363" y="6694612"/>
            <a:ext cx="8142" cy="1956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7A8BD0C8-2690-43FC-0637-4E42888BC351}"/>
              </a:ext>
            </a:extLst>
          </p:cNvPr>
          <p:cNvSpPr txBox="1"/>
          <p:nvPr/>
        </p:nvSpPr>
        <p:spPr>
          <a:xfrm>
            <a:off x="10401300" y="997682"/>
            <a:ext cx="91503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/>
              <a:t>Explore</a:t>
            </a:r>
            <a:r>
              <a:rPr lang="en-US" altLang="zh-HK" sz="1400" dirty="0"/>
              <a:t> </a:t>
            </a:r>
            <a:r>
              <a:rPr lang="zh-HK" altLang="zh-HK" sz="1400" dirty="0"/>
              <a:t>visualisation ideas to develop an interactive story for parents considering a move for</a:t>
            </a:r>
            <a:endParaRPr lang="en-US" altLang="zh-HK" sz="1400" dirty="0"/>
          </a:p>
          <a:p>
            <a:r>
              <a:rPr lang="zh-HK" altLang="zh-HK" sz="1400" dirty="0"/>
              <a:t> a secondary school zone. Help them understand school results alongside student backgrounds,</a:t>
            </a:r>
            <a:endParaRPr lang="en-US" altLang="zh-HK" sz="1400" dirty="0"/>
          </a:p>
          <a:p>
            <a:r>
              <a:rPr lang="zh-HK" altLang="zh-HK" sz="1400" dirty="0"/>
              <a:t>three-year trends and locations.</a:t>
            </a:r>
            <a:endParaRPr lang="zh-HK" altLang="en-US" sz="14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BE13F20D-B834-9EFE-83A8-1777CD13B687}"/>
              </a:ext>
            </a:extLst>
          </p:cNvPr>
          <p:cNvSpPr txBox="1"/>
          <p:nvPr/>
        </p:nvSpPr>
        <p:spPr>
          <a:xfrm>
            <a:off x="10439400" y="106978"/>
            <a:ext cx="977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Choosing a Secondary School Zone: Results, Student Backgrounds and Trends</a:t>
            </a:r>
            <a:endParaRPr lang="zh-HK" altLang="en-US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4864DC8D-0D29-7C78-9FFD-88B7322BAEAD}"/>
              </a:ext>
            </a:extLst>
          </p:cNvPr>
          <p:cNvSpPr txBox="1"/>
          <p:nvPr/>
        </p:nvSpPr>
        <p:spPr>
          <a:xfrm>
            <a:off x="703017" y="5773341"/>
            <a:ext cx="78893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These ideas use simple visuals, short explanations and guided interactions to help busy parents follow the story without needing statistical knowledge.</a:t>
            </a:r>
            <a:endParaRPr lang="zh-HK" altLang="en-US" dirty="0"/>
          </a:p>
        </p:txBody>
      </p:sp>
      <p:pic>
        <p:nvPicPr>
          <p:cNvPr id="113" name="圖片 112">
            <a:extLst>
              <a:ext uri="{FF2B5EF4-FFF2-40B4-BE49-F238E27FC236}">
                <a16:creationId xmlns:a16="http://schemas.microsoft.com/office/drawing/2014/main" id="{492FF3DC-FDE7-56C5-CFEE-D03D82EF320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9186" y="3916232"/>
            <a:ext cx="1411540" cy="1737280"/>
          </a:xfrm>
          <a:prstGeom prst="rect">
            <a:avLst/>
          </a:prstGeom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B7D110FA-0538-796B-31E2-5BA7EA1E654C}"/>
              </a:ext>
            </a:extLst>
          </p:cNvPr>
          <p:cNvSpPr txBox="1"/>
          <p:nvPr/>
        </p:nvSpPr>
        <p:spPr>
          <a:xfrm>
            <a:off x="6118383" y="3594351"/>
            <a:ext cx="188519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sz="1300" b="1" dirty="0"/>
              <a:t>13. </a:t>
            </a:r>
            <a:r>
              <a:rPr lang="zh-HK" altLang="zh-HK" sz="1300" b="1" dirty="0"/>
              <a:t>Dot distribution map</a:t>
            </a:r>
            <a:endParaRPr lang="zh-HK" altLang="en-US" sz="13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矩形 147">
            <a:extLst>
              <a:ext uri="{FF2B5EF4-FFF2-40B4-BE49-F238E27FC236}">
                <a16:creationId xmlns:a16="http://schemas.microsoft.com/office/drawing/2014/main" id="{85D0A081-9E93-AEBB-76A0-8EB7A6196DAD}"/>
              </a:ext>
            </a:extLst>
          </p:cNvPr>
          <p:cNvSpPr/>
          <p:nvPr/>
        </p:nvSpPr>
        <p:spPr>
          <a:xfrm>
            <a:off x="4148360" y="695194"/>
            <a:ext cx="5046042" cy="398370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127" name="圖片 126">
            <a:extLst>
              <a:ext uri="{FF2B5EF4-FFF2-40B4-BE49-F238E27FC236}">
                <a16:creationId xmlns:a16="http://schemas.microsoft.com/office/drawing/2014/main" id="{7ACD3F69-DF24-421E-CBE7-B8897A909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024" y="4922193"/>
            <a:ext cx="1608999" cy="1109655"/>
          </a:xfrm>
          <a:prstGeom prst="rect">
            <a:avLst/>
          </a:prstGeom>
        </p:spPr>
      </p:pic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52C668B6-C042-AE34-B2B7-610A75B31E1D}"/>
              </a:ext>
            </a:extLst>
          </p:cNvPr>
          <p:cNvGrpSpPr/>
          <p:nvPr/>
        </p:nvGrpSpPr>
        <p:grpSpPr>
          <a:xfrm>
            <a:off x="182167" y="3448063"/>
            <a:ext cx="1729769" cy="1285740"/>
            <a:chOff x="6467731" y="2801152"/>
            <a:chExt cx="1457069" cy="1013663"/>
          </a:xfrm>
        </p:grpSpPr>
        <p:pic>
          <p:nvPicPr>
            <p:cNvPr id="119" name="圖片 118">
              <a:extLst>
                <a:ext uri="{FF2B5EF4-FFF2-40B4-BE49-F238E27FC236}">
                  <a16:creationId xmlns:a16="http://schemas.microsoft.com/office/drawing/2014/main" id="{128C760E-AF2B-14AC-B590-6058B68365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056"/>
            <a:stretch>
              <a:fillRect/>
            </a:stretch>
          </p:blipFill>
          <p:spPr>
            <a:xfrm>
              <a:off x="6467731" y="2801152"/>
              <a:ext cx="999595" cy="1013663"/>
            </a:xfrm>
            <a:prstGeom prst="rect">
              <a:avLst/>
            </a:prstGeom>
          </p:spPr>
        </p:pic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DCA228E4-F6A1-B44E-6F68-67A36D8B5866}"/>
                </a:ext>
              </a:extLst>
            </p:cNvPr>
            <p:cNvSpPr/>
            <p:nvPr/>
          </p:nvSpPr>
          <p:spPr>
            <a:xfrm>
              <a:off x="7323844" y="3102420"/>
              <a:ext cx="600956" cy="12415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sz="300" dirty="0">
                  <a:ln w="0"/>
                  <a:solidFill>
                    <a:schemeClr val="tx1"/>
                  </a:solidFill>
                </a:rPr>
                <a:t>School name+ type</a:t>
              </a:r>
              <a:br>
                <a:rPr lang="en-US" altLang="zh-HK" sz="300" dirty="0">
                  <a:ln w="0"/>
                  <a:solidFill>
                    <a:schemeClr val="tx1"/>
                  </a:solidFill>
                </a:rPr>
              </a:br>
              <a:r>
                <a:rPr lang="zh-HK" altLang="zh-HK" sz="300" b="1" dirty="0">
                  <a:solidFill>
                    <a:schemeClr val="tx1"/>
                  </a:solidFill>
                </a:rPr>
                <a:t>See its three-year trend</a:t>
              </a:r>
              <a:endParaRPr lang="zh-HK" altLang="en-US" sz="300" dirty="0">
                <a:solidFill>
                  <a:schemeClr val="tx1"/>
                </a:solidFill>
              </a:endParaRPr>
            </a:p>
          </p:txBody>
        </p:sp>
        <p:pic>
          <p:nvPicPr>
            <p:cNvPr id="121" name="圖片 120">
              <a:extLst>
                <a:ext uri="{FF2B5EF4-FFF2-40B4-BE49-F238E27FC236}">
                  <a16:creationId xmlns:a16="http://schemas.microsoft.com/office/drawing/2014/main" id="{5B8E1A71-6E17-6F2F-57DA-4A3D181E2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027" t="24395" r="5900" b="21499"/>
            <a:stretch>
              <a:fillRect/>
            </a:stretch>
          </p:blipFill>
          <p:spPr>
            <a:xfrm>
              <a:off x="7328885" y="3243032"/>
              <a:ext cx="509749" cy="418248"/>
            </a:xfrm>
            <a:prstGeom prst="rect">
              <a:avLst/>
            </a:prstGeom>
          </p:spPr>
        </p:pic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E1387C31-C630-24CB-6C5A-4E382D1E349E}"/>
                </a:ext>
              </a:extLst>
            </p:cNvPr>
            <p:cNvSpPr/>
            <p:nvPr/>
          </p:nvSpPr>
          <p:spPr>
            <a:xfrm>
              <a:off x="7385303" y="3164497"/>
              <a:ext cx="37785" cy="45719"/>
            </a:xfrm>
            <a:prstGeom prst="rect">
              <a:avLst/>
            </a:prstGeom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3" name="手繪多邊形: 圖案 122">
              <a:extLst>
                <a:ext uri="{FF2B5EF4-FFF2-40B4-BE49-F238E27FC236}">
                  <a16:creationId xmlns:a16="http://schemas.microsoft.com/office/drawing/2014/main" id="{60E2BA97-D117-0A1A-5959-7E4DCDA11681}"/>
                </a:ext>
              </a:extLst>
            </p:cNvPr>
            <p:cNvSpPr/>
            <p:nvPr/>
          </p:nvSpPr>
          <p:spPr>
            <a:xfrm>
              <a:off x="7393781" y="3157538"/>
              <a:ext cx="47625" cy="43499"/>
            </a:xfrm>
            <a:custGeom>
              <a:avLst/>
              <a:gdLst>
                <a:gd name="csX0" fmla="*/ 0 w 47625"/>
                <a:gd name="csY0" fmla="*/ 28575 h 43499"/>
                <a:gd name="csX1" fmla="*/ 35719 w 47625"/>
                <a:gd name="csY1" fmla="*/ 14287 h 43499"/>
                <a:gd name="csX2" fmla="*/ 47625 w 47625"/>
                <a:gd name="csY2" fmla="*/ 0 h 43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43499">
                  <a:moveTo>
                    <a:pt x="0" y="28575"/>
                  </a:moveTo>
                  <a:cubicBezTo>
                    <a:pt x="4961" y="53372"/>
                    <a:pt x="-125" y="46358"/>
                    <a:pt x="35719" y="14287"/>
                  </a:cubicBezTo>
                  <a:cubicBezTo>
                    <a:pt x="40339" y="10153"/>
                    <a:pt x="47625" y="0"/>
                    <a:pt x="47625" y="0"/>
                  </a:cubicBezTo>
                </a:path>
              </a:pathLst>
            </a:cu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9150" y="141192"/>
            <a:ext cx="10305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Layout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95177" y="6982976"/>
            <a:ext cx="8592823" cy="3304024"/>
            <a:chOff x="0" y="0"/>
            <a:chExt cx="2263130" cy="131139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63130" cy="1311396"/>
            </a:xfrm>
            <a:custGeom>
              <a:avLst/>
              <a:gdLst/>
              <a:ahLst/>
              <a:cxnLst/>
              <a:rect l="l" t="t" r="r" b="b"/>
              <a:pathLst>
                <a:path w="2263130" h="1311396">
                  <a:moveTo>
                    <a:pt x="0" y="0"/>
                  </a:moveTo>
                  <a:lnTo>
                    <a:pt x="2263130" y="0"/>
                  </a:lnTo>
                  <a:lnTo>
                    <a:pt x="2263130" y="1311396"/>
                  </a:lnTo>
                  <a:lnTo>
                    <a:pt x="0" y="131139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263130" cy="13494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644538" y="1733875"/>
            <a:ext cx="158298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65392" y="7079231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Discussion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780580" y="117926"/>
            <a:ext cx="65882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80580" y="652888"/>
            <a:ext cx="111300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56940" y="652888"/>
            <a:ext cx="942928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6218037" y="652888"/>
            <a:ext cx="1112684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80580" y="1189612"/>
            <a:ext cx="825326" cy="311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1083649D-F6CD-0BA1-8EC9-9E6A7F51F255}"/>
              </a:ext>
            </a:extLst>
          </p:cNvPr>
          <p:cNvSpPr txBox="1"/>
          <p:nvPr/>
        </p:nvSpPr>
        <p:spPr>
          <a:xfrm>
            <a:off x="10809232" y="612554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Sin Ping CHAN</a:t>
            </a:r>
            <a:endParaRPr lang="zh-HK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69ACD2E1-B17D-22E7-C68F-2024E8FA66B1}"/>
              </a:ext>
            </a:extLst>
          </p:cNvPr>
          <p:cNvSpPr txBox="1"/>
          <p:nvPr/>
        </p:nvSpPr>
        <p:spPr>
          <a:xfrm>
            <a:off x="14192148" y="6236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07/10/2026</a:t>
            </a:r>
            <a:endParaRPr lang="zh-HK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2FFA90AF-193D-E602-0C11-54E302D68DC7}"/>
              </a:ext>
            </a:extLst>
          </p:cNvPr>
          <p:cNvSpPr txBox="1"/>
          <p:nvPr/>
        </p:nvSpPr>
        <p:spPr>
          <a:xfrm>
            <a:off x="17330721" y="6041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2</a:t>
            </a:r>
            <a:endParaRPr lang="zh-HK" altLang="en-US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9EDE1A1C-0E4B-1059-EDA9-D42CED5B8CF3}"/>
              </a:ext>
            </a:extLst>
          </p:cNvPr>
          <p:cNvSpPr txBox="1"/>
          <p:nvPr/>
        </p:nvSpPr>
        <p:spPr>
          <a:xfrm>
            <a:off x="10439400" y="106978"/>
            <a:ext cx="977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Choosing a Secondary School Zone: Results, Student Backgrounds and Trends</a:t>
            </a:r>
            <a:endParaRPr lang="zh-HK" altLang="en-US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924F0B2-9287-92C5-5D95-DF15EF4FFBD7}"/>
              </a:ext>
            </a:extLst>
          </p:cNvPr>
          <p:cNvSpPr txBox="1"/>
          <p:nvPr/>
        </p:nvSpPr>
        <p:spPr>
          <a:xfrm>
            <a:off x="11350089" y="1682420"/>
            <a:ext cx="6865361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b="1" dirty="0">
                <a:highlight>
                  <a:srgbClr val="FFFF00"/>
                </a:highlight>
              </a:rPr>
              <a:t>Accordion navigation</a:t>
            </a:r>
            <a:endParaRPr lang="zh-HK" altLang="zh-HK" sz="1200" dirty="0">
              <a:highlight>
                <a:srgbClr val="FFFF00"/>
              </a:highlight>
            </a:endParaRPr>
          </a:p>
          <a:p>
            <a:r>
              <a:rPr lang="zh-HK" altLang="zh-HK" sz="1200" dirty="0"/>
              <a:t>Show </a:t>
            </a:r>
            <a:r>
              <a:rPr lang="en-US" altLang="zh-HK" sz="1200" dirty="0"/>
              <a:t>5</a:t>
            </a:r>
            <a:r>
              <a:rPr lang="zh-HK" altLang="zh-HK" sz="1200" dirty="0"/>
              <a:t> questions as stacked accordion bars. </a:t>
            </a:r>
          </a:p>
          <a:p>
            <a:r>
              <a:rPr lang="zh-HK" altLang="zh-HK" sz="1200" dirty="0"/>
              <a:t>Readers can follow the numbered order or choose a question.</a:t>
            </a:r>
            <a:endParaRPr lang="en-US" altLang="zh-HK" sz="1200" dirty="0"/>
          </a:p>
          <a:p>
            <a:r>
              <a:rPr lang="zh-HK" altLang="zh-HK" sz="1200" b="1" dirty="0">
                <a:highlight>
                  <a:srgbClr val="FFFF00"/>
                </a:highlight>
              </a:rPr>
              <a:t>1. Results</a:t>
            </a:r>
            <a:endParaRPr lang="zh-HK" altLang="zh-HK" sz="1200" dirty="0">
              <a:highlight>
                <a:srgbClr val="FFFF00"/>
              </a:highlight>
            </a:endParaRPr>
          </a:p>
          <a:p>
            <a:pPr lvl="0"/>
            <a:r>
              <a:rPr lang="zh-HK" altLang="zh-HK" sz="1200" dirty="0"/>
              <a:t>Select a dot to show the school name, median VCE study score and share of study scores ≥40.</a:t>
            </a:r>
          </a:p>
          <a:p>
            <a:pPr lvl="0"/>
            <a:r>
              <a:rPr lang="zh-HK" altLang="zh-HK" sz="1200" dirty="0"/>
              <a:t>Select </a:t>
            </a:r>
            <a:r>
              <a:rPr lang="zh-HK" altLang="zh-HK" sz="1200" b="1" dirty="0"/>
              <a:t>“</a:t>
            </a:r>
            <a:r>
              <a:rPr lang="zh-HK" altLang="zh-HK" sz="1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Focus on government schools</a:t>
            </a:r>
            <a:r>
              <a:rPr lang="zh-HK" altLang="zh-HK" sz="1200" b="1" dirty="0"/>
              <a:t>”</a:t>
            </a:r>
            <a:r>
              <a:rPr lang="zh-HK" altLang="zh-HK" sz="1200" dirty="0"/>
              <a:t> to highlight government-school dots while other sectors fade.</a:t>
            </a:r>
          </a:p>
          <a:p>
            <a:r>
              <a:rPr lang="zh-HK" altLang="zh-HK" sz="1200" b="1" dirty="0">
                <a:highlight>
                  <a:srgbClr val="FFFF00"/>
                </a:highlight>
              </a:rPr>
              <a:t>2. Background</a:t>
            </a:r>
            <a:endParaRPr lang="zh-HK" altLang="zh-HK" sz="1200" dirty="0">
              <a:highlight>
                <a:srgbClr val="FFFF00"/>
              </a:highlight>
            </a:endParaRPr>
          </a:p>
          <a:p>
            <a:pPr lvl="0"/>
            <a:r>
              <a:rPr lang="zh-HK" altLang="zh-HK" sz="1200" dirty="0"/>
              <a:t>Select a school dot to highlight it and show its name.</a:t>
            </a:r>
          </a:p>
          <a:p>
            <a:pPr lvl="0"/>
            <a:r>
              <a:rPr lang="zh-HK" altLang="zh-HK" sz="1200" dirty="0"/>
              <a:t>Select </a:t>
            </a:r>
            <a:r>
              <a:rPr lang="zh-HK" altLang="zh-HK" sz="1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“See its three-year trend”</a:t>
            </a:r>
            <a:r>
              <a:rPr lang="zh-HK" altLang="zh-HK" sz="12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zh-HK" altLang="zh-HK" sz="1200" dirty="0"/>
              <a:t>to reveal a small line chart.</a:t>
            </a:r>
            <a:r>
              <a:rPr lang="en-US" altLang="zh-HK" sz="1200" dirty="0"/>
              <a:t> </a:t>
            </a:r>
            <a:r>
              <a:rPr lang="zh-HK" altLang="zh-HK" sz="1200" dirty="0"/>
              <a:t>Close the trend to return to the scatter plot.</a:t>
            </a:r>
          </a:p>
          <a:p>
            <a:r>
              <a:rPr lang="zh-HK" altLang="zh-HK" sz="1200" b="1" dirty="0">
                <a:highlight>
                  <a:srgbClr val="FFFF00"/>
                </a:highlight>
              </a:rPr>
              <a:t>3. Profiles</a:t>
            </a:r>
            <a:endParaRPr lang="zh-HK" altLang="zh-HK" sz="1200" dirty="0">
              <a:highlight>
                <a:srgbClr val="FFFF00"/>
              </a:highlight>
            </a:endParaRPr>
          </a:p>
          <a:p>
            <a:pPr lvl="0"/>
            <a:r>
              <a:rPr lang="zh-HK" altLang="zh-HK" sz="1200" dirty="0"/>
              <a:t>Select a profile circle to highlight its line in both</a:t>
            </a:r>
            <a:r>
              <a:rPr lang="en-US" altLang="zh-HK" sz="1200" dirty="0"/>
              <a:t> 2</a:t>
            </a:r>
            <a:r>
              <a:rPr lang="zh-HK" altLang="zh-HK" sz="1200" dirty="0"/>
              <a:t> charts.</a:t>
            </a:r>
            <a:r>
              <a:rPr lang="en-US" altLang="zh-HK" sz="1200" dirty="0"/>
              <a:t> </a:t>
            </a:r>
            <a:r>
              <a:rPr lang="zh-HK" altLang="zh-HK" sz="1200" dirty="0"/>
              <a:t>Keep the other profile lines visible but faded.</a:t>
            </a:r>
          </a:p>
          <a:p>
            <a:pPr lvl="0"/>
            <a:r>
              <a:rPr lang="zh-HK" altLang="zh-HK" sz="1200" dirty="0"/>
              <a:t>Label the lines directly with their profile names.</a:t>
            </a:r>
          </a:p>
          <a:p>
            <a:pPr lvl="0"/>
            <a:r>
              <a:rPr lang="zh-HK" altLang="zh-HK" sz="1200" dirty="0"/>
              <a:t>Update the school count, average 2025 ICSEA and short explanation.</a:t>
            </a:r>
          </a:p>
          <a:p>
            <a:pPr lvl="0"/>
            <a:r>
              <a:rPr lang="zh-HK" altLang="zh-HK" sz="1200" dirty="0"/>
              <a:t>Select </a:t>
            </a:r>
            <a:r>
              <a:rPr lang="zh-HK" altLang="zh-HK" sz="1200" b="1" dirty="0"/>
              <a:t>“</a:t>
            </a:r>
            <a:r>
              <a:rPr lang="zh-HK" altLang="zh-HK" sz="1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Where are these schools?</a:t>
            </a:r>
            <a:r>
              <a:rPr lang="zh-HK" altLang="zh-HK" sz="1200" b="1" dirty="0"/>
              <a:t>”</a:t>
            </a:r>
            <a:r>
              <a:rPr lang="zh-HK" altLang="zh-HK" sz="1200" dirty="0"/>
              <a:t> to open Question 4 with the same profile selected.</a:t>
            </a:r>
          </a:p>
          <a:p>
            <a:r>
              <a:rPr lang="zh-HK" altLang="zh-HK" sz="1200" b="1" dirty="0">
                <a:highlight>
                  <a:srgbClr val="FFFF00"/>
                </a:highlight>
              </a:rPr>
              <a:t>4. Locations</a:t>
            </a:r>
            <a:endParaRPr lang="zh-HK" altLang="zh-HK" sz="1200" dirty="0">
              <a:highlight>
                <a:srgbClr val="FFFF00"/>
              </a:highlight>
            </a:endParaRPr>
          </a:p>
          <a:p>
            <a:pPr lvl="0"/>
            <a:r>
              <a:rPr lang="zh-HK" altLang="zh-HK" sz="1200" dirty="0"/>
              <a:t>Highlight zones linked to schools in the selected profile.</a:t>
            </a:r>
          </a:p>
          <a:p>
            <a:pPr lvl="0"/>
            <a:r>
              <a:rPr lang="zh-HK" altLang="zh-HK" sz="1200" dirty="0"/>
              <a:t>Keep other zones visible but faded.</a:t>
            </a:r>
          </a:p>
          <a:p>
            <a:pPr lvl="0"/>
            <a:r>
              <a:rPr lang="zh-HK" altLang="zh-HK" sz="1200" dirty="0"/>
              <a:t>Select another profile to update the map and explanation.</a:t>
            </a:r>
          </a:p>
          <a:p>
            <a:pPr lvl="0"/>
            <a:r>
              <a:rPr lang="zh-HK" altLang="zh-HK" sz="1200" dirty="0"/>
              <a:t>Keep SA4 outlines and names visible.</a:t>
            </a:r>
          </a:p>
          <a:p>
            <a:pPr lvl="0"/>
            <a:r>
              <a:rPr lang="zh-HK" altLang="zh-HK" sz="1200" dirty="0"/>
              <a:t>Select </a:t>
            </a:r>
            <a:r>
              <a:rPr lang="zh-HK" altLang="zh-HK" sz="1200" b="1" dirty="0"/>
              <a:t>“</a:t>
            </a:r>
            <a:r>
              <a:rPr lang="zh-HK" altLang="zh-HK" sz="1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Back to profile details</a:t>
            </a:r>
            <a:r>
              <a:rPr lang="zh-HK" altLang="zh-HK" sz="1200" b="1" dirty="0"/>
              <a:t>”</a:t>
            </a:r>
            <a:r>
              <a:rPr lang="zh-HK" altLang="zh-HK" sz="1200" dirty="0"/>
              <a:t> to reopen Question 3.</a:t>
            </a:r>
          </a:p>
          <a:p>
            <a:r>
              <a:rPr lang="zh-HK" altLang="zh-HK" sz="1200" b="1" dirty="0">
                <a:highlight>
                  <a:srgbClr val="FFFF00"/>
                </a:highlight>
              </a:rPr>
              <a:t>5. School zones</a:t>
            </a:r>
            <a:endParaRPr lang="zh-HK" altLang="zh-HK" sz="1200" dirty="0">
              <a:highlight>
                <a:srgbClr val="FFFF00"/>
              </a:highlight>
            </a:endParaRPr>
          </a:p>
          <a:p>
            <a:pPr lvl="0"/>
            <a:r>
              <a:rPr lang="zh-HK" altLang="zh-HK" sz="1200" dirty="0"/>
              <a:t>Move the labelled results slider to highlight matching zones.</a:t>
            </a:r>
          </a:p>
          <a:p>
            <a:pPr lvl="0"/>
            <a:r>
              <a:rPr lang="zh-HK" altLang="zh-HK" sz="1200" dirty="0"/>
              <a:t>Select a zone to open a white information card.</a:t>
            </a:r>
          </a:p>
          <a:p>
            <a:pPr lvl="0"/>
            <a:r>
              <a:rPr lang="zh-HK" altLang="zh-HK" sz="1200" dirty="0"/>
              <a:t>Show its associated school’s results and year, ICSEA, three-year change and available course information.</a:t>
            </a:r>
          </a:p>
          <a:p>
            <a:pPr lvl="0"/>
            <a:r>
              <a:rPr lang="zh-HK" altLang="zh-HK" sz="1200" dirty="0"/>
              <a:t>Close the card to return to the map.</a:t>
            </a:r>
          </a:p>
          <a:p>
            <a:pPr lvl="0"/>
            <a:r>
              <a:rPr lang="zh-HK" altLang="zh-HK" sz="1200" dirty="0"/>
              <a:t>No shortlist or comparison controls.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5527BF44-BABB-B96C-CF5C-335F75872D79}"/>
              </a:ext>
            </a:extLst>
          </p:cNvPr>
          <p:cNvSpPr txBox="1"/>
          <p:nvPr/>
        </p:nvSpPr>
        <p:spPr>
          <a:xfrm>
            <a:off x="11240289" y="6986079"/>
            <a:ext cx="704771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b="1" dirty="0"/>
              <a:t>Strengths</a:t>
            </a:r>
            <a:endParaRPr lang="zh-HK" altLang="zh-HK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One question per slide keeps the message clear.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Readers control the pace and can return easily.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A fixed visual area provides a consistent layout.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The selected profile connects the explanation to the next map.</a:t>
            </a:r>
          </a:p>
          <a:p>
            <a:r>
              <a:rPr lang="zh-HK" altLang="zh-HK" sz="1400" b="1" dirty="0"/>
              <a:t>Trade-offs</a:t>
            </a:r>
            <a:endParaRPr lang="zh-HK" altLang="zh-HK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Readers must click to continue.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Skipping slides may leave gaps in understanding.</a:t>
            </a:r>
          </a:p>
          <a:p>
            <a:r>
              <a:rPr lang="zh-HK" altLang="zh-HK" sz="1400" b="1" dirty="0"/>
              <a:t>Design notes</a:t>
            </a:r>
            <a:endParaRPr lang="zh-HK" altLang="zh-HK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Use clear question titles, direct labels and consistent colours.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Use profile colours for school-zone shading; use SA4 outlines for location.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The profiles describe 111 zone-linked government schools with complete data.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Profile averages are not school-quality grades or predictions.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Mark unclassified schools separately.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Keep metric names, years and scales clear.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24D897D1-87AC-BD41-4990-24A8046D92D4}"/>
              </a:ext>
            </a:extLst>
          </p:cNvPr>
          <p:cNvSpPr txBox="1"/>
          <p:nvPr/>
        </p:nvSpPr>
        <p:spPr>
          <a:xfrm>
            <a:off x="1086121" y="98758"/>
            <a:ext cx="8523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b="1" dirty="0">
                <a:highlight>
                  <a:srgbClr val="FFFF00"/>
                </a:highlight>
              </a:rPr>
              <a:t>Genre:</a:t>
            </a:r>
            <a:r>
              <a:rPr lang="zh-HK" altLang="zh-HK" dirty="0">
                <a:highlight>
                  <a:srgbClr val="FFFF00"/>
                </a:highlight>
              </a:rPr>
              <a:t> Question-led</a:t>
            </a:r>
            <a:r>
              <a:rPr lang="en-US" altLang="zh-HK" dirty="0">
                <a:highlight>
                  <a:srgbClr val="FFFF00"/>
                </a:highlight>
              </a:rPr>
              <a:t> slides</a:t>
            </a:r>
            <a:r>
              <a:rPr lang="zh-HK" altLang="zh-HK" dirty="0">
                <a:highlight>
                  <a:srgbClr val="FFFF00"/>
                </a:highlight>
              </a:rPr>
              <a:t> + annotated charts</a:t>
            </a:r>
            <a:br>
              <a:rPr lang="zh-HK" altLang="zh-HK" dirty="0">
                <a:highlight>
                  <a:srgbClr val="FFFF00"/>
                </a:highlight>
              </a:rPr>
            </a:br>
            <a:r>
              <a:rPr lang="zh-HK" altLang="zh-HK" b="1" dirty="0">
                <a:highlight>
                  <a:srgbClr val="FFFF00"/>
                </a:highlight>
              </a:rPr>
              <a:t>Style:</a:t>
            </a:r>
            <a:r>
              <a:rPr lang="zh-HK" altLang="zh-HK" dirty="0">
                <a:highlight>
                  <a:srgbClr val="FFFF00"/>
                </a:highlight>
              </a:rPr>
              <a:t> Guided questions with reader-controlled exploration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71F849C-5BBE-2588-E148-4085646F16B6}"/>
              </a:ext>
            </a:extLst>
          </p:cNvPr>
          <p:cNvSpPr txBox="1"/>
          <p:nvPr/>
        </p:nvSpPr>
        <p:spPr>
          <a:xfrm>
            <a:off x="884733" y="6706647"/>
            <a:ext cx="7561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b="1" dirty="0">
                <a:highlight>
                  <a:srgbClr val="FFFF00"/>
                </a:highlight>
              </a:rPr>
              <a:t>Scene 4 interaction: select, explain, locate</a:t>
            </a:r>
            <a:endParaRPr lang="zh-HK" altLang="zh-HK" dirty="0">
              <a:highlight>
                <a:srgbClr val="FFFF00"/>
              </a:highlight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C49B67C8-EFED-01A9-FD77-AD221A8442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485" y="4788057"/>
            <a:ext cx="2148964" cy="1670484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C7AC3D9B-62AE-472C-50A0-0E637D3237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8468"/>
          <a:stretch>
            <a:fillRect/>
          </a:stretch>
        </p:blipFill>
        <p:spPr>
          <a:xfrm>
            <a:off x="4347235" y="732552"/>
            <a:ext cx="4515480" cy="1120426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399808B6-9B4C-4B53-F7E9-E042E2ADA6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3300"/>
          <a:stretch>
            <a:fillRect/>
          </a:stretch>
        </p:blipFill>
        <p:spPr>
          <a:xfrm>
            <a:off x="4347235" y="3989381"/>
            <a:ext cx="4515480" cy="593407"/>
          </a:xfrm>
          <a:prstGeom prst="rect">
            <a:avLst/>
          </a:prstGeom>
        </p:spPr>
      </p:pic>
      <p:pic>
        <p:nvPicPr>
          <p:cNvPr id="72" name="圖片 71">
            <a:extLst>
              <a:ext uri="{FF2B5EF4-FFF2-40B4-BE49-F238E27FC236}">
                <a16:creationId xmlns:a16="http://schemas.microsoft.com/office/drawing/2014/main" id="{9BA4935B-F3D7-E7EE-6530-C90B663E5DC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1532" b="61018"/>
          <a:stretch>
            <a:fillRect/>
          </a:stretch>
        </p:blipFill>
        <p:spPr>
          <a:xfrm>
            <a:off x="4347235" y="1933336"/>
            <a:ext cx="4515480" cy="264715"/>
          </a:xfrm>
          <a:prstGeom prst="rect">
            <a:avLst/>
          </a:prstGeom>
        </p:spPr>
      </p:pic>
      <p:grpSp>
        <p:nvGrpSpPr>
          <p:cNvPr id="73" name="群組 72">
            <a:extLst>
              <a:ext uri="{FF2B5EF4-FFF2-40B4-BE49-F238E27FC236}">
                <a16:creationId xmlns:a16="http://schemas.microsoft.com/office/drawing/2014/main" id="{2380DEBC-AE21-9AF5-96BA-358CA6AEB633}"/>
              </a:ext>
            </a:extLst>
          </p:cNvPr>
          <p:cNvGrpSpPr/>
          <p:nvPr/>
        </p:nvGrpSpPr>
        <p:grpSpPr>
          <a:xfrm>
            <a:off x="72550" y="1901585"/>
            <a:ext cx="1742796" cy="1408848"/>
            <a:chOff x="6662426" y="284834"/>
            <a:chExt cx="1418307" cy="1213191"/>
          </a:xfrm>
        </p:grpSpPr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3B106A0E-6E0E-63F2-6244-6CC490DC0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10614"/>
            <a:stretch>
              <a:fillRect/>
            </a:stretch>
          </p:blipFill>
          <p:spPr>
            <a:xfrm>
              <a:off x="6662426" y="284834"/>
              <a:ext cx="1418307" cy="1213191"/>
            </a:xfrm>
            <a:prstGeom prst="rect">
              <a:avLst/>
            </a:prstGeom>
          </p:spPr>
        </p:pic>
        <p:sp>
          <p:nvSpPr>
            <p:cNvPr id="75" name="流程圖: 接點 74">
              <a:extLst>
                <a:ext uri="{FF2B5EF4-FFF2-40B4-BE49-F238E27FC236}">
                  <a16:creationId xmlns:a16="http://schemas.microsoft.com/office/drawing/2014/main" id="{BCAD4408-B390-1781-6F16-0839120A4547}"/>
                </a:ext>
              </a:extLst>
            </p:cNvPr>
            <p:cNvSpPr/>
            <p:nvPr/>
          </p:nvSpPr>
          <p:spPr>
            <a:xfrm>
              <a:off x="7133092" y="857001"/>
              <a:ext cx="200759" cy="188351"/>
            </a:xfrm>
            <a:prstGeom prst="flowChartConnector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  <p:sp>
          <p:nvSpPr>
            <p:cNvPr id="76" name="圖說文字: 直線 75">
              <a:extLst>
                <a:ext uri="{FF2B5EF4-FFF2-40B4-BE49-F238E27FC236}">
                  <a16:creationId xmlns:a16="http://schemas.microsoft.com/office/drawing/2014/main" id="{40AB535A-ED35-E9BB-5488-0F0F37330783}"/>
                </a:ext>
              </a:extLst>
            </p:cNvPr>
            <p:cNvSpPr/>
            <p:nvPr/>
          </p:nvSpPr>
          <p:spPr>
            <a:xfrm>
              <a:off x="7379507" y="715041"/>
              <a:ext cx="365301" cy="168002"/>
            </a:xfrm>
            <a:prstGeom prst="borderCallout1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pic>
        <p:nvPicPr>
          <p:cNvPr id="84" name="圖片 83">
            <a:extLst>
              <a:ext uri="{FF2B5EF4-FFF2-40B4-BE49-F238E27FC236}">
                <a16:creationId xmlns:a16="http://schemas.microsoft.com/office/drawing/2014/main" id="{5FC74858-241C-2748-B964-599095A80C0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1938"/>
          <a:stretch>
            <a:fillRect/>
          </a:stretch>
        </p:blipFill>
        <p:spPr>
          <a:xfrm>
            <a:off x="154888" y="4888111"/>
            <a:ext cx="1213955" cy="642631"/>
          </a:xfrm>
          <a:prstGeom prst="rect">
            <a:avLst/>
          </a:prstGeom>
        </p:spPr>
      </p:pic>
      <p:sp>
        <p:nvSpPr>
          <p:cNvPr id="86" name="文字方塊 85">
            <a:extLst>
              <a:ext uri="{FF2B5EF4-FFF2-40B4-BE49-F238E27FC236}">
                <a16:creationId xmlns:a16="http://schemas.microsoft.com/office/drawing/2014/main" id="{26D54B15-7824-65BE-C91E-509B732A4A78}"/>
              </a:ext>
            </a:extLst>
          </p:cNvPr>
          <p:cNvSpPr txBox="1"/>
          <p:nvPr/>
        </p:nvSpPr>
        <p:spPr>
          <a:xfrm>
            <a:off x="192979" y="3430996"/>
            <a:ext cx="14866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2 </a:t>
            </a:r>
            <a:r>
              <a:rPr lang="zh-HK" altLang="zh-HK" b="1" dirty="0">
                <a:highlight>
                  <a:srgbClr val="FFFF00"/>
                </a:highlight>
              </a:rPr>
              <a:t>Background</a:t>
            </a:r>
            <a:endParaRPr lang="zh-HK" altLang="zh-HK" dirty="0">
              <a:highlight>
                <a:srgbClr val="FFFF00"/>
              </a:highlight>
            </a:endParaRPr>
          </a:p>
          <a:p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10DE1914-A547-93A8-6511-73D94422C544}"/>
              </a:ext>
            </a:extLst>
          </p:cNvPr>
          <p:cNvSpPr txBox="1"/>
          <p:nvPr/>
        </p:nvSpPr>
        <p:spPr>
          <a:xfrm>
            <a:off x="248043" y="1901582"/>
            <a:ext cx="985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1</a:t>
            </a:r>
            <a:r>
              <a:rPr lang="zh-HK" altLang="zh-HK" b="1" dirty="0">
                <a:highlight>
                  <a:srgbClr val="FFFF00"/>
                </a:highlight>
              </a:rPr>
              <a:t>Results</a:t>
            </a:r>
            <a:endParaRPr lang="zh-HK" altLang="zh-HK" dirty="0">
              <a:highlight>
                <a:srgbClr val="FFFF00"/>
              </a:highlight>
            </a:endParaRPr>
          </a:p>
          <a:p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7793445-DD56-9CB9-A6BD-680964B0CBE0}"/>
              </a:ext>
            </a:extLst>
          </p:cNvPr>
          <p:cNvSpPr txBox="1"/>
          <p:nvPr/>
        </p:nvSpPr>
        <p:spPr>
          <a:xfrm>
            <a:off x="180288" y="4672434"/>
            <a:ext cx="1073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3</a:t>
            </a:r>
            <a:r>
              <a:rPr lang="zh-HK" altLang="zh-HK" b="1" dirty="0">
                <a:highlight>
                  <a:srgbClr val="FFFF00"/>
                </a:highlight>
              </a:rPr>
              <a:t> Profiles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90902E04-2CB1-A26C-CC61-CB98963CBDEB}"/>
              </a:ext>
            </a:extLst>
          </p:cNvPr>
          <p:cNvSpPr txBox="1"/>
          <p:nvPr/>
        </p:nvSpPr>
        <p:spPr>
          <a:xfrm>
            <a:off x="2132803" y="4670832"/>
            <a:ext cx="12568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4 </a:t>
            </a:r>
            <a:r>
              <a:rPr lang="zh-HK" altLang="zh-HK" b="1" dirty="0">
                <a:highlight>
                  <a:srgbClr val="FFFF00"/>
                </a:highlight>
              </a:rPr>
              <a:t>Locations</a:t>
            </a:r>
            <a:endParaRPr lang="zh-HK" altLang="zh-HK" dirty="0">
              <a:highlight>
                <a:srgbClr val="FFFF00"/>
              </a:highlight>
            </a:endParaRPr>
          </a:p>
          <a:p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6C9000C3-B888-E8B7-2A08-6780B11C752A}"/>
              </a:ext>
            </a:extLst>
          </p:cNvPr>
          <p:cNvSpPr txBox="1"/>
          <p:nvPr/>
        </p:nvSpPr>
        <p:spPr>
          <a:xfrm>
            <a:off x="5044534" y="4683242"/>
            <a:ext cx="15801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5 </a:t>
            </a:r>
            <a:r>
              <a:rPr lang="zh-HK" altLang="zh-HK" b="1" dirty="0">
                <a:highlight>
                  <a:srgbClr val="FFFF00"/>
                </a:highlight>
              </a:rPr>
              <a:t>School zones</a:t>
            </a:r>
            <a:endParaRPr lang="zh-HK" altLang="zh-HK" dirty="0">
              <a:highlight>
                <a:srgbClr val="FFFF00"/>
              </a:highlight>
            </a:endParaRPr>
          </a:p>
          <a:p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907955B2-AC49-0286-AEDF-A530C7C6E07D}"/>
              </a:ext>
            </a:extLst>
          </p:cNvPr>
          <p:cNvSpPr txBox="1"/>
          <p:nvPr/>
        </p:nvSpPr>
        <p:spPr>
          <a:xfrm>
            <a:off x="1554406" y="1965864"/>
            <a:ext cx="2535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A grouped dot plot shows school results across Gov, Cath</a:t>
            </a:r>
            <a:r>
              <a:rPr lang="en-US" altLang="zh-HK" sz="1200" dirty="0"/>
              <a:t> </a:t>
            </a:r>
            <a:r>
              <a:rPr lang="zh-HK" altLang="zh-HK" sz="1200" dirty="0"/>
              <a:t>and Independent schools.</a:t>
            </a:r>
          </a:p>
          <a:p>
            <a:pPr>
              <a:buNone/>
            </a:pPr>
            <a:r>
              <a:rPr lang="zh-HK" altLang="zh-HK" sz="1200" dirty="0"/>
              <a:t>Results vary within each sector. Government schools also have a range of results.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0BA06B-2DEB-759B-DA6E-DF4B49174735}"/>
              </a:ext>
            </a:extLst>
          </p:cNvPr>
          <p:cNvSpPr txBox="1"/>
          <p:nvPr/>
        </p:nvSpPr>
        <p:spPr>
          <a:xfrm>
            <a:off x="1973890" y="3454271"/>
            <a:ext cx="23208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A scatter plot shows ICSEA and school results. Selecting a school reveals its three-year trend.</a:t>
            </a:r>
          </a:p>
          <a:p>
            <a:pPr>
              <a:buNone/>
            </a:pPr>
            <a:r>
              <a:rPr lang="zh-HK" altLang="zh-HK" sz="1200" dirty="0"/>
              <a:t>Student background provides context. 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F8450DA1-461F-1AC9-4940-FCB33F5FAAEC}"/>
              </a:ext>
            </a:extLst>
          </p:cNvPr>
          <p:cNvSpPr txBox="1"/>
          <p:nvPr/>
        </p:nvSpPr>
        <p:spPr>
          <a:xfrm>
            <a:off x="498472" y="7319273"/>
            <a:ext cx="434911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HK" sz="1600" b="1" dirty="0"/>
              <a:t>4 </a:t>
            </a:r>
            <a:r>
              <a:rPr lang="zh-HK" altLang="zh-HK" sz="1600" b="1" dirty="0"/>
              <a:t>profile circles introduce different combinations of current results, recent changes and student background.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Average median VCE study score.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Average share of study scores ≥40.</a:t>
            </a:r>
            <a:endParaRPr lang="en-US" altLang="zh-HK" sz="1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two line charts for 2023–2025:</a:t>
            </a:r>
          </a:p>
          <a:p>
            <a:pPr>
              <a:buNone/>
            </a:pPr>
            <a:r>
              <a:rPr lang="zh-HK" altLang="zh-HK" sz="1400" dirty="0"/>
              <a:t>Each chart has four lines, one per profile. Selecting a profile highlights its line in both charts. Show its school count, average 2025 ICSEA and a short explanation alongside the charts.</a:t>
            </a:r>
          </a:p>
        </p:txBody>
      </p:sp>
      <p:pic>
        <p:nvPicPr>
          <p:cNvPr id="105" name="圖片 104">
            <a:extLst>
              <a:ext uri="{FF2B5EF4-FFF2-40B4-BE49-F238E27FC236}">
                <a16:creationId xmlns:a16="http://schemas.microsoft.com/office/drawing/2014/main" id="{1225E454-516C-61FA-3FAF-0E5475728B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5420" y="2246968"/>
            <a:ext cx="2094917" cy="1683645"/>
          </a:xfrm>
          <a:prstGeom prst="rect">
            <a:avLst/>
          </a:prstGeom>
        </p:spPr>
      </p:pic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CBAFBE6D-F54C-11BD-1867-BC980DB7CE83}"/>
              </a:ext>
            </a:extLst>
          </p:cNvPr>
          <p:cNvSpPr txBox="1"/>
          <p:nvPr/>
        </p:nvSpPr>
        <p:spPr>
          <a:xfrm>
            <a:off x="6983797" y="2915065"/>
            <a:ext cx="14893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HK" sz="800" dirty="0"/>
              <a:t>XXXXXXXXXXXXXXXXXXXXXXXXXXXXXXXXXXXXXXXXXXXXXXXXXXXXXXXXXXXXXXXXXXXXXXXXXXXXXXXXXXXXXXXXXXXXXXX</a:t>
            </a:r>
            <a:endParaRPr lang="zh-HK" altLang="zh-HK" sz="800" dirty="0"/>
          </a:p>
        </p:txBody>
      </p:sp>
      <p:pic>
        <p:nvPicPr>
          <p:cNvPr id="111" name="圖片 110">
            <a:extLst>
              <a:ext uri="{FF2B5EF4-FFF2-40B4-BE49-F238E27FC236}">
                <a16:creationId xmlns:a16="http://schemas.microsoft.com/office/drawing/2014/main" id="{E1DAB8B6-83EB-250A-EE30-C1C9BA0AE8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3873" y="6701835"/>
            <a:ext cx="3659713" cy="2941242"/>
          </a:xfrm>
          <a:prstGeom prst="rect">
            <a:avLst/>
          </a:prstGeom>
        </p:spPr>
      </p:pic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179EDB8B-FCDC-1DE4-5D00-9D6EB18E8AB0}"/>
              </a:ext>
            </a:extLst>
          </p:cNvPr>
          <p:cNvSpPr txBox="1"/>
          <p:nvPr/>
        </p:nvSpPr>
        <p:spPr>
          <a:xfrm>
            <a:off x="7280586" y="4857100"/>
            <a:ext cx="210131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A results slider highlights matching school zones. Selecting a zone opens its associated school</a:t>
            </a:r>
            <a:r>
              <a:rPr lang="en-US" altLang="zh-HK" sz="1200" dirty="0"/>
              <a:t>’</a:t>
            </a:r>
            <a:r>
              <a:rPr lang="zh-HK" altLang="zh-HK" sz="1200" dirty="0"/>
              <a:t>s info card.</a:t>
            </a:r>
          </a:p>
          <a:p>
            <a:pPr>
              <a:buNone/>
            </a:pPr>
            <a:r>
              <a:rPr lang="zh-HK" altLang="zh-HK" sz="1200" dirty="0"/>
              <a:t>Consider student background, recent trends, suitable courses and entry requirements</a:t>
            </a:r>
            <a:r>
              <a:rPr lang="en-US" altLang="zh-HK" sz="1200" dirty="0"/>
              <a:t>, </a:t>
            </a:r>
            <a:r>
              <a:rPr lang="zh-HK" altLang="zh-HK" sz="1200" dirty="0"/>
              <a:t>not just the score.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DE1542C-9262-16FE-69DE-F81CF18A4C8D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529852" y="6134100"/>
            <a:ext cx="354881" cy="75721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7" name="矩形 116">
            <a:extLst>
              <a:ext uri="{FF2B5EF4-FFF2-40B4-BE49-F238E27FC236}">
                <a16:creationId xmlns:a16="http://schemas.microsoft.com/office/drawing/2014/main" id="{70EDA26F-C37F-B7FB-7157-F6A1D4F7C729}"/>
              </a:ext>
            </a:extLst>
          </p:cNvPr>
          <p:cNvSpPr/>
          <p:nvPr/>
        </p:nvSpPr>
        <p:spPr>
          <a:xfrm>
            <a:off x="4386579" y="2198051"/>
            <a:ext cx="4476136" cy="1690876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ECB9D1C3-B70E-687B-3437-5670F36D00E0}"/>
              </a:ext>
            </a:extLst>
          </p:cNvPr>
          <p:cNvSpPr txBox="1"/>
          <p:nvPr/>
        </p:nvSpPr>
        <p:spPr>
          <a:xfrm>
            <a:off x="3456573" y="5774126"/>
            <a:ext cx="19291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A map shows linked school zones coloured by profile. SA4 outlines and names provide location context.</a:t>
            </a: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0258691B-4C99-2E05-4E21-BD837C80305A}"/>
              </a:ext>
            </a:extLst>
          </p:cNvPr>
          <p:cNvSpPr/>
          <p:nvPr/>
        </p:nvSpPr>
        <p:spPr>
          <a:xfrm>
            <a:off x="5486400" y="7426705"/>
            <a:ext cx="1828800" cy="17819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0B310C2-6D64-F4C5-1DC8-B5674A70954A}"/>
              </a:ext>
            </a:extLst>
          </p:cNvPr>
          <p:cNvSpPr/>
          <p:nvPr/>
        </p:nvSpPr>
        <p:spPr>
          <a:xfrm>
            <a:off x="4961537" y="2680850"/>
            <a:ext cx="982063" cy="956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134" name="圖片 133">
            <a:extLst>
              <a:ext uri="{FF2B5EF4-FFF2-40B4-BE49-F238E27FC236}">
                <a16:creationId xmlns:a16="http://schemas.microsoft.com/office/drawing/2014/main" id="{E010DCCD-F14C-A284-596E-56D182690D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888" y="5447516"/>
            <a:ext cx="724136" cy="581974"/>
          </a:xfrm>
          <a:prstGeom prst="rect">
            <a:avLst/>
          </a:prstGeom>
        </p:spPr>
      </p:pic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387873F1-726D-44A7-F3D9-DB5B17B3689E}"/>
              </a:ext>
            </a:extLst>
          </p:cNvPr>
          <p:cNvSpPr txBox="1"/>
          <p:nvPr/>
        </p:nvSpPr>
        <p:spPr>
          <a:xfrm>
            <a:off x="812150" y="5546145"/>
            <a:ext cx="173573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dirty="0"/>
              <a:t>Four profile circles introduce different combinations of current results, recent changes and student background.</a:t>
            </a:r>
            <a:endParaRPr lang="zh-HK" altLang="en-US" sz="1200" dirty="0"/>
          </a:p>
        </p:txBody>
      </p:sp>
      <p:pic>
        <p:nvPicPr>
          <p:cNvPr id="136" name="圖片 135">
            <a:extLst>
              <a:ext uri="{FF2B5EF4-FFF2-40B4-BE49-F238E27FC236}">
                <a16:creationId xmlns:a16="http://schemas.microsoft.com/office/drawing/2014/main" id="{D2840EC1-555D-37C4-7DF4-178BA3798DD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40" t="72222" r="63421" b="18890"/>
          <a:stretch>
            <a:fillRect/>
          </a:stretch>
        </p:blipFill>
        <p:spPr>
          <a:xfrm>
            <a:off x="6962219" y="3545908"/>
            <a:ext cx="1532488" cy="315814"/>
          </a:xfrm>
          <a:prstGeom prst="rect">
            <a:avLst/>
          </a:prstGeom>
        </p:spPr>
      </p:pic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9F7EEE4-BCEA-6C71-61F9-4EF7EAE248D8}"/>
              </a:ext>
            </a:extLst>
          </p:cNvPr>
          <p:cNvSpPr txBox="1"/>
          <p:nvPr/>
        </p:nvSpPr>
        <p:spPr>
          <a:xfrm>
            <a:off x="9511010" y="2975555"/>
            <a:ext cx="1247735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zh-HK" altLang="zh-HK" sz="1200" dirty="0"/>
              <a:t>Each question ends with a labelled button that closes the current section and opens the next question, guiding readers through the story.</a:t>
            </a:r>
            <a:endParaRPr lang="zh-HK" altLang="en-US" sz="1200" dirty="0"/>
          </a:p>
        </p:txBody>
      </p:sp>
      <p:cxnSp>
        <p:nvCxnSpPr>
          <p:cNvPr id="139" name="直線單箭頭接點 138">
            <a:extLst>
              <a:ext uri="{FF2B5EF4-FFF2-40B4-BE49-F238E27FC236}">
                <a16:creationId xmlns:a16="http://schemas.microsoft.com/office/drawing/2014/main" id="{8128A07C-EB58-6804-F8ED-A0A8C401A265}"/>
              </a:ext>
            </a:extLst>
          </p:cNvPr>
          <p:cNvCxnSpPr>
            <a:cxnSpLocks/>
            <a:stCxn id="138" idx="1"/>
            <a:endCxn id="136" idx="3"/>
          </p:cNvCxnSpPr>
          <p:nvPr/>
        </p:nvCxnSpPr>
        <p:spPr>
          <a:xfrm flipH="1" flipV="1">
            <a:off x="8494707" y="3703815"/>
            <a:ext cx="1016303" cy="24123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42" name="圖片 141">
            <a:extLst>
              <a:ext uri="{FF2B5EF4-FFF2-40B4-BE49-F238E27FC236}">
                <a16:creationId xmlns:a16="http://schemas.microsoft.com/office/drawing/2014/main" id="{1BB55C54-F568-6092-6A74-80441A92E0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40" t="72222" r="63421" b="18890"/>
          <a:stretch>
            <a:fillRect/>
          </a:stretch>
        </p:blipFill>
        <p:spPr>
          <a:xfrm>
            <a:off x="7897241" y="9311256"/>
            <a:ext cx="1532488" cy="315814"/>
          </a:xfrm>
          <a:prstGeom prst="rect">
            <a:avLst/>
          </a:prstGeom>
        </p:spPr>
      </p:pic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8F6F8F6-9D53-AA5E-E905-48519AE6D698}"/>
              </a:ext>
            </a:extLst>
          </p:cNvPr>
          <p:cNvSpPr txBox="1"/>
          <p:nvPr/>
        </p:nvSpPr>
        <p:spPr>
          <a:xfrm>
            <a:off x="10605906" y="1048604"/>
            <a:ext cx="67398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Design a question-led interactive story that helps parents look beyond school scores before moving.</a:t>
            </a:r>
            <a:endParaRPr lang="zh-HK" altLang="en-US" dirty="0"/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847C43C3-EFAA-0246-6B68-FD049C1CC559}"/>
              </a:ext>
            </a:extLst>
          </p:cNvPr>
          <p:cNvSpPr txBox="1"/>
          <p:nvPr/>
        </p:nvSpPr>
        <p:spPr>
          <a:xfrm>
            <a:off x="4970844" y="2228452"/>
            <a:ext cx="363898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100" dirty="0"/>
              <a:t>Similar current scores can hide different recent trends.</a:t>
            </a:r>
            <a:endParaRPr lang="zh-HK" altLang="en-US" sz="1100" dirty="0"/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AE65F5B1-3805-7322-A01A-3F6CAE7A31C2}"/>
              </a:ext>
            </a:extLst>
          </p:cNvPr>
          <p:cNvSpPr txBox="1"/>
          <p:nvPr/>
        </p:nvSpPr>
        <p:spPr>
          <a:xfrm>
            <a:off x="72550" y="749277"/>
            <a:ext cx="405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>
                <a:highlight>
                  <a:srgbClr val="FFFF00"/>
                </a:highlight>
              </a:rPr>
              <a:t>A school score is only a starting point. These five questions explore Greater Melbourne</a:t>
            </a:r>
            <a:r>
              <a:rPr lang="en-US" altLang="zh-HK" sz="1400" dirty="0">
                <a:highlight>
                  <a:srgbClr val="FFFF00"/>
                </a:highlight>
              </a:rPr>
              <a:t>’</a:t>
            </a:r>
            <a:r>
              <a:rPr lang="zh-HK" altLang="zh-HK" sz="1400" dirty="0">
                <a:highlight>
                  <a:srgbClr val="FFFF00"/>
                </a:highlight>
              </a:rPr>
              <a:t>s school results, student backgrounds and recent changes. Open a question to begin, or follow the numbered order.</a:t>
            </a:r>
            <a:endParaRPr lang="zh-HK" altLang="en-US" sz="1400" dirty="0">
              <a:highlight>
                <a:srgbClr val="FFFF00"/>
              </a:highlight>
            </a:endParaRP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2D34A61A-F11D-4798-58E6-8E04EC9F853F}"/>
              </a:ext>
            </a:extLst>
          </p:cNvPr>
          <p:cNvSpPr txBox="1"/>
          <p:nvPr/>
        </p:nvSpPr>
        <p:spPr>
          <a:xfrm>
            <a:off x="5347786" y="9685400"/>
            <a:ext cx="4140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b="1" dirty="0"/>
              <a:t>Sources:</a:t>
            </a:r>
            <a:r>
              <a:rPr lang="zh-HK" altLang="zh-HK" sz="1200" dirty="0"/>
              <a:t> VCAA school results (2023–2025); ACARA My School background data (2025); Victorian Department of Education school zones (2026). See “About the data” for details.</a:t>
            </a:r>
            <a:endParaRPr lang="zh-HK" altLang="en-US" sz="1200" dirty="0"/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C5384DD7-5C10-9F55-F9BC-447CAB5ED13F}"/>
              </a:ext>
            </a:extLst>
          </p:cNvPr>
          <p:cNvGrpSpPr/>
          <p:nvPr/>
        </p:nvGrpSpPr>
        <p:grpSpPr>
          <a:xfrm>
            <a:off x="7799658" y="973673"/>
            <a:ext cx="1249207" cy="301635"/>
            <a:chOff x="2913981" y="6244581"/>
            <a:chExt cx="3391379" cy="332289"/>
          </a:xfrm>
        </p:grpSpPr>
        <p:pic>
          <p:nvPicPr>
            <p:cNvPr id="159" name="圖片 158">
              <a:extLst>
                <a:ext uri="{FF2B5EF4-FFF2-40B4-BE49-F238E27FC236}">
                  <a16:creationId xmlns:a16="http://schemas.microsoft.com/office/drawing/2014/main" id="{C7B88561-78AB-C11E-7410-8EF4874C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13981" y="6309815"/>
              <a:ext cx="272689" cy="267055"/>
            </a:xfrm>
            <a:prstGeom prst="rect">
              <a:avLst/>
            </a:prstGeom>
          </p:spPr>
        </p:pic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210A7B4B-51E7-DC01-7596-174564D7464D}"/>
                </a:ext>
              </a:extLst>
            </p:cNvPr>
            <p:cNvSpPr txBox="1"/>
            <p:nvPr/>
          </p:nvSpPr>
          <p:spPr>
            <a:xfrm>
              <a:off x="3033860" y="6244581"/>
              <a:ext cx="32715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HK" sz="1100" dirty="0"/>
                <a:t>About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the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data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and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data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source</a:t>
              </a:r>
              <a:endParaRPr lang="zh-HK" altLang="en-US" sz="14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88640" y="134436"/>
            <a:ext cx="8781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Layout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95177" y="6910501"/>
            <a:ext cx="8592823" cy="3415292"/>
            <a:chOff x="0" y="0"/>
            <a:chExt cx="2263130" cy="9575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63130" cy="957552"/>
            </a:xfrm>
            <a:custGeom>
              <a:avLst/>
              <a:gdLst/>
              <a:ahLst/>
              <a:cxnLst/>
              <a:rect l="l" t="t" r="r" b="b"/>
              <a:pathLst>
                <a:path w="2263130" h="957552">
                  <a:moveTo>
                    <a:pt x="0" y="0"/>
                  </a:moveTo>
                  <a:lnTo>
                    <a:pt x="2263130" y="0"/>
                  </a:lnTo>
                  <a:lnTo>
                    <a:pt x="2263130" y="957552"/>
                  </a:lnTo>
                  <a:lnTo>
                    <a:pt x="0" y="95755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263130" cy="9956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549282" y="1673398"/>
            <a:ext cx="165918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93279" y="7000629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Discussion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780579" y="117926"/>
            <a:ext cx="981397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80580" y="652888"/>
            <a:ext cx="1116020" cy="2971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56940" y="652887"/>
            <a:ext cx="8448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6218036" y="652888"/>
            <a:ext cx="844859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80580" y="1189613"/>
            <a:ext cx="88742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D278EC06-E08B-C696-7254-FB49344AF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02"/>
          <a:stretch>
            <a:fillRect/>
          </a:stretch>
        </p:blipFill>
        <p:spPr>
          <a:xfrm>
            <a:off x="7035718" y="3992001"/>
            <a:ext cx="1790344" cy="1311843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87D49D0D-21AE-2FB7-6634-54CF6CE5B5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197" y="1530407"/>
            <a:ext cx="1267866" cy="1133288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72895365-49BF-8EA6-660F-4DCC582CEF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263" y="5274988"/>
            <a:ext cx="1790344" cy="1391713"/>
          </a:xfrm>
          <a:prstGeom prst="rect">
            <a:avLst/>
          </a:prstGeom>
        </p:spPr>
      </p:pic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DF5B0B4D-639F-F572-6C1C-DE494C96F30C}"/>
              </a:ext>
            </a:extLst>
          </p:cNvPr>
          <p:cNvGrpSpPr/>
          <p:nvPr/>
        </p:nvGrpSpPr>
        <p:grpSpPr>
          <a:xfrm>
            <a:off x="7649499" y="2623935"/>
            <a:ext cx="1729769" cy="1285740"/>
            <a:chOff x="6467731" y="2801152"/>
            <a:chExt cx="1457069" cy="1013663"/>
          </a:xfrm>
        </p:grpSpPr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5750988D-9C38-BAB9-0898-04EB9D24A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056"/>
            <a:stretch>
              <a:fillRect/>
            </a:stretch>
          </p:blipFill>
          <p:spPr>
            <a:xfrm>
              <a:off x="6467731" y="2801152"/>
              <a:ext cx="999595" cy="1013663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96F5B227-F902-E4B3-F0BC-A47B08D638AE}"/>
                </a:ext>
              </a:extLst>
            </p:cNvPr>
            <p:cNvSpPr/>
            <p:nvPr/>
          </p:nvSpPr>
          <p:spPr>
            <a:xfrm>
              <a:off x="7323844" y="3102420"/>
              <a:ext cx="600956" cy="12415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sz="300" dirty="0">
                  <a:ln w="0"/>
                  <a:solidFill>
                    <a:schemeClr val="tx1"/>
                  </a:solidFill>
                </a:rPr>
                <a:t>School name+ type</a:t>
              </a:r>
              <a:br>
                <a:rPr lang="en-US" altLang="zh-HK" sz="300" dirty="0">
                  <a:ln w="0"/>
                  <a:solidFill>
                    <a:schemeClr val="tx1"/>
                  </a:solidFill>
                </a:rPr>
              </a:br>
              <a:r>
                <a:rPr lang="zh-HK" altLang="zh-HK" sz="300" b="1" dirty="0">
                  <a:solidFill>
                    <a:schemeClr val="tx1"/>
                  </a:solidFill>
                </a:rPr>
                <a:t>See its three-year trend</a:t>
              </a:r>
              <a:endParaRPr lang="zh-HK" altLang="en-US" sz="300" dirty="0">
                <a:solidFill>
                  <a:schemeClr val="tx1"/>
                </a:solidFill>
              </a:endParaRPr>
            </a:p>
          </p:txBody>
        </p:sp>
        <p:pic>
          <p:nvPicPr>
            <p:cNvPr id="62" name="圖片 61">
              <a:extLst>
                <a:ext uri="{FF2B5EF4-FFF2-40B4-BE49-F238E27FC236}">
                  <a16:creationId xmlns:a16="http://schemas.microsoft.com/office/drawing/2014/main" id="{83724F94-AD85-A0D1-2D4B-CE6B53CD87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027" t="24395" r="5900" b="21499"/>
            <a:stretch>
              <a:fillRect/>
            </a:stretch>
          </p:blipFill>
          <p:spPr>
            <a:xfrm>
              <a:off x="7328885" y="3243032"/>
              <a:ext cx="509749" cy="418248"/>
            </a:xfrm>
            <a:prstGeom prst="rect">
              <a:avLst/>
            </a:prstGeom>
          </p:spPr>
        </p:pic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1DD0387F-A2E4-394E-161D-5D4449A021B8}"/>
                </a:ext>
              </a:extLst>
            </p:cNvPr>
            <p:cNvSpPr/>
            <p:nvPr/>
          </p:nvSpPr>
          <p:spPr>
            <a:xfrm>
              <a:off x="7385303" y="3164497"/>
              <a:ext cx="37785" cy="45719"/>
            </a:xfrm>
            <a:prstGeom prst="rect">
              <a:avLst/>
            </a:prstGeom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38173A6B-345D-E904-D3DE-FAC0BED6379E}"/>
                </a:ext>
              </a:extLst>
            </p:cNvPr>
            <p:cNvSpPr/>
            <p:nvPr/>
          </p:nvSpPr>
          <p:spPr>
            <a:xfrm>
              <a:off x="7393781" y="3157538"/>
              <a:ext cx="47625" cy="43499"/>
            </a:xfrm>
            <a:custGeom>
              <a:avLst/>
              <a:gdLst>
                <a:gd name="csX0" fmla="*/ 0 w 47625"/>
                <a:gd name="csY0" fmla="*/ 28575 h 43499"/>
                <a:gd name="csX1" fmla="*/ 35719 w 47625"/>
                <a:gd name="csY1" fmla="*/ 14287 h 43499"/>
                <a:gd name="csX2" fmla="*/ 47625 w 47625"/>
                <a:gd name="csY2" fmla="*/ 0 h 43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43499">
                  <a:moveTo>
                    <a:pt x="0" y="28575"/>
                  </a:moveTo>
                  <a:cubicBezTo>
                    <a:pt x="4961" y="53372"/>
                    <a:pt x="-125" y="46358"/>
                    <a:pt x="35719" y="14287"/>
                  </a:cubicBezTo>
                  <a:cubicBezTo>
                    <a:pt x="40339" y="10153"/>
                    <a:pt x="47625" y="0"/>
                    <a:pt x="47625" y="0"/>
                  </a:cubicBezTo>
                </a:path>
              </a:pathLst>
            </a:cu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pic>
        <p:nvPicPr>
          <p:cNvPr id="68" name="圖片 67">
            <a:extLst>
              <a:ext uri="{FF2B5EF4-FFF2-40B4-BE49-F238E27FC236}">
                <a16:creationId xmlns:a16="http://schemas.microsoft.com/office/drawing/2014/main" id="{9F464E21-BEA6-21B4-7A05-4FBCB06D867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872" t="59593" r="38610"/>
          <a:stretch>
            <a:fillRect/>
          </a:stretch>
        </p:blipFill>
        <p:spPr>
          <a:xfrm>
            <a:off x="8227571" y="4483849"/>
            <a:ext cx="914400" cy="508455"/>
          </a:xfrm>
          <a:prstGeom prst="rect">
            <a:avLst/>
          </a:prstGeom>
        </p:spPr>
      </p:pic>
      <p:sp>
        <p:nvSpPr>
          <p:cNvPr id="69" name="文字方塊 68">
            <a:extLst>
              <a:ext uri="{FF2B5EF4-FFF2-40B4-BE49-F238E27FC236}">
                <a16:creationId xmlns:a16="http://schemas.microsoft.com/office/drawing/2014/main" id="{5B4A993B-2BB4-ABAE-9B94-E315D1B3D234}"/>
              </a:ext>
            </a:extLst>
          </p:cNvPr>
          <p:cNvSpPr txBox="1"/>
          <p:nvPr/>
        </p:nvSpPr>
        <p:spPr>
          <a:xfrm>
            <a:off x="8122599" y="4947473"/>
            <a:ext cx="18546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HK" altLang="zh-HK" sz="1200" dirty="0"/>
              <a:t>Where are these schools</a:t>
            </a:r>
            <a:r>
              <a:rPr lang="en-US" altLang="zh-HK" sz="1200" dirty="0"/>
              <a:t>?</a:t>
            </a:r>
            <a:endParaRPr lang="zh-HK" altLang="en-US" sz="1200" dirty="0"/>
          </a:p>
        </p:txBody>
      </p:sp>
      <p:grpSp>
        <p:nvGrpSpPr>
          <p:cNvPr id="102" name="群組 101">
            <a:extLst>
              <a:ext uri="{FF2B5EF4-FFF2-40B4-BE49-F238E27FC236}">
                <a16:creationId xmlns:a16="http://schemas.microsoft.com/office/drawing/2014/main" id="{F08AEEA6-2D02-36DC-AB23-0298EAE18A92}"/>
              </a:ext>
            </a:extLst>
          </p:cNvPr>
          <p:cNvGrpSpPr/>
          <p:nvPr/>
        </p:nvGrpSpPr>
        <p:grpSpPr>
          <a:xfrm>
            <a:off x="7480481" y="325416"/>
            <a:ext cx="2128971" cy="1408848"/>
            <a:chOff x="6662426" y="284834"/>
            <a:chExt cx="1732581" cy="1213191"/>
          </a:xfrm>
        </p:grpSpPr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0AAD1700-20F6-7FEC-EC75-7DE39C22954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10614"/>
            <a:stretch>
              <a:fillRect/>
            </a:stretch>
          </p:blipFill>
          <p:spPr>
            <a:xfrm>
              <a:off x="6662426" y="284834"/>
              <a:ext cx="1418307" cy="1213191"/>
            </a:xfrm>
            <a:prstGeom prst="rect">
              <a:avLst/>
            </a:prstGeom>
          </p:spPr>
        </p:pic>
        <p:sp>
          <p:nvSpPr>
            <p:cNvPr id="83" name="流程圖: 接點 82">
              <a:extLst>
                <a:ext uri="{FF2B5EF4-FFF2-40B4-BE49-F238E27FC236}">
                  <a16:creationId xmlns:a16="http://schemas.microsoft.com/office/drawing/2014/main" id="{23586336-4F6C-2E40-0F6B-341082909CAB}"/>
                </a:ext>
              </a:extLst>
            </p:cNvPr>
            <p:cNvSpPr/>
            <p:nvPr/>
          </p:nvSpPr>
          <p:spPr>
            <a:xfrm>
              <a:off x="7448452" y="922892"/>
              <a:ext cx="200759" cy="188351"/>
            </a:xfrm>
            <a:prstGeom prst="flowChartConnector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  <p:sp>
          <p:nvSpPr>
            <p:cNvPr id="84" name="圖說文字: 直線 83">
              <a:extLst>
                <a:ext uri="{FF2B5EF4-FFF2-40B4-BE49-F238E27FC236}">
                  <a16:creationId xmlns:a16="http://schemas.microsoft.com/office/drawing/2014/main" id="{6EF1D37A-08FA-11C2-E8E9-E5B8ECF87A39}"/>
                </a:ext>
              </a:extLst>
            </p:cNvPr>
            <p:cNvSpPr/>
            <p:nvPr/>
          </p:nvSpPr>
          <p:spPr>
            <a:xfrm>
              <a:off x="7826672" y="659978"/>
              <a:ext cx="568335" cy="258407"/>
            </a:xfrm>
            <a:prstGeom prst="borderCallout1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29CDC686-FDB7-E681-9D6F-E1039521536E}"/>
              </a:ext>
            </a:extLst>
          </p:cNvPr>
          <p:cNvSpPr txBox="1"/>
          <p:nvPr/>
        </p:nvSpPr>
        <p:spPr>
          <a:xfrm>
            <a:off x="9695177" y="2028839"/>
            <a:ext cx="8404183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zh-HK" altLang="zh-HK" sz="1200" b="1" dirty="0"/>
              <a:t>Results:</a:t>
            </a:r>
            <a:r>
              <a:rPr lang="zh-HK" altLang="zh-HK" sz="1200" dirty="0"/>
              <a:t> </a:t>
            </a:r>
            <a:endParaRPr lang="en-US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down: government-school dots remain highlighted while other sectors fade.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A short transition introduces the public-school focus.</a:t>
            </a:r>
          </a:p>
          <a:p>
            <a:pPr>
              <a:buNone/>
            </a:pPr>
            <a:r>
              <a:rPr lang="zh-HK" altLang="zh-HK" sz="1200" b="1" dirty="0"/>
              <a:t>2. Location:</a:t>
            </a:r>
            <a:endParaRPr lang="en-US" altLang="zh-HK" sz="12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Switch between regional VCE and ICSEA summaries; the shading and legend update.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Individual school symbols are not clickable.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down to explore student backgrounds.</a:t>
            </a:r>
          </a:p>
          <a:p>
            <a:pPr>
              <a:buNone/>
            </a:pPr>
            <a:r>
              <a:rPr lang="zh-HK" altLang="zh-HK" sz="1200" b="1" dirty="0"/>
              <a:t>3. Background:</a:t>
            </a:r>
            <a:r>
              <a:rPr lang="zh-HK" altLang="zh-HK" sz="1200" dirty="0"/>
              <a:t> </a:t>
            </a:r>
            <a:endParaRPr lang="en-US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school dot to highlight it and show its name.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</a:t>
            </a:r>
            <a:r>
              <a:rPr lang="zh-HK" altLang="zh-HK" sz="1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“See its three-year trend”</a:t>
            </a:r>
            <a:r>
              <a:rPr lang="zh-HK" altLang="zh-HK" sz="12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zh-HK" altLang="zh-HK" sz="1200" dirty="0"/>
              <a:t>to reveal a small line chart.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Close the trend to return to the scatter plot.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down to learn about the four school profiles.</a:t>
            </a:r>
          </a:p>
          <a:p>
            <a:pPr>
              <a:buNone/>
            </a:pPr>
            <a:r>
              <a:rPr lang="zh-HK" altLang="zh-HK" sz="1200" b="1" dirty="0"/>
              <a:t>4. Profiles:</a:t>
            </a:r>
            <a:r>
              <a:rPr lang="zh-HK" altLang="zh-HK" sz="1200" dirty="0"/>
              <a:t> </a:t>
            </a:r>
            <a:endParaRPr lang="en-US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profile circle to reveal its explanation and an example school</a:t>
            </a:r>
            <a:r>
              <a:rPr lang="en-US" altLang="zh-HK" sz="1200" dirty="0"/>
              <a:t>’</a:t>
            </a:r>
            <a:r>
              <a:rPr lang="zh-HK" altLang="zh-HK" sz="1200" dirty="0"/>
              <a:t>s three-year trend.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</a:t>
            </a:r>
            <a:r>
              <a:rPr lang="zh-HK" altLang="zh-HK" sz="1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“Where are these schools?”</a:t>
            </a:r>
            <a:r>
              <a:rPr lang="zh-HK" altLang="zh-HK" sz="12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zh-HK" altLang="zh-HK" sz="1200" dirty="0"/>
              <a:t>to animate its school dots onto the map.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Movement trails disappear after the dots arrive. Individual markers are not clickable.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</a:t>
            </a:r>
            <a:r>
              <a:rPr lang="zh-HK" altLang="zh-HK" sz="1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“Back to profiles”</a:t>
            </a:r>
            <a:r>
              <a:rPr lang="zh-HK" altLang="zh-HK" sz="12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zh-HK" altLang="zh-HK" sz="1200" dirty="0"/>
              <a:t>to return, or scroll down to explore school zones.</a:t>
            </a:r>
          </a:p>
          <a:p>
            <a:pPr>
              <a:buNone/>
            </a:pPr>
            <a:r>
              <a:rPr lang="zh-HK" altLang="zh-HK" sz="1200" b="1" dirty="0"/>
              <a:t>5. School zones:</a:t>
            </a:r>
            <a:r>
              <a:rPr lang="zh-HK" altLang="zh-HK" sz="1200" dirty="0"/>
              <a:t> </a:t>
            </a:r>
            <a:endParaRPr lang="en-US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Move the results slider to highlight zones within the selected range.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Other zones fade but remain visible for geographical context.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zone to open a white information card showing its associated school’s results and year, ICSEA, three-year change and available course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The card includes the data source and zone reference year.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Close the card to return to the map.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down to the final takeaway: consider background, trends, courses and entry requirements before moving.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C18B7681-FF85-D6F3-0B76-1A2BB59C7B0A}"/>
              </a:ext>
            </a:extLst>
          </p:cNvPr>
          <p:cNvSpPr txBox="1"/>
          <p:nvPr/>
        </p:nvSpPr>
        <p:spPr>
          <a:xfrm>
            <a:off x="10809232" y="612554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Sin Ping CHAN</a:t>
            </a:r>
            <a:endParaRPr lang="zh-HK" altLang="en-US" dirty="0"/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ECAEA615-74F3-A6FB-3C15-85E3FEB144E5}"/>
              </a:ext>
            </a:extLst>
          </p:cNvPr>
          <p:cNvSpPr txBox="1"/>
          <p:nvPr/>
        </p:nvSpPr>
        <p:spPr>
          <a:xfrm>
            <a:off x="14192148" y="6236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08/10/2026</a:t>
            </a:r>
            <a:endParaRPr lang="zh-HK" altLang="en-US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D2C00E28-024C-0B7B-AB39-8CBCEDB25917}"/>
              </a:ext>
            </a:extLst>
          </p:cNvPr>
          <p:cNvSpPr txBox="1"/>
          <p:nvPr/>
        </p:nvSpPr>
        <p:spPr>
          <a:xfrm>
            <a:off x="17330721" y="6041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3</a:t>
            </a:r>
            <a:endParaRPr lang="zh-HK" altLang="en-US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B7064CBC-816F-A11A-38D0-91EBC0ED214E}"/>
              </a:ext>
            </a:extLst>
          </p:cNvPr>
          <p:cNvSpPr txBox="1"/>
          <p:nvPr/>
        </p:nvSpPr>
        <p:spPr>
          <a:xfrm>
            <a:off x="10404273" y="1174214"/>
            <a:ext cx="10064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Design a scrolling story for parents considering a move for a school zone.</a:t>
            </a:r>
            <a:endParaRPr lang="zh-HK" altLang="en-US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2727F4D-7C9F-3A11-7CD0-AD13A9904767}"/>
              </a:ext>
            </a:extLst>
          </p:cNvPr>
          <p:cNvSpPr txBox="1"/>
          <p:nvPr/>
        </p:nvSpPr>
        <p:spPr>
          <a:xfrm>
            <a:off x="1086121" y="98758"/>
            <a:ext cx="1023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b="1" dirty="0">
                <a:highlight>
                  <a:srgbClr val="FFFF00"/>
                </a:highlight>
              </a:rPr>
              <a:t>Genre:</a:t>
            </a:r>
            <a:r>
              <a:rPr lang="zh-HK" altLang="zh-HK" dirty="0">
                <a:highlight>
                  <a:srgbClr val="FFFF00"/>
                </a:highlight>
              </a:rPr>
              <a:t> Magazine + annotated charts | Guided story with limited interaction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4889F77-776D-D02A-ABBD-B1BC61F928AE}"/>
              </a:ext>
            </a:extLst>
          </p:cNvPr>
          <p:cNvSpPr txBox="1"/>
          <p:nvPr/>
        </p:nvSpPr>
        <p:spPr>
          <a:xfrm>
            <a:off x="176375" y="3787701"/>
            <a:ext cx="6593514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HK" altLang="zh-HK" sz="1400" b="1" dirty="0"/>
              <a:t>Results — Sector distributions</a:t>
            </a:r>
            <a:r>
              <a:rPr lang="en-US" altLang="zh-HK" sz="1400" b="1" dirty="0"/>
              <a:t> : </a:t>
            </a:r>
            <a:r>
              <a:rPr lang="zh-HK" altLang="zh-HK" sz="1400" dirty="0"/>
              <a:t>School sector does not tell the whole story.</a:t>
            </a:r>
            <a:r>
              <a:rPr lang="en-US" altLang="zh-HK" sz="1400" dirty="0"/>
              <a:t> </a:t>
            </a:r>
            <a:r>
              <a:rPr lang="zh-HK" altLang="zh-HK" sz="1400" dirty="0"/>
              <a:t>Results vary within each sector, including government schools..</a:t>
            </a:r>
            <a:r>
              <a:rPr lang="en-US" altLang="zh-HK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zh-HK" altLang="zh-HK" sz="1400" b="1" dirty="0"/>
              <a:t>Location — Regional school options</a:t>
            </a:r>
            <a:r>
              <a:rPr lang="en-US" altLang="zh-HK" sz="1400" b="1" dirty="0"/>
              <a:t> : </a:t>
            </a:r>
            <a:r>
              <a:rPr lang="zh-HK" altLang="zh-HK" sz="1400" dirty="0"/>
              <a:t>Shows school locations and the mix of school sectors within each region.</a:t>
            </a:r>
            <a:r>
              <a:rPr lang="zh-HK" altLang="zh-HK" sz="1400" b="1" dirty="0"/>
              <a:t> </a:t>
            </a:r>
            <a:r>
              <a:rPr lang="zh-HK" altLang="zh-HK" sz="1400" dirty="0"/>
              <a:t>Schools within the same area may have different results and student backgrounds.</a:t>
            </a:r>
          </a:p>
          <a:p>
            <a:pPr marL="342900" lvl="0" indent="-342900">
              <a:buFont typeface="+mj-lt"/>
              <a:buAutoNum type="arabicPeriod"/>
            </a:pPr>
            <a:r>
              <a:rPr lang="zh-HK" altLang="zh-HK" sz="1400" b="1" dirty="0"/>
              <a:t>Background — ICSEA and results</a:t>
            </a:r>
            <a:br>
              <a:rPr lang="zh-HK" altLang="zh-HK" sz="1400" dirty="0"/>
            </a:br>
            <a:r>
              <a:rPr lang="zh-HK" altLang="zh-HK" sz="1400" dirty="0"/>
              <a:t>Higher ICSEA values tend to be associated with higher VCE results in this dataset.</a:t>
            </a:r>
            <a:endParaRPr lang="en-US" altLang="zh-HK" sz="1400" dirty="0"/>
          </a:p>
          <a:p>
            <a:pPr marL="342900" lvl="0" indent="-342900">
              <a:buFont typeface="+mj-lt"/>
              <a:buAutoNum type="arabicPeriod"/>
            </a:pPr>
            <a:r>
              <a:rPr lang="zh-HK" altLang="zh-HK" sz="1400" b="1" dirty="0"/>
              <a:t>Profiles — Trends and locations</a:t>
            </a:r>
            <a:r>
              <a:rPr lang="en-US" altLang="zh-HK" sz="1400" b="1" dirty="0"/>
              <a:t>  : </a:t>
            </a:r>
            <a:r>
              <a:rPr lang="zh-HK" altLang="zh-HK" sz="1400" dirty="0"/>
              <a:t>Similar current results can hide different recent changes.</a:t>
            </a:r>
            <a:r>
              <a:rPr lang="en-US" altLang="zh-HK" sz="1400" dirty="0"/>
              <a:t>e.g. </a:t>
            </a:r>
            <a:r>
              <a:rPr lang="zh-HK" altLang="zh-HK" sz="1400" dirty="0"/>
              <a:t>Profiles C and D have similar 2025 median scores and ICSEA, but different average changes from 2023 to 2025.</a:t>
            </a:r>
            <a:endParaRPr lang="en-US" altLang="zh-HK" sz="1400" dirty="0"/>
          </a:p>
          <a:p>
            <a:pPr marL="342900" lvl="0" indent="-342900">
              <a:buFont typeface="+mj-lt"/>
              <a:buAutoNum type="arabicPeriod"/>
            </a:pPr>
            <a:r>
              <a:rPr lang="zh-HK" altLang="zh-HK" sz="1400" b="1" dirty="0"/>
              <a:t>School zones — Details before moving</a:t>
            </a:r>
            <a:r>
              <a:rPr lang="en-US" altLang="zh-HK" sz="1400" b="1" dirty="0"/>
              <a:t>  </a:t>
            </a:r>
            <a:br>
              <a:rPr lang="en-US" altLang="zh-HK" sz="1400" dirty="0"/>
            </a:br>
            <a:r>
              <a:rPr lang="zh-HK" altLang="zh-HK" sz="1400" dirty="0"/>
              <a:t>Helps parents read school-zone details beyond a single score.</a:t>
            </a:r>
            <a:r>
              <a:rPr lang="en-US" altLang="zh-HK" sz="1400" dirty="0"/>
              <a:t>: </a:t>
            </a:r>
            <a:r>
              <a:rPr lang="zh-HK" altLang="zh-HK" sz="1400" dirty="0"/>
              <a:t>Improving-profile schools are also found in some outer areas.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4EA784F9-8386-5491-1BCD-83307AAA283A}"/>
              </a:ext>
            </a:extLst>
          </p:cNvPr>
          <p:cNvSpPr txBox="1"/>
          <p:nvPr/>
        </p:nvSpPr>
        <p:spPr>
          <a:xfrm>
            <a:off x="6716354" y="12939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2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4C55626D-02CE-A0BE-AF14-6C73AAA34681}"/>
              </a:ext>
            </a:extLst>
          </p:cNvPr>
          <p:cNvSpPr txBox="1"/>
          <p:nvPr/>
        </p:nvSpPr>
        <p:spPr>
          <a:xfrm>
            <a:off x="7388646" y="4413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1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B83A8C7B-78C6-0412-C643-7CDCD3FDF8F5}"/>
              </a:ext>
            </a:extLst>
          </p:cNvPr>
          <p:cNvSpPr txBox="1"/>
          <p:nvPr/>
        </p:nvSpPr>
        <p:spPr>
          <a:xfrm>
            <a:off x="7564096" y="2689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3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16219C46-2FA1-30A6-BD82-E1ED1CAFDDFF}"/>
              </a:ext>
            </a:extLst>
          </p:cNvPr>
          <p:cNvSpPr txBox="1"/>
          <p:nvPr/>
        </p:nvSpPr>
        <p:spPr>
          <a:xfrm>
            <a:off x="6854401" y="39532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4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F1EAB190-A4FC-C8E0-DA2E-E4AC451841B9}"/>
              </a:ext>
            </a:extLst>
          </p:cNvPr>
          <p:cNvSpPr txBox="1"/>
          <p:nvPr/>
        </p:nvSpPr>
        <p:spPr>
          <a:xfrm>
            <a:off x="6719396" y="53280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5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15D419DE-6486-C490-B0B8-85B7F4903C58}"/>
              </a:ext>
            </a:extLst>
          </p:cNvPr>
          <p:cNvSpPr txBox="1"/>
          <p:nvPr/>
        </p:nvSpPr>
        <p:spPr>
          <a:xfrm>
            <a:off x="884733" y="6706647"/>
            <a:ext cx="7561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b="1" dirty="0">
                <a:highlight>
                  <a:srgbClr val="FFFF00"/>
                </a:highlight>
              </a:rPr>
              <a:t>Scene 4 interaction: select, explain, locate</a:t>
            </a:r>
            <a:endParaRPr lang="zh-HK" altLang="zh-HK" dirty="0">
              <a:highlight>
                <a:srgbClr val="FFFF00"/>
              </a:highlight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309C17DD-E402-7346-4962-722DE4C6AEED}"/>
              </a:ext>
            </a:extLst>
          </p:cNvPr>
          <p:cNvSpPr txBox="1"/>
          <p:nvPr/>
        </p:nvSpPr>
        <p:spPr>
          <a:xfrm>
            <a:off x="9889810" y="7365754"/>
            <a:ext cx="820955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400" b="1" dirty="0"/>
              <a:t>Strengths</a:t>
            </a:r>
            <a:endParaRPr lang="zh-HK" altLang="zh-HK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One focal visual reduces clutter.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A fixed sequence connects the story.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Short explanations support parents.</a:t>
            </a:r>
          </a:p>
          <a:p>
            <a:pPr>
              <a:buNone/>
            </a:pPr>
            <a:r>
              <a:rPr lang="zh-HK" altLang="zh-HK" sz="1400" b="1" dirty="0"/>
              <a:t>Trade-offs</a:t>
            </a:r>
            <a:endParaRPr lang="zh-HK" altLang="zh-HK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Long scrolling needs progress cues.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Animation needs a static alternative.</a:t>
            </a:r>
          </a:p>
          <a:p>
            <a:pPr>
              <a:buNone/>
            </a:pPr>
            <a:r>
              <a:rPr lang="zh-HK" altLang="zh-HK" sz="1400" b="1" dirty="0"/>
              <a:t>Design notes</a:t>
            </a:r>
            <a:endParaRPr lang="zh-HK" altLang="zh-HK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Keep axes and colour meanings clear.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Mark selective status separately from sector.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SA4 summaries are not school-zone values.</a:t>
            </a:r>
          </a:p>
          <a:p>
            <a:pPr>
              <a:buNone/>
            </a:pPr>
            <a:r>
              <a:rPr lang="zh-HK" altLang="zh-HK" sz="1400" dirty="0"/>
              <a:t>Draft design. All points and boundaries are illustrative. Final measures and scales must match the dataset.</a:t>
            </a:r>
          </a:p>
        </p:txBody>
      </p:sp>
      <p:grpSp>
        <p:nvGrpSpPr>
          <p:cNvPr id="142" name="群組 141">
            <a:extLst>
              <a:ext uri="{FF2B5EF4-FFF2-40B4-BE49-F238E27FC236}">
                <a16:creationId xmlns:a16="http://schemas.microsoft.com/office/drawing/2014/main" id="{290428F1-6094-0B61-1FCF-93F235F2B5A6}"/>
              </a:ext>
            </a:extLst>
          </p:cNvPr>
          <p:cNvGrpSpPr/>
          <p:nvPr/>
        </p:nvGrpSpPr>
        <p:grpSpPr>
          <a:xfrm>
            <a:off x="532269" y="924094"/>
            <a:ext cx="5991438" cy="2817041"/>
            <a:chOff x="518650" y="487495"/>
            <a:chExt cx="5991438" cy="2817041"/>
          </a:xfrm>
        </p:grpSpPr>
        <p:pic>
          <p:nvPicPr>
            <p:cNvPr id="77" name="圖片 76">
              <a:extLst>
                <a:ext uri="{FF2B5EF4-FFF2-40B4-BE49-F238E27FC236}">
                  <a16:creationId xmlns:a16="http://schemas.microsoft.com/office/drawing/2014/main" id="{B96B0CC9-7D33-DF34-A92A-6B45FED51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1498" y="900823"/>
              <a:ext cx="4724824" cy="2403713"/>
            </a:xfrm>
            <a:prstGeom prst="rect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</p:pic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E836B5B-80A3-344B-CFFC-0066633A2EDC}"/>
                </a:ext>
              </a:extLst>
            </p:cNvPr>
            <p:cNvSpPr/>
            <p:nvPr/>
          </p:nvSpPr>
          <p:spPr>
            <a:xfrm>
              <a:off x="518650" y="487495"/>
              <a:ext cx="5991438" cy="2661609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  <p:pic>
          <p:nvPicPr>
            <p:cNvPr id="82" name="圖片 81">
              <a:extLst>
                <a:ext uri="{FF2B5EF4-FFF2-40B4-BE49-F238E27FC236}">
                  <a16:creationId xmlns:a16="http://schemas.microsoft.com/office/drawing/2014/main" id="{69F92E4E-A900-B3DE-2194-1C770D77EC3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10614"/>
            <a:stretch>
              <a:fillRect/>
            </a:stretch>
          </p:blipFill>
          <p:spPr>
            <a:xfrm>
              <a:off x="935756" y="1375967"/>
              <a:ext cx="2192754" cy="1466583"/>
            </a:xfrm>
            <a:prstGeom prst="rect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</p:pic>
        <p:sp>
          <p:nvSpPr>
            <p:cNvPr id="105" name="文字方塊 104">
              <a:extLst>
                <a:ext uri="{FF2B5EF4-FFF2-40B4-BE49-F238E27FC236}">
                  <a16:creationId xmlns:a16="http://schemas.microsoft.com/office/drawing/2014/main" id="{F76D4820-A477-E296-2080-75B220EF15DD}"/>
                </a:ext>
              </a:extLst>
            </p:cNvPr>
            <p:cNvSpPr txBox="1"/>
            <p:nvPr/>
          </p:nvSpPr>
          <p:spPr>
            <a:xfrm>
              <a:off x="665820" y="2755301"/>
              <a:ext cx="2686980" cy="36933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r>
                <a:rPr lang="zh-HK" altLang="zh-HK" dirty="0"/>
                <a:t>One main visual at a time</a:t>
              </a:r>
              <a:endParaRPr lang="zh-HK" altLang="en-US" dirty="0"/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90EF12C5-26F2-8DF0-9555-C8432349A05B}"/>
                </a:ext>
              </a:extLst>
            </p:cNvPr>
            <p:cNvSpPr txBox="1"/>
            <p:nvPr/>
          </p:nvSpPr>
          <p:spPr>
            <a:xfrm>
              <a:off x="3829975" y="2822989"/>
              <a:ext cx="1966517" cy="307777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r>
                <a:rPr lang="zh-HK" altLang="zh-HK" sz="1400" dirty="0"/>
                <a:t>Clickable progress bar</a:t>
              </a:r>
              <a:endParaRPr lang="zh-HK" altLang="en-US" sz="1400" dirty="0"/>
            </a:p>
          </p:txBody>
        </p:sp>
      </p:grpSp>
      <p:pic>
        <p:nvPicPr>
          <p:cNvPr id="125" name="圖片 124">
            <a:extLst>
              <a:ext uri="{FF2B5EF4-FFF2-40B4-BE49-F238E27FC236}">
                <a16:creationId xmlns:a16="http://schemas.microsoft.com/office/drawing/2014/main" id="{7A7C2504-8E05-FF0D-96AB-CF0464092A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2" y="7084435"/>
            <a:ext cx="4002362" cy="2110698"/>
          </a:xfrm>
          <a:prstGeom prst="rect">
            <a:avLst/>
          </a:prstGeom>
        </p:spPr>
      </p:pic>
      <p:pic>
        <p:nvPicPr>
          <p:cNvPr id="127" name="圖片 126">
            <a:extLst>
              <a:ext uri="{FF2B5EF4-FFF2-40B4-BE49-F238E27FC236}">
                <a16:creationId xmlns:a16="http://schemas.microsoft.com/office/drawing/2014/main" id="{B2DE9534-84B9-3A3B-70C2-4D73A8BB94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42739" y="7029977"/>
            <a:ext cx="3667484" cy="1567345"/>
          </a:xfrm>
          <a:prstGeom prst="rect">
            <a:avLst/>
          </a:prstGeom>
        </p:spPr>
      </p:pic>
      <p:pic>
        <p:nvPicPr>
          <p:cNvPr id="129" name="圖片 128">
            <a:extLst>
              <a:ext uri="{FF2B5EF4-FFF2-40B4-BE49-F238E27FC236}">
                <a16:creationId xmlns:a16="http://schemas.microsoft.com/office/drawing/2014/main" id="{9FCD77CD-7A49-6BEA-EED0-7A54A62E43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62028" y="8242840"/>
            <a:ext cx="2887254" cy="1968581"/>
          </a:xfrm>
          <a:prstGeom prst="rect">
            <a:avLst/>
          </a:prstGeom>
        </p:spPr>
      </p:pic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BAB481DF-F5BC-97AD-5769-7D2F644E2E25}"/>
              </a:ext>
            </a:extLst>
          </p:cNvPr>
          <p:cNvSpPr txBox="1"/>
          <p:nvPr/>
        </p:nvSpPr>
        <p:spPr>
          <a:xfrm>
            <a:off x="10439400" y="106978"/>
            <a:ext cx="977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Choosing a Secondary School Zone: Results, Student Backgrounds and Trends</a:t>
            </a:r>
            <a:endParaRPr lang="zh-HK" altLang="en-US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E93B9360-DE2E-DAED-DD73-0AD3799261E7}"/>
              </a:ext>
            </a:extLst>
          </p:cNvPr>
          <p:cNvSpPr txBox="1"/>
          <p:nvPr/>
        </p:nvSpPr>
        <p:spPr>
          <a:xfrm>
            <a:off x="138131" y="527263"/>
            <a:ext cx="6983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u="sng" dirty="0">
                <a:highlight>
                  <a:srgbClr val="FFFF00"/>
                </a:highlight>
              </a:rPr>
              <a:t>Scroll to explore school results, backgrounds and changes before moving.</a:t>
            </a:r>
            <a:endParaRPr lang="zh-HK" altLang="en-US" u="sng" dirty="0">
              <a:highlight>
                <a:srgbClr val="FFFF00"/>
              </a:highlight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BE4E8C7D-91BE-3A08-6D97-D54D92F4FE04}"/>
              </a:ext>
            </a:extLst>
          </p:cNvPr>
          <p:cNvSpPr txBox="1"/>
          <p:nvPr/>
        </p:nvSpPr>
        <p:spPr>
          <a:xfrm>
            <a:off x="505902" y="9520879"/>
            <a:ext cx="4140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b="1" dirty="0"/>
              <a:t>Sources:</a:t>
            </a:r>
            <a:r>
              <a:rPr lang="zh-HK" altLang="zh-HK" sz="1200" dirty="0"/>
              <a:t> VCAA school results (2023–2025); ACARA My School background data (2025); Victorian Department of Education school zones (2026). See “About the data” for details.</a:t>
            </a:r>
            <a:endParaRPr lang="zh-HK" altLang="en-US" sz="1200" dirty="0"/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F77C7CFD-49E7-2961-F676-8B36F20D2CC9}"/>
              </a:ext>
            </a:extLst>
          </p:cNvPr>
          <p:cNvGrpSpPr/>
          <p:nvPr/>
        </p:nvGrpSpPr>
        <p:grpSpPr>
          <a:xfrm>
            <a:off x="4417006" y="1019463"/>
            <a:ext cx="2688684" cy="281731"/>
            <a:chOff x="2913981" y="6309815"/>
            <a:chExt cx="3425925" cy="281202"/>
          </a:xfrm>
        </p:grpSpPr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22A6264A-A1CB-F077-D2BF-D6C3AEC603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913981" y="6309815"/>
              <a:ext cx="272689" cy="267055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06301FBF-5064-BD53-3B33-022249D12444}"/>
                </a:ext>
              </a:extLst>
            </p:cNvPr>
            <p:cNvSpPr txBox="1"/>
            <p:nvPr/>
          </p:nvSpPr>
          <p:spPr>
            <a:xfrm>
              <a:off x="3068405" y="6329407"/>
              <a:ext cx="32715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HK" sz="1100" dirty="0"/>
                <a:t>About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the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data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and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data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source</a:t>
              </a:r>
              <a:endParaRPr lang="zh-HK" altLang="en-US" sz="1400" dirty="0"/>
            </a:p>
          </p:txBody>
        </p:sp>
      </p:grpSp>
      <p:pic>
        <p:nvPicPr>
          <p:cNvPr id="148" name="圖片 147">
            <a:extLst>
              <a:ext uri="{FF2B5EF4-FFF2-40B4-BE49-F238E27FC236}">
                <a16:creationId xmlns:a16="http://schemas.microsoft.com/office/drawing/2014/main" id="{C718C1F4-5849-9864-4646-5E73E0CFFF3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640" t="72222" r="63421" b="18890"/>
          <a:stretch>
            <a:fillRect/>
          </a:stretch>
        </p:blipFill>
        <p:spPr>
          <a:xfrm>
            <a:off x="13960016" y="3953208"/>
            <a:ext cx="1532488" cy="315814"/>
          </a:xfrm>
          <a:prstGeom prst="rect">
            <a:avLst/>
          </a:prstGeom>
        </p:spPr>
      </p:pic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C25EC4C1-F4D6-F58D-70CD-2929EFD21190}"/>
              </a:ext>
            </a:extLst>
          </p:cNvPr>
          <p:cNvSpPr txBox="1"/>
          <p:nvPr/>
        </p:nvSpPr>
        <p:spPr>
          <a:xfrm>
            <a:off x="16689064" y="3382855"/>
            <a:ext cx="124773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dirty="0"/>
              <a:t>Each question ends with a labelled button that closes the current section and opens the next question, guiding readers through the story.</a:t>
            </a:r>
            <a:endParaRPr lang="zh-HK" altLang="en-US" sz="1200" dirty="0"/>
          </a:p>
        </p:txBody>
      </p:sp>
      <p:cxnSp>
        <p:nvCxnSpPr>
          <p:cNvPr id="150" name="直線單箭頭接點 149">
            <a:extLst>
              <a:ext uri="{FF2B5EF4-FFF2-40B4-BE49-F238E27FC236}">
                <a16:creationId xmlns:a16="http://schemas.microsoft.com/office/drawing/2014/main" id="{692A3F84-5303-A89D-1155-53D90DF1DE81}"/>
              </a:ext>
            </a:extLst>
          </p:cNvPr>
          <p:cNvCxnSpPr>
            <a:cxnSpLocks/>
            <a:endCxn id="148" idx="3"/>
          </p:cNvCxnSpPr>
          <p:nvPr/>
        </p:nvCxnSpPr>
        <p:spPr>
          <a:xfrm flipH="1" flipV="1">
            <a:off x="15492504" y="4111115"/>
            <a:ext cx="1150447" cy="27258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-72703" y="132121"/>
            <a:ext cx="13353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Layout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9401" y="6390971"/>
            <a:ext cx="8592823" cy="3896029"/>
            <a:chOff x="0" y="0"/>
            <a:chExt cx="2263130" cy="131139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63130" cy="1311396"/>
            </a:xfrm>
            <a:custGeom>
              <a:avLst/>
              <a:gdLst/>
              <a:ahLst/>
              <a:cxnLst/>
              <a:rect l="l" t="t" r="r" b="b"/>
              <a:pathLst>
                <a:path w="2263130" h="1311396">
                  <a:moveTo>
                    <a:pt x="0" y="0"/>
                  </a:moveTo>
                  <a:lnTo>
                    <a:pt x="2263130" y="0"/>
                  </a:lnTo>
                  <a:lnTo>
                    <a:pt x="2263130" y="1311396"/>
                  </a:lnTo>
                  <a:lnTo>
                    <a:pt x="0" y="131139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263130" cy="13494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559911" y="1747845"/>
            <a:ext cx="173538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41662" y="6531707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Discussion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780580" y="117926"/>
            <a:ext cx="82532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80580" y="652888"/>
            <a:ext cx="1294046" cy="2971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56940" y="652888"/>
            <a:ext cx="9210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6218036" y="652887"/>
            <a:ext cx="107936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80580" y="1189612"/>
            <a:ext cx="103982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9E4576F-6D07-7BC0-2209-CDEF2B4AB8CA}"/>
              </a:ext>
            </a:extLst>
          </p:cNvPr>
          <p:cNvSpPr txBox="1"/>
          <p:nvPr/>
        </p:nvSpPr>
        <p:spPr>
          <a:xfrm>
            <a:off x="10809232" y="612554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Sin Ping CHAN</a:t>
            </a:r>
            <a:endParaRPr lang="zh-HK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5CA2E5FC-B6A3-9235-DA06-F7F5C948CE91}"/>
              </a:ext>
            </a:extLst>
          </p:cNvPr>
          <p:cNvSpPr txBox="1"/>
          <p:nvPr/>
        </p:nvSpPr>
        <p:spPr>
          <a:xfrm>
            <a:off x="14192148" y="6236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09/10/2026</a:t>
            </a:r>
            <a:endParaRPr lang="zh-HK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19D2FF25-630F-E7BC-B0FB-A9DE4839E21C}"/>
              </a:ext>
            </a:extLst>
          </p:cNvPr>
          <p:cNvSpPr txBox="1"/>
          <p:nvPr/>
        </p:nvSpPr>
        <p:spPr>
          <a:xfrm>
            <a:off x="17330721" y="6041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4</a:t>
            </a:r>
            <a:endParaRPr lang="zh-HK" altLang="en-US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6008EDE1-48A5-4FB2-8EFC-0C3D94FC984F}"/>
              </a:ext>
            </a:extLst>
          </p:cNvPr>
          <p:cNvSpPr txBox="1"/>
          <p:nvPr/>
        </p:nvSpPr>
        <p:spPr>
          <a:xfrm>
            <a:off x="10439400" y="106978"/>
            <a:ext cx="977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Choosing a Secondary School Zone: Results, Student Backgrounds and Trends</a:t>
            </a:r>
            <a:endParaRPr lang="zh-HK" altLang="en-US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85109525-764B-42DD-98F0-3F85B96CAEB5}"/>
              </a:ext>
            </a:extLst>
          </p:cNvPr>
          <p:cNvSpPr txBox="1"/>
          <p:nvPr/>
        </p:nvSpPr>
        <p:spPr>
          <a:xfrm>
            <a:off x="1086121" y="98758"/>
            <a:ext cx="8523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b="1" dirty="0">
                <a:highlight>
                  <a:srgbClr val="FFFF00"/>
                </a:highlight>
              </a:rPr>
              <a:t>Genre:</a:t>
            </a:r>
            <a:r>
              <a:rPr lang="zh-HK" altLang="zh-HK" dirty="0">
                <a:highlight>
                  <a:srgbClr val="FFFF00"/>
                </a:highlight>
              </a:rPr>
              <a:t> </a:t>
            </a:r>
            <a:r>
              <a:rPr lang="en-US" altLang="zh-HK" dirty="0">
                <a:highlight>
                  <a:srgbClr val="FFFF00"/>
                </a:highlight>
              </a:rPr>
              <a:t>Poster/ Magazine</a:t>
            </a:r>
            <a:r>
              <a:rPr lang="zh-HK" altLang="zh-HK" dirty="0">
                <a:highlight>
                  <a:srgbClr val="FFFF00"/>
                </a:highlight>
              </a:rPr>
              <a:t> style + annotated maps and charts</a:t>
            </a:r>
            <a:br>
              <a:rPr lang="zh-HK" altLang="zh-HK" dirty="0">
                <a:highlight>
                  <a:srgbClr val="FFFF00"/>
                </a:highlight>
              </a:rPr>
            </a:br>
            <a:r>
              <a:rPr lang="zh-HK" altLang="zh-HK" b="1" dirty="0">
                <a:highlight>
                  <a:srgbClr val="FFFF00"/>
                </a:highlight>
              </a:rPr>
              <a:t>Style:</a:t>
            </a:r>
            <a:r>
              <a:rPr lang="zh-HK" altLang="zh-HK" dirty="0">
                <a:highlight>
                  <a:srgbClr val="FFFF00"/>
                </a:highlight>
              </a:rPr>
              <a:t> Guided introduction with location-first exploration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3CE1D48F-3EC7-1A79-638C-1333E2F73000}"/>
              </a:ext>
            </a:extLst>
          </p:cNvPr>
          <p:cNvSpPr txBox="1"/>
          <p:nvPr/>
        </p:nvSpPr>
        <p:spPr>
          <a:xfrm>
            <a:off x="884733" y="6706647"/>
            <a:ext cx="7561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dirty="0">
                <a:highlight>
                  <a:srgbClr val="FFFF00"/>
                </a:highlight>
              </a:rPr>
              <a:t>Select an area, explore a profile, reveal a school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69CF7D59-D0CB-F7DE-F419-D603CCF0CEDA}"/>
              </a:ext>
            </a:extLst>
          </p:cNvPr>
          <p:cNvSpPr txBox="1"/>
          <p:nvPr/>
        </p:nvSpPr>
        <p:spPr>
          <a:xfrm>
            <a:off x="10605906" y="1048604"/>
            <a:ext cx="67398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Guide parents from a chosen region to school results, profiles and school-zone details.</a:t>
            </a:r>
            <a:endParaRPr lang="zh-HK" altLang="en-US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24EF0E0-2523-0E9E-5EB8-330C7CFFCA19}"/>
              </a:ext>
            </a:extLst>
          </p:cNvPr>
          <p:cNvSpPr txBox="1"/>
          <p:nvPr/>
        </p:nvSpPr>
        <p:spPr>
          <a:xfrm>
            <a:off x="10024426" y="2230931"/>
            <a:ext cx="716864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b="1" dirty="0"/>
              <a:t>1. Results</a:t>
            </a:r>
            <a:endParaRPr lang="zh-HK" altLang="zh-HK" sz="1400" dirty="0"/>
          </a:p>
          <a:p>
            <a:pPr lvl="0"/>
            <a:r>
              <a:rPr lang="zh-HK" altLang="zh-HK" sz="1400" dirty="0"/>
              <a:t>Select a dot to show the school name, median VCE study score and share of study scores ≥40.</a:t>
            </a:r>
          </a:p>
          <a:p>
            <a:pPr lvl="0"/>
            <a:r>
              <a:rPr lang="zh-HK" altLang="zh-HK" sz="1400" dirty="0"/>
              <a:t>Keep all sectors visible to show the range of results.</a:t>
            </a:r>
          </a:p>
          <a:p>
            <a:r>
              <a:rPr lang="zh-HK" altLang="zh-HK" sz="1400" b="1" dirty="0"/>
              <a:t>2. Background</a:t>
            </a:r>
            <a:endParaRPr lang="zh-HK" altLang="zh-HK" sz="1400" dirty="0"/>
          </a:p>
          <a:p>
            <a:pPr lvl="0"/>
            <a:r>
              <a:rPr lang="zh-HK" altLang="zh-HK" sz="1400" dirty="0"/>
              <a:t>Select a school dot to highlight it and show its name.</a:t>
            </a:r>
          </a:p>
          <a:p>
            <a:pPr lvl="0"/>
            <a:r>
              <a:rPr lang="zh-HK" altLang="zh-HK" sz="1400" dirty="0"/>
              <a:t>Select </a:t>
            </a:r>
            <a:r>
              <a:rPr lang="zh-HK" altLang="zh-HK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“See its three-year trend”</a:t>
            </a:r>
            <a:r>
              <a:rPr lang="zh-HK" altLang="zh-HK" sz="1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zh-HK" altLang="zh-HK" sz="1400" dirty="0"/>
              <a:t>to reveal a small line chart.</a:t>
            </a:r>
          </a:p>
          <a:p>
            <a:pPr lvl="0"/>
            <a:r>
              <a:rPr lang="zh-HK" altLang="zh-HK" sz="1400" dirty="0"/>
              <a:t>Close the trend to return to the scatter plot.</a:t>
            </a:r>
          </a:p>
          <a:p>
            <a:r>
              <a:rPr lang="zh-HK" altLang="zh-HK" sz="1400" b="1" dirty="0"/>
              <a:t>3. Explore an area</a:t>
            </a:r>
            <a:endParaRPr lang="zh-HK" altLang="zh-HK" sz="1400" dirty="0"/>
          </a:p>
          <a:p>
            <a:pPr lvl="0"/>
            <a:r>
              <a:rPr lang="zh-HK" altLang="zh-HK" sz="1400" dirty="0"/>
              <a:t>Select an SA4 to highlight its boundary and show its school zones and school markers.</a:t>
            </a:r>
          </a:p>
          <a:p>
            <a:pPr lvl="0"/>
            <a:r>
              <a:rPr lang="zh-HK" altLang="zh-HK" sz="1400" dirty="0"/>
              <a:t>Select a profile to highlight matching government-school zones.</a:t>
            </a:r>
          </a:p>
          <a:p>
            <a:pPr lvl="0"/>
            <a:r>
              <a:rPr lang="zh-HK" altLang="zh-HK" sz="1400" dirty="0"/>
              <a:t>Update the profile overview with its school count, average 2025 ICSEA and two three-year trend charts.</a:t>
            </a:r>
          </a:p>
          <a:p>
            <a:pPr lvl="0"/>
            <a:r>
              <a:rPr lang="zh-HK" altLang="zh-HK" sz="1400" dirty="0"/>
              <a:t>Keep other school markers visible, including Catholic and Independent schools.</a:t>
            </a:r>
          </a:p>
          <a:p>
            <a:pPr lvl="0"/>
            <a:r>
              <a:rPr lang="zh-HK" altLang="zh-HK" sz="1400" dirty="0"/>
              <a:t>Hover over any school marker to show its name, sector, ICSEA and VCE results.</a:t>
            </a:r>
          </a:p>
          <a:p>
            <a:pPr lvl="0"/>
            <a:r>
              <a:rPr lang="zh-HK" altLang="zh-HK" sz="1400" dirty="0"/>
              <a:t>Click or tap to keep the information card open. Close it to return to the map.</a:t>
            </a:r>
          </a:p>
          <a:p>
            <a:pPr lvl="0"/>
            <a:r>
              <a:rPr lang="zh-HK" altLang="zh-HK" sz="1400" dirty="0"/>
              <a:t>Use the navigation trail to return to the selected SA4 or the Melbourne overview.</a:t>
            </a:r>
          </a:p>
          <a:p>
            <a:r>
              <a:rPr lang="zh-HK" altLang="zh-HK" sz="1400" b="1" dirty="0"/>
              <a:t>4. Before moving</a:t>
            </a:r>
            <a:endParaRPr lang="zh-HK" altLang="zh-HK" sz="1400" dirty="0"/>
          </a:p>
          <a:p>
            <a:pPr lvl="0"/>
            <a:r>
              <a:rPr lang="zh-HK" altLang="zh-HK" sz="1400" dirty="0"/>
              <a:t>Read the closing reminder to check student background, recent changes, courses and current entry requirements.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zh-HK" altLang="zh-HK" sz="1400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92108A77-3109-E1BB-2344-B2E28CAC529E}"/>
              </a:ext>
            </a:extLst>
          </p:cNvPr>
          <p:cNvSpPr txBox="1"/>
          <p:nvPr/>
        </p:nvSpPr>
        <p:spPr>
          <a:xfrm>
            <a:off x="11165924" y="6611504"/>
            <a:ext cx="801977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b="1" dirty="0"/>
              <a:t>Strengths</a:t>
            </a:r>
            <a:endParaRPr lang="zh-HK" altLang="zh-HK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The full story is visible on one page</a:t>
            </a:r>
            <a:r>
              <a:rPr lang="en-US" altLang="zh-HK" sz="1400" dirty="0"/>
              <a:t> &amp; </a:t>
            </a:r>
            <a:r>
              <a:rPr lang="zh-HK" altLang="zh-HK" sz="1400" dirty="0"/>
              <a:t>The large map gives the page a clear focus.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Parents can explore an area they care about.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Profile summaries and school cards connect group patterns to individual schools.</a:t>
            </a:r>
          </a:p>
          <a:p>
            <a:r>
              <a:rPr lang="zh-HK" altLang="zh-HK" sz="1400" b="1" dirty="0"/>
              <a:t>Trade-offs</a:t>
            </a:r>
            <a:endParaRPr lang="zh-HK" altLang="zh-HK" sz="14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Several visuals on one page need clear spacing and headings.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Dense school markers may overlap and require zooming.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Parents may focus only on familiar areas and miss the wider story.</a:t>
            </a:r>
          </a:p>
          <a:p>
            <a:r>
              <a:rPr lang="zh-HK" altLang="zh-HK" sz="1400" b="1" dirty="0"/>
              <a:t>Design notes</a:t>
            </a:r>
            <a:endParaRPr lang="zh-HK" altLang="zh-HK" sz="140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Use consistent profile colours across zones and trend charts.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Use marker shapes to distinguish school sectors.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Catholic and Independent markers show nearby options; they are not assigned these profiles.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Keep the profile overview unchanged when viewing an individual school</a:t>
            </a:r>
            <a:r>
              <a:rPr lang="en-US" altLang="zh-HK" sz="1400" dirty="0"/>
              <a:t>’</a:t>
            </a:r>
            <a:r>
              <a:rPr lang="zh-HK" altLang="zh-HK" sz="1400" dirty="0"/>
              <a:t>s card.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Mark unclassified zones and missing values clearly.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School locations do not confirm enrolment eligibility.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Show sources, data years and the school-zone reference year.</a:t>
            </a: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D0EFDFED-0B32-93D9-2B4F-FE1876028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02" y="3020581"/>
            <a:ext cx="3275508" cy="2524660"/>
          </a:xfrm>
          <a:prstGeom prst="rect">
            <a:avLst/>
          </a:prstGeom>
        </p:spPr>
      </p:pic>
      <p:sp>
        <p:nvSpPr>
          <p:cNvPr id="61" name="矩形 60">
            <a:extLst>
              <a:ext uri="{FF2B5EF4-FFF2-40B4-BE49-F238E27FC236}">
                <a16:creationId xmlns:a16="http://schemas.microsoft.com/office/drawing/2014/main" id="{202D3610-64C3-CB68-6352-DFDE94D8F5C2}"/>
              </a:ext>
            </a:extLst>
          </p:cNvPr>
          <p:cNvSpPr/>
          <p:nvPr/>
        </p:nvSpPr>
        <p:spPr>
          <a:xfrm>
            <a:off x="93684" y="2544911"/>
            <a:ext cx="6096000" cy="40872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65" name="圖片 64">
            <a:extLst>
              <a:ext uri="{FF2B5EF4-FFF2-40B4-BE49-F238E27FC236}">
                <a16:creationId xmlns:a16="http://schemas.microsoft.com/office/drawing/2014/main" id="{32E0F473-40F1-D78B-B107-609C0B355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708" y="4095706"/>
            <a:ext cx="2766713" cy="7078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BE20E132-E35A-2236-29F7-92B340719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" y="7263676"/>
            <a:ext cx="3267501" cy="2518490"/>
          </a:xfrm>
          <a:prstGeom prst="rect">
            <a:avLst/>
          </a:prstGeom>
        </p:spPr>
      </p:pic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37D25D30-92D8-64FF-C743-C3D0EFD8AB1D}"/>
              </a:ext>
            </a:extLst>
          </p:cNvPr>
          <p:cNvCxnSpPr>
            <a:cxnSpLocks/>
          </p:cNvCxnSpPr>
          <p:nvPr/>
        </p:nvCxnSpPr>
        <p:spPr>
          <a:xfrm>
            <a:off x="2970202" y="7825179"/>
            <a:ext cx="1073419" cy="4076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8BB4A033-D8CC-037B-FE06-328CB0C5EBC2}"/>
              </a:ext>
            </a:extLst>
          </p:cNvPr>
          <p:cNvGrpSpPr/>
          <p:nvPr/>
        </p:nvGrpSpPr>
        <p:grpSpPr>
          <a:xfrm>
            <a:off x="236239" y="1156807"/>
            <a:ext cx="1523271" cy="1239635"/>
            <a:chOff x="6662426" y="284834"/>
            <a:chExt cx="1418307" cy="1213191"/>
          </a:xfrm>
        </p:grpSpPr>
        <p:pic>
          <p:nvPicPr>
            <p:cNvPr id="71" name="圖片 70">
              <a:extLst>
                <a:ext uri="{FF2B5EF4-FFF2-40B4-BE49-F238E27FC236}">
                  <a16:creationId xmlns:a16="http://schemas.microsoft.com/office/drawing/2014/main" id="{B6F3CA4B-653A-93B4-95AC-CE29FA21E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0614"/>
            <a:stretch>
              <a:fillRect/>
            </a:stretch>
          </p:blipFill>
          <p:spPr>
            <a:xfrm>
              <a:off x="6662426" y="284834"/>
              <a:ext cx="1418307" cy="1213191"/>
            </a:xfrm>
            <a:prstGeom prst="rect">
              <a:avLst/>
            </a:prstGeom>
          </p:spPr>
        </p:pic>
        <p:sp>
          <p:nvSpPr>
            <p:cNvPr id="72" name="流程圖: 接點 71">
              <a:extLst>
                <a:ext uri="{FF2B5EF4-FFF2-40B4-BE49-F238E27FC236}">
                  <a16:creationId xmlns:a16="http://schemas.microsoft.com/office/drawing/2014/main" id="{5B19778D-B23C-EE99-2B84-722C289AD926}"/>
                </a:ext>
              </a:extLst>
            </p:cNvPr>
            <p:cNvSpPr/>
            <p:nvPr/>
          </p:nvSpPr>
          <p:spPr>
            <a:xfrm>
              <a:off x="7448452" y="922892"/>
              <a:ext cx="200759" cy="188351"/>
            </a:xfrm>
            <a:prstGeom prst="flowChartConnector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  <p:sp>
          <p:nvSpPr>
            <p:cNvPr id="73" name="圖說文字: 直線 72">
              <a:extLst>
                <a:ext uri="{FF2B5EF4-FFF2-40B4-BE49-F238E27FC236}">
                  <a16:creationId xmlns:a16="http://schemas.microsoft.com/office/drawing/2014/main" id="{61D5F107-9561-955A-BC2F-B0D5C26FC782}"/>
                </a:ext>
              </a:extLst>
            </p:cNvPr>
            <p:cNvSpPr/>
            <p:nvPr/>
          </p:nvSpPr>
          <p:spPr>
            <a:xfrm flipH="1">
              <a:off x="7206636" y="659978"/>
              <a:ext cx="620037" cy="158301"/>
            </a:xfrm>
            <a:prstGeom prst="borderCallout1">
              <a:avLst>
                <a:gd name="adj1" fmla="val 69375"/>
                <a:gd name="adj2" fmla="val 16261"/>
                <a:gd name="adj3" fmla="val 222187"/>
                <a:gd name="adj4" fmla="val 41595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B280F1A4-20F7-183F-3235-5A4AB3CFF973}"/>
              </a:ext>
            </a:extLst>
          </p:cNvPr>
          <p:cNvGrpSpPr/>
          <p:nvPr/>
        </p:nvGrpSpPr>
        <p:grpSpPr>
          <a:xfrm>
            <a:off x="3262752" y="1209797"/>
            <a:ext cx="1671522" cy="1242445"/>
            <a:chOff x="6467731" y="2801152"/>
            <a:chExt cx="1457069" cy="1013663"/>
          </a:xfrm>
        </p:grpSpPr>
        <p:pic>
          <p:nvPicPr>
            <p:cNvPr id="75" name="圖片 74">
              <a:extLst>
                <a:ext uri="{FF2B5EF4-FFF2-40B4-BE49-F238E27FC236}">
                  <a16:creationId xmlns:a16="http://schemas.microsoft.com/office/drawing/2014/main" id="{B3A7727D-B7ED-DA3C-092F-B8BA36684D1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056"/>
            <a:stretch>
              <a:fillRect/>
            </a:stretch>
          </p:blipFill>
          <p:spPr>
            <a:xfrm>
              <a:off x="6467731" y="2801152"/>
              <a:ext cx="999595" cy="1013663"/>
            </a:xfrm>
            <a:prstGeom prst="rect">
              <a:avLst/>
            </a:prstGeom>
          </p:spPr>
        </p:pic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2FE8C64F-D8C0-E4B9-11CC-F9661986A0AF}"/>
                </a:ext>
              </a:extLst>
            </p:cNvPr>
            <p:cNvSpPr/>
            <p:nvPr/>
          </p:nvSpPr>
          <p:spPr>
            <a:xfrm>
              <a:off x="7323844" y="3102420"/>
              <a:ext cx="600956" cy="12415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sz="300" dirty="0">
                  <a:ln w="0"/>
                  <a:solidFill>
                    <a:schemeClr val="tx1"/>
                  </a:solidFill>
                </a:rPr>
                <a:t>School name+ type</a:t>
              </a:r>
              <a:br>
                <a:rPr lang="en-US" altLang="zh-HK" sz="300" dirty="0">
                  <a:ln w="0"/>
                  <a:solidFill>
                    <a:schemeClr val="tx1"/>
                  </a:solidFill>
                </a:rPr>
              </a:br>
              <a:r>
                <a:rPr lang="zh-HK" altLang="zh-HK" sz="300" b="1" dirty="0">
                  <a:solidFill>
                    <a:schemeClr val="tx1"/>
                  </a:solidFill>
                </a:rPr>
                <a:t>See its three-year trend</a:t>
              </a:r>
              <a:endParaRPr lang="zh-HK" altLang="en-US" sz="300" dirty="0">
                <a:solidFill>
                  <a:schemeClr val="tx1"/>
                </a:solidFill>
              </a:endParaRPr>
            </a:p>
          </p:txBody>
        </p:sp>
        <p:pic>
          <p:nvPicPr>
            <p:cNvPr id="77" name="圖片 76">
              <a:extLst>
                <a:ext uri="{FF2B5EF4-FFF2-40B4-BE49-F238E27FC236}">
                  <a16:creationId xmlns:a16="http://schemas.microsoft.com/office/drawing/2014/main" id="{53B7A985-65E9-92DA-44C5-5992509C7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027" t="24395" r="5900" b="21499"/>
            <a:stretch>
              <a:fillRect/>
            </a:stretch>
          </p:blipFill>
          <p:spPr>
            <a:xfrm>
              <a:off x="7328885" y="3243032"/>
              <a:ext cx="509749" cy="418248"/>
            </a:xfrm>
            <a:prstGeom prst="rect">
              <a:avLst/>
            </a:prstGeom>
          </p:spPr>
        </p:pic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6E61D675-4379-F5D6-8CE2-514FC34BB6F0}"/>
                </a:ext>
              </a:extLst>
            </p:cNvPr>
            <p:cNvSpPr/>
            <p:nvPr/>
          </p:nvSpPr>
          <p:spPr>
            <a:xfrm>
              <a:off x="7385303" y="3164497"/>
              <a:ext cx="37785" cy="45719"/>
            </a:xfrm>
            <a:prstGeom prst="rect">
              <a:avLst/>
            </a:prstGeom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9" name="手繪多邊形: 圖案 78">
              <a:extLst>
                <a:ext uri="{FF2B5EF4-FFF2-40B4-BE49-F238E27FC236}">
                  <a16:creationId xmlns:a16="http://schemas.microsoft.com/office/drawing/2014/main" id="{E6AD998E-4ADD-0790-8C8A-FBA3956AFF96}"/>
                </a:ext>
              </a:extLst>
            </p:cNvPr>
            <p:cNvSpPr/>
            <p:nvPr/>
          </p:nvSpPr>
          <p:spPr>
            <a:xfrm>
              <a:off x="7393781" y="3157538"/>
              <a:ext cx="47625" cy="43499"/>
            </a:xfrm>
            <a:custGeom>
              <a:avLst/>
              <a:gdLst>
                <a:gd name="csX0" fmla="*/ 0 w 47625"/>
                <a:gd name="csY0" fmla="*/ 28575 h 43499"/>
                <a:gd name="csX1" fmla="*/ 35719 w 47625"/>
                <a:gd name="csY1" fmla="*/ 14287 h 43499"/>
                <a:gd name="csX2" fmla="*/ 47625 w 47625"/>
                <a:gd name="csY2" fmla="*/ 0 h 43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43499">
                  <a:moveTo>
                    <a:pt x="0" y="28575"/>
                  </a:moveTo>
                  <a:cubicBezTo>
                    <a:pt x="4961" y="53372"/>
                    <a:pt x="-125" y="46358"/>
                    <a:pt x="35719" y="14287"/>
                  </a:cubicBezTo>
                  <a:cubicBezTo>
                    <a:pt x="40339" y="10153"/>
                    <a:pt x="47625" y="0"/>
                    <a:pt x="47625" y="0"/>
                  </a:cubicBezTo>
                </a:path>
              </a:pathLst>
            </a:cu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7A4F8D0-BD3C-50D5-5662-48CE2361CF51}"/>
              </a:ext>
            </a:extLst>
          </p:cNvPr>
          <p:cNvSpPr txBox="1"/>
          <p:nvPr/>
        </p:nvSpPr>
        <p:spPr>
          <a:xfrm>
            <a:off x="1731452" y="1427143"/>
            <a:ext cx="12387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HK" sz="800" dirty="0"/>
              <a:t>XXXXXXXXXXXXXXXXXXXXXXXXXXXXXXXXXXXXXXXXXXXXXXXXXXXXXXXXXXXXXXXXXXXXXXXXXXXXXXXXXXXXXXXXXXXXXXX</a:t>
            </a:r>
            <a:endParaRPr lang="zh-HK" altLang="zh-HK" sz="800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5BE04D03-327B-5D9C-D385-22ACA6D8B768}"/>
              </a:ext>
            </a:extLst>
          </p:cNvPr>
          <p:cNvSpPr txBox="1"/>
          <p:nvPr/>
        </p:nvSpPr>
        <p:spPr>
          <a:xfrm>
            <a:off x="5025908" y="1380778"/>
            <a:ext cx="10387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HK" sz="800" dirty="0"/>
              <a:t>XXXXXXXXXXXXXXXXXXXXXXXXXXXXXXXXXXXXXXXXXXXXXXXXXXXXXXXXXXXXXXXXXXXXXXXXXXXXXXXXXXXXXXXXXXXXXXX</a:t>
            </a:r>
            <a:endParaRPr lang="zh-HK" altLang="zh-HK" sz="800" dirty="0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A388907E-E5B1-2217-42BC-0A175A660D51}"/>
              </a:ext>
            </a:extLst>
          </p:cNvPr>
          <p:cNvSpPr txBox="1"/>
          <p:nvPr/>
        </p:nvSpPr>
        <p:spPr>
          <a:xfrm>
            <a:off x="732096" y="5978642"/>
            <a:ext cx="51952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900" dirty="0"/>
              <a:t>Look beyond one score. Consider student background, recent changes, suitable courses and current entry requirements.</a:t>
            </a:r>
            <a:r>
              <a:rPr lang="en-US" altLang="zh-HK" sz="900" dirty="0"/>
              <a:t>XXXXXXXXXXXXXXXXXXXXXXXXXXXXXXXXXXXXXXXXXXXXXXXXXXXXXXXXXXXXXXXXXXXXXXXXXXXXXXXXXXXXXXXXXXXXX+ Check list</a:t>
            </a:r>
            <a:endParaRPr lang="zh-HK" altLang="en-US" sz="900" dirty="0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D9F7799-FD56-6547-C9EF-599C1FE8D980}"/>
              </a:ext>
            </a:extLst>
          </p:cNvPr>
          <p:cNvSpPr/>
          <p:nvPr/>
        </p:nvSpPr>
        <p:spPr>
          <a:xfrm>
            <a:off x="91634" y="845771"/>
            <a:ext cx="6096000" cy="17131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05D3076-6B0B-413D-28E4-CF4FDEF634CB}"/>
              </a:ext>
            </a:extLst>
          </p:cNvPr>
          <p:cNvSpPr txBox="1"/>
          <p:nvPr/>
        </p:nvSpPr>
        <p:spPr>
          <a:xfrm>
            <a:off x="207347" y="11499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1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8C805EE1-884D-F40A-7573-437D051EF831}"/>
              </a:ext>
            </a:extLst>
          </p:cNvPr>
          <p:cNvSpPr txBox="1"/>
          <p:nvPr/>
        </p:nvSpPr>
        <p:spPr>
          <a:xfrm>
            <a:off x="6774931" y="1372253"/>
            <a:ext cx="281659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A grouped dot plot shows school results across Gov, Cath</a:t>
            </a:r>
            <a:r>
              <a:rPr lang="en-US" altLang="zh-HK" sz="1200" dirty="0"/>
              <a:t> </a:t>
            </a:r>
            <a:r>
              <a:rPr lang="zh-HK" altLang="zh-HK" sz="1200" dirty="0"/>
              <a:t>and Independent schools.</a:t>
            </a:r>
          </a:p>
          <a:p>
            <a:pPr>
              <a:buNone/>
            </a:pPr>
            <a:r>
              <a:rPr lang="zh-HK" altLang="zh-HK" sz="1200" dirty="0"/>
              <a:t>Results vary within each sector. Government schools also have a range of results.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906ADDCA-9733-7AAB-0A23-6FC7E23E0596}"/>
              </a:ext>
            </a:extLst>
          </p:cNvPr>
          <p:cNvSpPr txBox="1"/>
          <p:nvPr/>
        </p:nvSpPr>
        <p:spPr>
          <a:xfrm>
            <a:off x="6494764" y="128020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1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98E33560-629E-920A-9965-B7C33EF18E07}"/>
              </a:ext>
            </a:extLst>
          </p:cNvPr>
          <p:cNvSpPr txBox="1"/>
          <p:nvPr/>
        </p:nvSpPr>
        <p:spPr>
          <a:xfrm>
            <a:off x="6851776" y="2620333"/>
            <a:ext cx="275767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A scatter plot shows ICSEA and school results.</a:t>
            </a:r>
            <a:endParaRPr lang="en-US" altLang="zh-HK" sz="1200" dirty="0"/>
          </a:p>
          <a:p>
            <a:pPr>
              <a:buNone/>
            </a:pPr>
            <a:r>
              <a:rPr lang="zh-HK" altLang="zh-HK" sz="1200" dirty="0"/>
              <a:t>Student background helps us understand school results. ICSEA describes students</a:t>
            </a:r>
            <a:r>
              <a:rPr lang="en-US" altLang="zh-HK" sz="1200" dirty="0"/>
              <a:t>’ </a:t>
            </a:r>
            <a:r>
              <a:rPr lang="zh-HK" altLang="zh-HK" sz="1200" dirty="0"/>
              <a:t>socio-educational background</a:t>
            </a:r>
            <a:r>
              <a:rPr lang="en-US" altLang="zh-HK" sz="1200" dirty="0"/>
              <a:t>, </a:t>
            </a:r>
            <a:r>
              <a:rPr lang="zh-HK" altLang="zh-HK" sz="1200" dirty="0"/>
              <a:t>not school quality. Association does not prove causation.</a:t>
            </a:r>
            <a:endParaRPr lang="en-US" altLang="zh-HK" sz="1200" dirty="0"/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98499886-D499-9F15-EA11-6DBE4359B4AA}"/>
              </a:ext>
            </a:extLst>
          </p:cNvPr>
          <p:cNvSpPr txBox="1"/>
          <p:nvPr/>
        </p:nvSpPr>
        <p:spPr>
          <a:xfrm>
            <a:off x="6406509" y="26945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2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EED3CE2E-3A7B-9E58-5D98-11F6A694F80A}"/>
              </a:ext>
            </a:extLst>
          </p:cNvPr>
          <p:cNvSpPr txBox="1"/>
          <p:nvPr/>
        </p:nvSpPr>
        <p:spPr>
          <a:xfrm>
            <a:off x="3221282" y="125208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2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9EA261A-4C5E-4935-1374-5897C21BDA2A}"/>
              </a:ext>
            </a:extLst>
          </p:cNvPr>
          <p:cNvSpPr txBox="1"/>
          <p:nvPr/>
        </p:nvSpPr>
        <p:spPr>
          <a:xfrm>
            <a:off x="6498577" y="4917665"/>
            <a:ext cx="284669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dirty="0"/>
              <a:t>Choose an SA4 to explore its schools and linked school zones. Select a profile to highlight matching school zones, then hover over a school marker to read its details.</a:t>
            </a:r>
            <a:endParaRPr lang="zh-HK" altLang="en-US" sz="12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57E9399-9F58-7945-F578-F51FFB3E1788}"/>
              </a:ext>
            </a:extLst>
          </p:cNvPr>
          <p:cNvSpPr txBox="1"/>
          <p:nvPr/>
        </p:nvSpPr>
        <p:spPr>
          <a:xfrm>
            <a:off x="338680" y="28002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3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09773A63-4E20-0EEA-D45A-0E606C3581DE}"/>
              </a:ext>
            </a:extLst>
          </p:cNvPr>
          <p:cNvSpPr txBox="1"/>
          <p:nvPr/>
        </p:nvSpPr>
        <p:spPr>
          <a:xfrm>
            <a:off x="1968718" y="56086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4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ED0D1870-6FC1-1CB3-078A-BDC0D832B6CA}"/>
              </a:ext>
            </a:extLst>
          </p:cNvPr>
          <p:cNvSpPr txBox="1"/>
          <p:nvPr/>
        </p:nvSpPr>
        <p:spPr>
          <a:xfrm>
            <a:off x="1163937" y="2694988"/>
            <a:ext cx="101402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600" dirty="0">
                <a:latin typeface="Elephant" panose="02020904090505020303" pitchFamily="18" charset="0"/>
              </a:rPr>
              <a:t>Explore the area you are considering</a:t>
            </a:r>
            <a:endParaRPr lang="zh-HK" altLang="en-US" sz="1600" dirty="0">
              <a:latin typeface="Elephant" panose="02020904090505020303" pitchFamily="18" charset="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2BF9D15-5394-8370-9633-FB6BB2F86CC2}"/>
              </a:ext>
            </a:extLst>
          </p:cNvPr>
          <p:cNvSpPr txBox="1"/>
          <p:nvPr/>
        </p:nvSpPr>
        <p:spPr>
          <a:xfrm>
            <a:off x="549369" y="866017"/>
            <a:ext cx="58104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600" dirty="0">
                <a:latin typeface="Elephant" panose="02020904090505020303" pitchFamily="18" charset="0"/>
                <a:ea typeface="HGMinchoE" panose="02020809000000000000" pitchFamily="49" charset="-128"/>
              </a:rPr>
              <a:t>Choosing a School Zone? Look Beyond the Score.</a:t>
            </a:r>
            <a:endParaRPr lang="zh-HK" altLang="en-US" sz="1600" dirty="0">
              <a:latin typeface="Elephant" panose="02020904090505020303" pitchFamily="18" charset="0"/>
              <a:ea typeface="HGMinchoE" panose="02020809000000000000" pitchFamily="49" charset="-128"/>
            </a:endParaRPr>
          </a:p>
        </p:txBody>
      </p:sp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CE38FC86-F78A-B24C-4459-8359FF8D49F6}"/>
              </a:ext>
            </a:extLst>
          </p:cNvPr>
          <p:cNvGrpSpPr/>
          <p:nvPr/>
        </p:nvGrpSpPr>
        <p:grpSpPr>
          <a:xfrm>
            <a:off x="4132958" y="7616910"/>
            <a:ext cx="1457109" cy="1323776"/>
            <a:chOff x="4132958" y="7616910"/>
            <a:chExt cx="1457109" cy="1323776"/>
          </a:xfrm>
        </p:grpSpPr>
        <p:pic>
          <p:nvPicPr>
            <p:cNvPr id="119" name="圖片 118">
              <a:extLst>
                <a:ext uri="{FF2B5EF4-FFF2-40B4-BE49-F238E27FC236}">
                  <a16:creationId xmlns:a16="http://schemas.microsoft.com/office/drawing/2014/main" id="{D821879F-305F-66C8-665B-8CB579974D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alphaModFix amt="97000"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Photocopy/>
                      </a14:imgEffect>
                      <a14:imgEffect>
                        <a14:colorTemperature colorTemp="6600"/>
                      </a14:imgEffect>
                      <a14:imgEffect>
                        <a14:brightnessContrast bright="1000" contrast="4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132958" y="7616910"/>
              <a:ext cx="1457109" cy="132377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3EDCBE17-4DCA-85C4-2305-012D2D4C5AD5}"/>
                    </a:ext>
                  </a:extLst>
                </p14:cNvPr>
                <p14:cNvContentPartPr/>
                <p14:nvPr/>
              </p14:nvContentPartPr>
              <p14:xfrm>
                <a:off x="4599274" y="7806428"/>
                <a:ext cx="217440" cy="95760"/>
              </p14:xfrm>
            </p:contentPart>
          </mc:Choice>
          <mc:Fallback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3EDCBE17-4DCA-85C4-2305-012D2D4C5AD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45274" y="7698788"/>
                  <a:ext cx="3250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6D5939FE-1C5A-0FFE-19E0-EC805DAB0906}"/>
                    </a:ext>
                  </a:extLst>
                </p14:cNvPr>
                <p14:cNvContentPartPr/>
                <p14:nvPr/>
              </p14:nvContentPartPr>
              <p14:xfrm>
                <a:off x="5158714" y="8051948"/>
                <a:ext cx="194040" cy="302400"/>
              </p14:xfrm>
            </p:contentPart>
          </mc:Choice>
          <mc:Fallback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6D5939FE-1C5A-0FFE-19E0-EC805DAB090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04714" y="7944308"/>
                  <a:ext cx="301680" cy="5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131F86D8-3695-52DA-4E60-550D8A616C50}"/>
                    </a:ext>
                  </a:extLst>
                </p14:cNvPr>
                <p14:cNvContentPartPr/>
                <p14:nvPr/>
              </p14:nvContentPartPr>
              <p14:xfrm>
                <a:off x="4667314" y="8461268"/>
                <a:ext cx="394560" cy="139680"/>
              </p14:xfrm>
            </p:contentPart>
          </mc:Choice>
          <mc:Fallback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131F86D8-3695-52DA-4E60-550D8A616C5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13674" y="8353628"/>
                  <a:ext cx="502200" cy="35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69146E7C-9F94-4DD9-5682-514CCE9655CB}"/>
              </a:ext>
            </a:extLst>
          </p:cNvPr>
          <p:cNvGrpSpPr/>
          <p:nvPr/>
        </p:nvGrpSpPr>
        <p:grpSpPr>
          <a:xfrm>
            <a:off x="6528836" y="7045048"/>
            <a:ext cx="3077004" cy="1867161"/>
            <a:chOff x="6531645" y="7825179"/>
            <a:chExt cx="3077004" cy="1867161"/>
          </a:xfrm>
        </p:grpSpPr>
        <p:pic>
          <p:nvPicPr>
            <p:cNvPr id="63" name="圖片 62">
              <a:extLst>
                <a:ext uri="{FF2B5EF4-FFF2-40B4-BE49-F238E27FC236}">
                  <a16:creationId xmlns:a16="http://schemas.microsoft.com/office/drawing/2014/main" id="{69564557-C499-22BE-8F65-C0795E96D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31645" y="7825179"/>
              <a:ext cx="3077004" cy="186716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34" name="筆跡 133">
                  <a:extLst>
                    <a:ext uri="{FF2B5EF4-FFF2-40B4-BE49-F238E27FC236}">
                      <a16:creationId xmlns:a16="http://schemas.microsoft.com/office/drawing/2014/main" id="{90C80B9C-98A8-9E96-AB62-778C76B8C867}"/>
                    </a:ext>
                  </a:extLst>
                </p14:cNvPr>
                <p14:cNvContentPartPr/>
                <p14:nvPr/>
              </p14:nvContentPartPr>
              <p14:xfrm>
                <a:off x="7085794" y="8445428"/>
                <a:ext cx="516960" cy="645480"/>
              </p14:xfrm>
            </p:contentPart>
          </mc:Choice>
          <mc:Fallback>
            <p:pic>
              <p:nvPicPr>
                <p:cNvPr id="134" name="筆跡 133">
                  <a:extLst>
                    <a:ext uri="{FF2B5EF4-FFF2-40B4-BE49-F238E27FC236}">
                      <a16:creationId xmlns:a16="http://schemas.microsoft.com/office/drawing/2014/main" id="{90C80B9C-98A8-9E96-AB62-778C76B8C86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032154" y="8337788"/>
                  <a:ext cx="624600" cy="86112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35" name="流程圖: 接點 134">
              <a:extLst>
                <a:ext uri="{FF2B5EF4-FFF2-40B4-BE49-F238E27FC236}">
                  <a16:creationId xmlns:a16="http://schemas.microsoft.com/office/drawing/2014/main" id="{84B2AD43-CE2C-2390-02FB-210688C69E04}"/>
                </a:ext>
              </a:extLst>
            </p:cNvPr>
            <p:cNvSpPr/>
            <p:nvPr/>
          </p:nvSpPr>
          <p:spPr>
            <a:xfrm>
              <a:off x="7267410" y="8693636"/>
              <a:ext cx="258480" cy="268387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0F2ED9D-BE45-15C6-BC24-A1C512FE6281}"/>
              </a:ext>
            </a:extLst>
          </p:cNvPr>
          <p:cNvSpPr txBox="1"/>
          <p:nvPr/>
        </p:nvSpPr>
        <p:spPr>
          <a:xfrm>
            <a:off x="7270701" y="6782725"/>
            <a:ext cx="23208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HK" sz="1200" dirty="0"/>
              <a:t>Available to select all school type, not just Gov school</a:t>
            </a:r>
            <a:endParaRPr lang="zh-HK" altLang="zh-HK" sz="1200" dirty="0"/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BA3DF97-61C0-CD3E-5902-B2496C681321}"/>
              </a:ext>
            </a:extLst>
          </p:cNvPr>
          <p:cNvSpPr txBox="1"/>
          <p:nvPr/>
        </p:nvSpPr>
        <p:spPr>
          <a:xfrm>
            <a:off x="3113093" y="9067006"/>
            <a:ext cx="603090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b="1" dirty="0"/>
              <a:t>1. Select an SA4</a:t>
            </a:r>
            <a:r>
              <a:rPr lang="en-US" altLang="zh-HK" sz="1200" b="1" dirty="0"/>
              <a:t>: </a:t>
            </a:r>
            <a:r>
              <a:rPr lang="zh-HK" altLang="zh-HK" sz="1200" dirty="0"/>
              <a:t>Highlight the selected area and show its school zones and school markers.</a:t>
            </a:r>
          </a:p>
          <a:p>
            <a:pPr>
              <a:buNone/>
            </a:pPr>
            <a:r>
              <a:rPr lang="zh-HK" altLang="zh-HK" sz="1200" b="1" dirty="0"/>
              <a:t>2. Select a profile</a:t>
            </a:r>
            <a:r>
              <a:rPr lang="en-US" altLang="zh-HK" sz="1200" b="1" dirty="0"/>
              <a:t>: </a:t>
            </a:r>
            <a:r>
              <a:rPr lang="zh-HK" altLang="zh-HK" sz="1200" dirty="0"/>
              <a:t>Highlight matching government-school zones. Keep the profile overview </a:t>
            </a:r>
            <a:r>
              <a:rPr lang="en-US" altLang="zh-HK" sz="1200" dirty="0"/>
              <a:t>	        </a:t>
            </a:r>
            <a:r>
              <a:rPr lang="zh-HK" altLang="zh-HK" sz="1200" dirty="0"/>
              <a:t>visible while other school markers remain available for context.</a:t>
            </a:r>
          </a:p>
          <a:p>
            <a:pPr>
              <a:buNone/>
            </a:pPr>
            <a:r>
              <a:rPr lang="zh-HK" altLang="zh-HK" sz="1200" b="1" dirty="0"/>
              <a:t>3. Reveal a school</a:t>
            </a:r>
            <a:r>
              <a:rPr lang="en-US" altLang="zh-HK" sz="1200" b="1" dirty="0"/>
              <a:t>’</a:t>
            </a:r>
            <a:r>
              <a:rPr lang="zh-HK" altLang="zh-HK" sz="1200" b="1" dirty="0"/>
              <a:t>s details</a:t>
            </a:r>
            <a:r>
              <a:rPr lang="en-US" altLang="zh-HK" sz="1200" b="1" dirty="0"/>
              <a:t>: </a:t>
            </a:r>
            <a:r>
              <a:rPr lang="zh-HK" altLang="zh-HK" sz="1200" dirty="0"/>
              <a:t>Hover over a school marker to show a white information card. </a:t>
            </a:r>
            <a:r>
              <a:rPr lang="en-US" altLang="zh-HK" sz="1200" dirty="0"/>
              <a:t>	                         </a:t>
            </a:r>
            <a:r>
              <a:rPr lang="zh-HK" altLang="zh-HK" sz="1200" dirty="0"/>
              <a:t>Click or tap to keep it open, then close it to return to the map.</a:t>
            </a:r>
          </a:p>
        </p:txBody>
      </p: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E5480B76-2673-84CC-5414-3B50CEF6B666}"/>
              </a:ext>
            </a:extLst>
          </p:cNvPr>
          <p:cNvCxnSpPr>
            <a:cxnSpLocks/>
            <a:endCxn id="135" idx="2"/>
          </p:cNvCxnSpPr>
          <p:nvPr/>
        </p:nvCxnSpPr>
        <p:spPr>
          <a:xfrm>
            <a:off x="4738424" y="7882990"/>
            <a:ext cx="2526177" cy="16470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1529EF60-CF94-4719-65D0-D6130C5D7DC8}"/>
              </a:ext>
            </a:extLst>
          </p:cNvPr>
          <p:cNvCxnSpPr>
            <a:cxnSpLocks/>
          </p:cNvCxnSpPr>
          <p:nvPr/>
        </p:nvCxnSpPr>
        <p:spPr>
          <a:xfrm>
            <a:off x="857918" y="7453669"/>
            <a:ext cx="330326" cy="32648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638884BD-E0DF-519B-52E8-429591DC5A5A}"/>
              </a:ext>
            </a:extLst>
          </p:cNvPr>
          <p:cNvSpPr txBox="1"/>
          <p:nvPr/>
        </p:nvSpPr>
        <p:spPr>
          <a:xfrm>
            <a:off x="748398" y="72837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1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C314B569-FA1C-F843-AB17-137D1E2EEA51}"/>
              </a:ext>
            </a:extLst>
          </p:cNvPr>
          <p:cNvSpPr txBox="1"/>
          <p:nvPr/>
        </p:nvSpPr>
        <p:spPr>
          <a:xfrm>
            <a:off x="2668516" y="71195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2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A9259CD2-1245-11ED-2114-84191BD13A64}"/>
              </a:ext>
            </a:extLst>
          </p:cNvPr>
          <p:cNvSpPr txBox="1"/>
          <p:nvPr/>
        </p:nvSpPr>
        <p:spPr>
          <a:xfrm>
            <a:off x="7190622" y="71440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3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CCD086BA-6DE0-D1CB-96DE-8B5F008B3EC3}"/>
              </a:ext>
            </a:extLst>
          </p:cNvPr>
          <p:cNvSpPr txBox="1"/>
          <p:nvPr/>
        </p:nvSpPr>
        <p:spPr>
          <a:xfrm>
            <a:off x="4023116" y="3198039"/>
            <a:ext cx="10387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HK" sz="800" dirty="0"/>
              <a:t>XXXXXXXXXXXXXXXXXXXXXXXXXXXXXXXXXXXXXXXXXXXXXXXXXXXXXXXXXXXXXXXXXXXXXXXXXXXXXXXXXXXXXXXXXXXXXXX</a:t>
            </a:r>
            <a:endParaRPr lang="zh-HK" altLang="zh-HK" sz="800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8C501566-9991-B7C5-CCEE-C21739946AC2}"/>
              </a:ext>
            </a:extLst>
          </p:cNvPr>
          <p:cNvSpPr txBox="1"/>
          <p:nvPr/>
        </p:nvSpPr>
        <p:spPr>
          <a:xfrm>
            <a:off x="4010989" y="4483521"/>
            <a:ext cx="10387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HK" sz="800" dirty="0"/>
              <a:t>XXXXXXXXXXXXXXXXXXXXXXXXXXXXXXXXXXXXXXXXXXXXXXXXXXXXXXXXXXXXXXXXXXXXXXXXXXXXXXXXXXXXXXXXXXXXXXX</a:t>
            </a:r>
            <a:endParaRPr lang="zh-HK" altLang="zh-HK" sz="800" dirty="0"/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87000DFF-3F55-E353-DC01-BB8C18FA2119}"/>
              </a:ext>
            </a:extLst>
          </p:cNvPr>
          <p:cNvSpPr txBox="1"/>
          <p:nvPr/>
        </p:nvSpPr>
        <p:spPr>
          <a:xfrm>
            <a:off x="2232873" y="5628040"/>
            <a:ext cx="26679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HK" sz="1600" dirty="0">
                <a:latin typeface="Elephant" panose="02020904090505020303" pitchFamily="18" charset="0"/>
                <a:ea typeface="HGMinchoE" panose="02020809000000000000" pitchFamily="49" charset="-128"/>
              </a:rPr>
              <a:t>Before you move……</a:t>
            </a:r>
            <a:endParaRPr lang="zh-HK" altLang="en-US" sz="1600" dirty="0">
              <a:latin typeface="Elephant" panose="02020904090505020303" pitchFamily="18" charset="0"/>
              <a:ea typeface="HGMinchoE" panose="02020809000000000000" pitchFamily="49" charset="-128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E2553589-F62A-9C6E-6E10-BDAD1DDAF35C}"/>
              </a:ext>
            </a:extLst>
          </p:cNvPr>
          <p:cNvSpPr txBox="1"/>
          <p:nvPr/>
        </p:nvSpPr>
        <p:spPr>
          <a:xfrm>
            <a:off x="6600525" y="6124740"/>
            <a:ext cx="23208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/>
              <a:t>closing reminder</a:t>
            </a:r>
            <a:br>
              <a:rPr lang="en-US" altLang="zh-HK" sz="1400" dirty="0"/>
            </a:br>
            <a:r>
              <a:rPr lang="zh-HK" altLang="zh-HK" sz="1400" dirty="0"/>
              <a:t> </a:t>
            </a:r>
            <a:endParaRPr lang="zh-HK" altLang="en-US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83099604-D2A3-17EA-A11A-250650C9EFD3}"/>
              </a:ext>
            </a:extLst>
          </p:cNvPr>
          <p:cNvSpPr txBox="1"/>
          <p:nvPr/>
        </p:nvSpPr>
        <p:spPr>
          <a:xfrm>
            <a:off x="6293422" y="40754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3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B0DB7A10-31CD-774A-E66F-FA6D245BC153}"/>
              </a:ext>
            </a:extLst>
          </p:cNvPr>
          <p:cNvSpPr txBox="1"/>
          <p:nvPr/>
        </p:nvSpPr>
        <p:spPr>
          <a:xfrm>
            <a:off x="6386533" y="602163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4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2C410AD7-6070-0135-FC33-9B67B9C97D16}"/>
              </a:ext>
            </a:extLst>
          </p:cNvPr>
          <p:cNvSpPr txBox="1"/>
          <p:nvPr/>
        </p:nvSpPr>
        <p:spPr>
          <a:xfrm>
            <a:off x="6817537" y="55567"/>
            <a:ext cx="290383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>
                <a:highlight>
                  <a:srgbClr val="FFFF00"/>
                </a:highlight>
              </a:rPr>
              <a:t>Before moving for a school zone, look beyond the latest score. Read the overview, then choose an SA4 region to explore schools, their profiles and linked zones.</a:t>
            </a:r>
            <a:endParaRPr lang="zh-HK" altLang="en-US" sz="1400" dirty="0">
              <a:highlight>
                <a:srgbClr val="FFFF00"/>
              </a:highlight>
            </a:endParaRP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42602685-B909-E1DF-D181-E04B4FDDED04}"/>
              </a:ext>
            </a:extLst>
          </p:cNvPr>
          <p:cNvSpPr txBox="1"/>
          <p:nvPr/>
        </p:nvSpPr>
        <p:spPr>
          <a:xfrm>
            <a:off x="13975813" y="1746001"/>
            <a:ext cx="4140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b="1" dirty="0"/>
              <a:t>Sources:</a:t>
            </a:r>
            <a:r>
              <a:rPr lang="zh-HK" altLang="zh-HK" sz="1200" dirty="0"/>
              <a:t> VCAA school results (2023–2025); ACARA My School background data (2025); Victorian Department of Education school zones (2026). See “About the data” for details.</a:t>
            </a:r>
            <a:endParaRPr lang="zh-HK" altLang="en-US" sz="1200" dirty="0"/>
          </a:p>
        </p:txBody>
      </p:sp>
      <p:grpSp>
        <p:nvGrpSpPr>
          <p:cNvPr id="178" name="群組 177">
            <a:extLst>
              <a:ext uri="{FF2B5EF4-FFF2-40B4-BE49-F238E27FC236}">
                <a16:creationId xmlns:a16="http://schemas.microsoft.com/office/drawing/2014/main" id="{7FECC2DA-EEE9-A6FD-E9F4-008CFB2F4D77}"/>
              </a:ext>
            </a:extLst>
          </p:cNvPr>
          <p:cNvGrpSpPr/>
          <p:nvPr/>
        </p:nvGrpSpPr>
        <p:grpSpPr>
          <a:xfrm>
            <a:off x="4128662" y="2236704"/>
            <a:ext cx="2688684" cy="281731"/>
            <a:chOff x="2913981" y="6309815"/>
            <a:chExt cx="3425925" cy="281202"/>
          </a:xfrm>
        </p:grpSpPr>
        <p:pic>
          <p:nvPicPr>
            <p:cNvPr id="175" name="圖片 174">
              <a:extLst>
                <a:ext uri="{FF2B5EF4-FFF2-40B4-BE49-F238E27FC236}">
                  <a16:creationId xmlns:a16="http://schemas.microsoft.com/office/drawing/2014/main" id="{DDB6618C-AB12-0098-B9BE-CBB9FFCA9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913981" y="6309815"/>
              <a:ext cx="272689" cy="267055"/>
            </a:xfrm>
            <a:prstGeom prst="rect">
              <a:avLst/>
            </a:prstGeom>
          </p:spPr>
        </p:pic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DD65CA5D-AD70-B479-1247-DE793616AFFB}"/>
                </a:ext>
              </a:extLst>
            </p:cNvPr>
            <p:cNvSpPr txBox="1"/>
            <p:nvPr/>
          </p:nvSpPr>
          <p:spPr>
            <a:xfrm>
              <a:off x="3068405" y="6329407"/>
              <a:ext cx="3271501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HK" sz="1100" dirty="0"/>
                <a:t>About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the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data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and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data</a:t>
              </a:r>
              <a:r>
                <a:rPr lang="zh-TW" altLang="en-US" sz="1100" dirty="0"/>
                <a:t> </a:t>
              </a:r>
              <a:r>
                <a:rPr lang="en-US" altLang="zh-TW" sz="1100" dirty="0"/>
                <a:t>source</a:t>
              </a:r>
              <a:endParaRPr lang="zh-HK" altLang="en-US" sz="14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-25321" y="77593"/>
            <a:ext cx="12591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Layout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95177" y="5989375"/>
            <a:ext cx="8592823" cy="4297625"/>
            <a:chOff x="0" y="0"/>
            <a:chExt cx="2263130" cy="11318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63130" cy="1131885"/>
            </a:xfrm>
            <a:custGeom>
              <a:avLst/>
              <a:gdLst/>
              <a:ahLst/>
              <a:cxnLst/>
              <a:rect l="l" t="t" r="r" b="b"/>
              <a:pathLst>
                <a:path w="2263130" h="1131885">
                  <a:moveTo>
                    <a:pt x="0" y="0"/>
                  </a:moveTo>
                  <a:lnTo>
                    <a:pt x="2263130" y="0"/>
                  </a:lnTo>
                  <a:lnTo>
                    <a:pt x="2263130" y="1131885"/>
                  </a:lnTo>
                  <a:lnTo>
                    <a:pt x="0" y="1131885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263130" cy="11699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95177" y="1672088"/>
            <a:ext cx="8592823" cy="4317287"/>
            <a:chOff x="0" y="0"/>
            <a:chExt cx="2263130" cy="113706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63130" cy="1137063"/>
            </a:xfrm>
            <a:custGeom>
              <a:avLst/>
              <a:gdLst/>
              <a:ahLst/>
              <a:cxnLst/>
              <a:rect l="l" t="t" r="r" b="b"/>
              <a:pathLst>
                <a:path w="2263130" h="1137063">
                  <a:moveTo>
                    <a:pt x="0" y="0"/>
                  </a:moveTo>
                  <a:lnTo>
                    <a:pt x="2263130" y="0"/>
                  </a:lnTo>
                  <a:lnTo>
                    <a:pt x="2263130" y="1137063"/>
                  </a:lnTo>
                  <a:lnTo>
                    <a:pt x="0" y="1137063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263130" cy="1175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662014" y="1794337"/>
            <a:ext cx="188778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47017" y="6098370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Details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780580" y="117927"/>
            <a:ext cx="82532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80580" y="652888"/>
            <a:ext cx="129404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56940" y="652888"/>
            <a:ext cx="9972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6218036" y="652888"/>
            <a:ext cx="115556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80580" y="1189612"/>
            <a:ext cx="1294046" cy="297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B9EB677F-AEC9-A614-ABB3-B511597AAA2F}"/>
              </a:ext>
            </a:extLst>
          </p:cNvPr>
          <p:cNvGrpSpPr/>
          <p:nvPr/>
        </p:nvGrpSpPr>
        <p:grpSpPr>
          <a:xfrm>
            <a:off x="319310" y="1787562"/>
            <a:ext cx="401054" cy="2103956"/>
            <a:chOff x="284746" y="652888"/>
            <a:chExt cx="533474" cy="3077004"/>
          </a:xfrm>
        </p:grpSpPr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4A3CC175-C1C5-40B9-AC40-54AC0D6F9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4746" y="652888"/>
              <a:ext cx="533474" cy="3077004"/>
            </a:xfrm>
            <a:prstGeom prst="rect">
              <a:avLst/>
            </a:prstGeom>
          </p:spPr>
        </p:pic>
        <p:pic>
          <p:nvPicPr>
            <p:cNvPr id="40" name="圖片 39" descr="HOME LOGO 的圖片結果">
              <a:extLst>
                <a:ext uri="{FF2B5EF4-FFF2-40B4-BE49-F238E27FC236}">
                  <a16:creationId xmlns:a16="http://schemas.microsoft.com/office/drawing/2014/main" id="{74498290-8733-3325-E5F9-39416AB4BF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5841" y="723212"/>
              <a:ext cx="502379" cy="504854"/>
            </a:xfrm>
            <a:prstGeom prst="rect">
              <a:avLst/>
            </a:prstGeom>
          </p:spPr>
        </p:pic>
      </p:grpSp>
      <p:sp>
        <p:nvSpPr>
          <p:cNvPr id="49" name="矩形 48">
            <a:extLst>
              <a:ext uri="{FF2B5EF4-FFF2-40B4-BE49-F238E27FC236}">
                <a16:creationId xmlns:a16="http://schemas.microsoft.com/office/drawing/2014/main" id="{C1B4FDA3-0253-F358-39CB-0B22BF1A53F1}"/>
              </a:ext>
            </a:extLst>
          </p:cNvPr>
          <p:cNvSpPr/>
          <p:nvPr/>
        </p:nvSpPr>
        <p:spPr>
          <a:xfrm>
            <a:off x="188640" y="1352491"/>
            <a:ext cx="4840560" cy="266489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grpSp>
        <p:nvGrpSpPr>
          <p:cNvPr id="123" name="群組 122">
            <a:extLst>
              <a:ext uri="{FF2B5EF4-FFF2-40B4-BE49-F238E27FC236}">
                <a16:creationId xmlns:a16="http://schemas.microsoft.com/office/drawing/2014/main" id="{714A6859-BEC1-E017-14A3-8517AD5A7DDD}"/>
              </a:ext>
            </a:extLst>
          </p:cNvPr>
          <p:cNvGrpSpPr/>
          <p:nvPr/>
        </p:nvGrpSpPr>
        <p:grpSpPr>
          <a:xfrm>
            <a:off x="3476280" y="3738015"/>
            <a:ext cx="2597018" cy="215444"/>
            <a:chOff x="3476280" y="3738015"/>
            <a:chExt cx="2597018" cy="215444"/>
          </a:xfrm>
        </p:grpSpPr>
        <p:pic>
          <p:nvPicPr>
            <p:cNvPr id="51" name="圖片 50">
              <a:extLst>
                <a:ext uri="{FF2B5EF4-FFF2-40B4-BE49-F238E27FC236}">
                  <a16:creationId xmlns:a16="http://schemas.microsoft.com/office/drawing/2014/main" id="{B40CCF92-A9DA-E99A-6058-44B6AC7E73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76280" y="3765523"/>
              <a:ext cx="121193" cy="151518"/>
            </a:xfrm>
            <a:prstGeom prst="rect">
              <a:avLst/>
            </a:prstGeom>
          </p:spPr>
        </p:pic>
        <p:sp>
          <p:nvSpPr>
            <p:cNvPr id="53" name="文字方塊 52">
              <a:extLst>
                <a:ext uri="{FF2B5EF4-FFF2-40B4-BE49-F238E27FC236}">
                  <a16:creationId xmlns:a16="http://schemas.microsoft.com/office/drawing/2014/main" id="{3E7DFEBB-8080-8F77-CB80-7A9F0A5F66D1}"/>
                </a:ext>
              </a:extLst>
            </p:cNvPr>
            <p:cNvSpPr txBox="1"/>
            <p:nvPr/>
          </p:nvSpPr>
          <p:spPr>
            <a:xfrm>
              <a:off x="3505807" y="3738015"/>
              <a:ext cx="2567491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HK" sz="800" dirty="0"/>
                <a:t>About</a:t>
              </a:r>
              <a:r>
                <a:rPr lang="zh-TW" altLang="en-US" sz="800" dirty="0"/>
                <a:t> </a:t>
              </a:r>
              <a:r>
                <a:rPr lang="en-US" altLang="zh-TW" sz="800" dirty="0"/>
                <a:t>the</a:t>
              </a:r>
              <a:r>
                <a:rPr lang="zh-TW" altLang="en-US" sz="800" dirty="0"/>
                <a:t> </a:t>
              </a:r>
              <a:r>
                <a:rPr lang="en-US" altLang="zh-TW" sz="800" dirty="0"/>
                <a:t>data</a:t>
              </a:r>
              <a:r>
                <a:rPr lang="zh-TW" altLang="en-US" sz="800" dirty="0"/>
                <a:t> </a:t>
              </a:r>
              <a:r>
                <a:rPr lang="en-US" altLang="zh-TW" sz="800" dirty="0"/>
                <a:t>and</a:t>
              </a:r>
              <a:r>
                <a:rPr lang="zh-TW" altLang="en-US" sz="800" dirty="0"/>
                <a:t> </a:t>
              </a:r>
              <a:r>
                <a:rPr lang="en-US" altLang="zh-TW" sz="800" dirty="0"/>
                <a:t>data</a:t>
              </a:r>
              <a:r>
                <a:rPr lang="zh-TW" altLang="en-US" sz="800" dirty="0"/>
                <a:t> </a:t>
              </a:r>
              <a:r>
                <a:rPr lang="en-US" altLang="zh-TW" sz="800" dirty="0"/>
                <a:t>source</a:t>
              </a:r>
              <a:endParaRPr lang="zh-HK" altLang="en-US" sz="1000" dirty="0"/>
            </a:p>
          </p:txBody>
        </p:sp>
      </p:grpSp>
      <p:sp>
        <p:nvSpPr>
          <p:cNvPr id="54" name="流程圖: 接點 53">
            <a:extLst>
              <a:ext uri="{FF2B5EF4-FFF2-40B4-BE49-F238E27FC236}">
                <a16:creationId xmlns:a16="http://schemas.microsoft.com/office/drawing/2014/main" id="{C06117D6-4A6F-DCBD-99D5-47182B185D77}"/>
              </a:ext>
            </a:extLst>
          </p:cNvPr>
          <p:cNvSpPr/>
          <p:nvPr/>
        </p:nvSpPr>
        <p:spPr>
          <a:xfrm>
            <a:off x="381000" y="2454119"/>
            <a:ext cx="209180" cy="206362"/>
          </a:xfrm>
          <a:prstGeom prst="flowChartConnector">
            <a:avLst/>
          </a:prstGeom>
          <a:solidFill>
            <a:srgbClr val="7260DE">
              <a:alpha val="50980"/>
            </a:srgb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55389BC9-1965-35DF-0A2E-4D6290CBB0F1}"/>
              </a:ext>
            </a:extLst>
          </p:cNvPr>
          <p:cNvGrpSpPr/>
          <p:nvPr/>
        </p:nvGrpSpPr>
        <p:grpSpPr>
          <a:xfrm>
            <a:off x="5806818" y="200795"/>
            <a:ext cx="1742796" cy="1408848"/>
            <a:chOff x="6662426" y="284834"/>
            <a:chExt cx="1418307" cy="1213191"/>
          </a:xfrm>
        </p:grpSpPr>
        <p:pic>
          <p:nvPicPr>
            <p:cNvPr id="70" name="圖片 69">
              <a:extLst>
                <a:ext uri="{FF2B5EF4-FFF2-40B4-BE49-F238E27FC236}">
                  <a16:creationId xmlns:a16="http://schemas.microsoft.com/office/drawing/2014/main" id="{F71C8C4B-E255-E54B-720D-6F149D513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10614"/>
            <a:stretch>
              <a:fillRect/>
            </a:stretch>
          </p:blipFill>
          <p:spPr>
            <a:xfrm>
              <a:off x="6662426" y="284834"/>
              <a:ext cx="1418307" cy="1213191"/>
            </a:xfrm>
            <a:prstGeom prst="rect">
              <a:avLst/>
            </a:prstGeom>
          </p:spPr>
        </p:pic>
        <p:sp>
          <p:nvSpPr>
            <p:cNvPr id="71" name="流程圖: 接點 70">
              <a:extLst>
                <a:ext uri="{FF2B5EF4-FFF2-40B4-BE49-F238E27FC236}">
                  <a16:creationId xmlns:a16="http://schemas.microsoft.com/office/drawing/2014/main" id="{8BD7F67A-DF67-21F9-5C1A-BC14411CAF91}"/>
                </a:ext>
              </a:extLst>
            </p:cNvPr>
            <p:cNvSpPr/>
            <p:nvPr/>
          </p:nvSpPr>
          <p:spPr>
            <a:xfrm>
              <a:off x="7448452" y="922892"/>
              <a:ext cx="141269" cy="97024"/>
            </a:xfrm>
            <a:prstGeom prst="flowChartConnector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  <p:sp>
          <p:nvSpPr>
            <p:cNvPr id="72" name="圖說文字: 直線 71">
              <a:extLst>
                <a:ext uri="{FF2B5EF4-FFF2-40B4-BE49-F238E27FC236}">
                  <a16:creationId xmlns:a16="http://schemas.microsoft.com/office/drawing/2014/main" id="{B83E118E-2318-2F77-6B9E-C260FB363176}"/>
                </a:ext>
              </a:extLst>
            </p:cNvPr>
            <p:cNvSpPr/>
            <p:nvPr/>
          </p:nvSpPr>
          <p:spPr>
            <a:xfrm>
              <a:off x="7620932" y="765191"/>
              <a:ext cx="245516" cy="138040"/>
            </a:xfrm>
            <a:prstGeom prst="borderCallout1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9BCF5540-86CE-193F-92A0-1C9D28A65250}"/>
              </a:ext>
            </a:extLst>
          </p:cNvPr>
          <p:cNvSpPr txBox="1"/>
          <p:nvPr/>
        </p:nvSpPr>
        <p:spPr>
          <a:xfrm>
            <a:off x="5041900" y="1609671"/>
            <a:ext cx="1165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2</a:t>
            </a:r>
            <a:r>
              <a:rPr lang="zh-HK" altLang="zh-HK" b="1" dirty="0">
                <a:highlight>
                  <a:srgbClr val="FFFF00"/>
                </a:highlight>
              </a:rPr>
              <a:t> Location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B4545D1B-367D-C042-7BA4-41E76DDD698D}"/>
              </a:ext>
            </a:extLst>
          </p:cNvPr>
          <p:cNvSpPr txBox="1"/>
          <p:nvPr/>
        </p:nvSpPr>
        <p:spPr>
          <a:xfrm>
            <a:off x="5299724" y="127592"/>
            <a:ext cx="1038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1</a:t>
            </a:r>
            <a:r>
              <a:rPr lang="zh-HK" altLang="zh-HK" b="1" dirty="0">
                <a:highlight>
                  <a:srgbClr val="FFFF00"/>
                </a:highlight>
              </a:rPr>
              <a:t> Results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C5E49EB8-D492-0ABB-A599-395EBE273A32}"/>
              </a:ext>
            </a:extLst>
          </p:cNvPr>
          <p:cNvSpPr txBox="1"/>
          <p:nvPr/>
        </p:nvSpPr>
        <p:spPr>
          <a:xfrm>
            <a:off x="5041900" y="3407322"/>
            <a:ext cx="1486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3</a:t>
            </a:r>
            <a:r>
              <a:rPr lang="zh-HK" altLang="zh-HK" b="1" dirty="0">
                <a:highlight>
                  <a:srgbClr val="FFFF00"/>
                </a:highlight>
              </a:rPr>
              <a:t> Background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BF5179E4-DB38-7EA1-9450-FF89EDA274F5}"/>
              </a:ext>
            </a:extLst>
          </p:cNvPr>
          <p:cNvSpPr txBox="1"/>
          <p:nvPr/>
        </p:nvSpPr>
        <p:spPr>
          <a:xfrm>
            <a:off x="188640" y="4490843"/>
            <a:ext cx="96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4 P</a:t>
            </a:r>
            <a:r>
              <a:rPr lang="en-US" altLang="zh-TW" dirty="0">
                <a:highlight>
                  <a:srgbClr val="FFFF00"/>
                </a:highlight>
              </a:rPr>
              <a:t>rofile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A41A4673-3923-D1E6-C0A8-7F7D8AE16A44}"/>
              </a:ext>
            </a:extLst>
          </p:cNvPr>
          <p:cNvSpPr txBox="1"/>
          <p:nvPr/>
        </p:nvSpPr>
        <p:spPr>
          <a:xfrm>
            <a:off x="5184254" y="2353414"/>
            <a:ext cx="210131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A results slider highlights matching school zones. Selecting a zone opens its associated school</a:t>
            </a:r>
            <a:r>
              <a:rPr lang="en-US" altLang="zh-HK" sz="1200" dirty="0"/>
              <a:t>’</a:t>
            </a:r>
            <a:r>
              <a:rPr lang="zh-HK" altLang="zh-HK" sz="1200" dirty="0"/>
              <a:t>s info card.</a:t>
            </a:r>
          </a:p>
        </p:txBody>
      </p: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E9ABEFCA-562C-C1D1-6E53-28EE0917EB42}"/>
              </a:ext>
            </a:extLst>
          </p:cNvPr>
          <p:cNvGrpSpPr/>
          <p:nvPr/>
        </p:nvGrpSpPr>
        <p:grpSpPr>
          <a:xfrm>
            <a:off x="928055" y="1626832"/>
            <a:ext cx="2212609" cy="2264686"/>
            <a:chOff x="928055" y="1626832"/>
            <a:chExt cx="2212609" cy="2264686"/>
          </a:xfrm>
        </p:grpSpPr>
        <p:pic>
          <p:nvPicPr>
            <p:cNvPr id="82" name="圖片 81">
              <a:extLst>
                <a:ext uri="{FF2B5EF4-FFF2-40B4-BE49-F238E27FC236}">
                  <a16:creationId xmlns:a16="http://schemas.microsoft.com/office/drawing/2014/main" id="{B272E990-124C-230B-BA0A-6AE28C21F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5552" y="1672313"/>
              <a:ext cx="1905925" cy="2219205"/>
            </a:xfrm>
            <a:prstGeom prst="rect">
              <a:avLst/>
            </a:prstGeom>
          </p:spPr>
        </p:pic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776EB360-6A26-D16A-5E55-4BF668ACC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8055" y="1907740"/>
              <a:ext cx="750880" cy="192120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pic>
          <p:nvPicPr>
            <p:cNvPr id="94" name="圖片 93">
              <a:extLst>
                <a:ext uri="{FF2B5EF4-FFF2-40B4-BE49-F238E27FC236}">
                  <a16:creationId xmlns:a16="http://schemas.microsoft.com/office/drawing/2014/main" id="{B64F9450-A5FB-C47B-E1FD-C0B0B9F27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1" b="63849"/>
            <a:stretch>
              <a:fillRect/>
            </a:stretch>
          </p:blipFill>
          <p:spPr>
            <a:xfrm>
              <a:off x="1110176" y="1626832"/>
              <a:ext cx="1635807" cy="228631"/>
            </a:xfrm>
            <a:prstGeom prst="rect">
              <a:avLst/>
            </a:prstGeom>
          </p:spPr>
        </p:pic>
        <p:pic>
          <p:nvPicPr>
            <p:cNvPr id="96" name="圖片 95">
              <a:extLst>
                <a:ext uri="{FF2B5EF4-FFF2-40B4-BE49-F238E27FC236}">
                  <a16:creationId xmlns:a16="http://schemas.microsoft.com/office/drawing/2014/main" id="{7456F030-A219-4D27-3189-2865E60205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49246" b="93970" l="48438" r="94531">
                          <a14:foregroundMark x1="63672" y1="74372" x2="64844" y2="86432"/>
                          <a14:foregroundMark x1="54297" y1="59799" x2="90625" y2="51759"/>
                          <a14:foregroundMark x1="90625" y1="51759" x2="64844" y2="58291"/>
                          <a14:foregroundMark x1="55859" y1="57789" x2="89453" y2="51759"/>
                          <a14:foregroundMark x1="74219" y1="52764" x2="89063" y2="50251"/>
                          <a14:foregroundMark x1="74609" y1="51256" x2="85938" y2="50754"/>
                          <a14:foregroundMark x1="53906" y1="61809" x2="69141" y2="62814"/>
                          <a14:foregroundMark x1="53906" y1="56784" x2="64063" y2="57789"/>
                          <a14:foregroundMark x1="48438" y1="62814" x2="64453" y2="71859"/>
                          <a14:foregroundMark x1="64063" y1="91457" x2="71875" y2="9196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913" t="44021"/>
            <a:stretch>
              <a:fillRect/>
            </a:stretch>
          </p:blipFill>
          <p:spPr>
            <a:xfrm>
              <a:off x="2465375" y="2181660"/>
              <a:ext cx="675289" cy="56416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7" name="筆跡 96">
                  <a:extLst>
                    <a:ext uri="{FF2B5EF4-FFF2-40B4-BE49-F238E27FC236}">
                      <a16:creationId xmlns:a16="http://schemas.microsoft.com/office/drawing/2014/main" id="{8EB7566F-A0FE-B674-2CCD-9648F322C547}"/>
                    </a:ext>
                  </a:extLst>
                </p14:cNvPr>
                <p14:cNvContentPartPr/>
                <p14:nvPr/>
              </p14:nvContentPartPr>
              <p14:xfrm>
                <a:off x="1968200" y="2476230"/>
                <a:ext cx="50040" cy="360"/>
              </p14:xfrm>
            </p:contentPart>
          </mc:Choice>
          <mc:Fallback>
            <p:pic>
              <p:nvPicPr>
                <p:cNvPr id="97" name="筆跡 96">
                  <a:extLst>
                    <a:ext uri="{FF2B5EF4-FFF2-40B4-BE49-F238E27FC236}">
                      <a16:creationId xmlns:a16="http://schemas.microsoft.com/office/drawing/2014/main" id="{8EB7566F-A0FE-B674-2CCD-9648F322C54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932560" y="2404590"/>
                  <a:ext cx="1216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98" name="筆跡 97">
                  <a:extLst>
                    <a:ext uri="{FF2B5EF4-FFF2-40B4-BE49-F238E27FC236}">
                      <a16:creationId xmlns:a16="http://schemas.microsoft.com/office/drawing/2014/main" id="{9285AB66-3CE7-988D-6EAC-A59295E68381}"/>
                    </a:ext>
                  </a:extLst>
                </p14:cNvPr>
                <p14:cNvContentPartPr/>
                <p14:nvPr/>
              </p14:nvContentPartPr>
              <p14:xfrm>
                <a:off x="2222360" y="2273190"/>
                <a:ext cx="145800" cy="360"/>
              </p14:xfrm>
            </p:contentPart>
          </mc:Choice>
          <mc:Fallback>
            <p:pic>
              <p:nvPicPr>
                <p:cNvPr id="98" name="筆跡 97">
                  <a:extLst>
                    <a:ext uri="{FF2B5EF4-FFF2-40B4-BE49-F238E27FC236}">
                      <a16:creationId xmlns:a16="http://schemas.microsoft.com/office/drawing/2014/main" id="{9285AB66-3CE7-988D-6EAC-A59295E6838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186360" y="2201190"/>
                  <a:ext cx="2174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99" name="筆跡 98">
                  <a:extLst>
                    <a:ext uri="{FF2B5EF4-FFF2-40B4-BE49-F238E27FC236}">
                      <a16:creationId xmlns:a16="http://schemas.microsoft.com/office/drawing/2014/main" id="{D0E08E98-3DE5-CD6B-1A85-F07C8EE38A72}"/>
                    </a:ext>
                  </a:extLst>
                </p14:cNvPr>
                <p14:cNvContentPartPr/>
                <p14:nvPr/>
              </p14:nvContentPartPr>
              <p14:xfrm>
                <a:off x="2133440" y="2571630"/>
                <a:ext cx="154440" cy="13320"/>
              </p14:xfrm>
            </p:contentPart>
          </mc:Choice>
          <mc:Fallback>
            <p:pic>
              <p:nvPicPr>
                <p:cNvPr id="99" name="筆跡 98">
                  <a:extLst>
                    <a:ext uri="{FF2B5EF4-FFF2-40B4-BE49-F238E27FC236}">
                      <a16:creationId xmlns:a16="http://schemas.microsoft.com/office/drawing/2014/main" id="{D0E08E98-3DE5-CD6B-1A85-F07C8EE38A7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097440" y="2499630"/>
                  <a:ext cx="2260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00" name="筆跡 99">
                  <a:extLst>
                    <a:ext uri="{FF2B5EF4-FFF2-40B4-BE49-F238E27FC236}">
                      <a16:creationId xmlns:a16="http://schemas.microsoft.com/office/drawing/2014/main" id="{73032ECB-FD02-8E90-6E90-BD7C9577FD46}"/>
                    </a:ext>
                  </a:extLst>
                </p14:cNvPr>
                <p14:cNvContentPartPr/>
                <p14:nvPr/>
              </p14:nvContentPartPr>
              <p14:xfrm>
                <a:off x="2381120" y="2449590"/>
                <a:ext cx="99000" cy="7920"/>
              </p14:xfrm>
            </p:contentPart>
          </mc:Choice>
          <mc:Fallback>
            <p:pic>
              <p:nvPicPr>
                <p:cNvPr id="100" name="筆跡 99">
                  <a:extLst>
                    <a:ext uri="{FF2B5EF4-FFF2-40B4-BE49-F238E27FC236}">
                      <a16:creationId xmlns:a16="http://schemas.microsoft.com/office/drawing/2014/main" id="{73032ECB-FD02-8E90-6E90-BD7C9577FD4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345120" y="2377950"/>
                  <a:ext cx="170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01" name="筆跡 100">
                  <a:extLst>
                    <a:ext uri="{FF2B5EF4-FFF2-40B4-BE49-F238E27FC236}">
                      <a16:creationId xmlns:a16="http://schemas.microsoft.com/office/drawing/2014/main" id="{2C2866FE-288A-3EF1-4921-AC5BF20B6F8C}"/>
                    </a:ext>
                  </a:extLst>
                </p14:cNvPr>
                <p14:cNvContentPartPr/>
                <p14:nvPr/>
              </p14:nvContentPartPr>
              <p14:xfrm>
                <a:off x="2018960" y="2577750"/>
                <a:ext cx="128880" cy="360"/>
              </p14:xfrm>
            </p:contentPart>
          </mc:Choice>
          <mc:Fallback>
            <p:pic>
              <p:nvPicPr>
                <p:cNvPr id="101" name="筆跡 100">
                  <a:extLst>
                    <a:ext uri="{FF2B5EF4-FFF2-40B4-BE49-F238E27FC236}">
                      <a16:creationId xmlns:a16="http://schemas.microsoft.com/office/drawing/2014/main" id="{2C2866FE-288A-3EF1-4921-AC5BF20B6F8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83320" y="2506110"/>
                  <a:ext cx="2005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02" name="筆跡 101">
                  <a:extLst>
                    <a:ext uri="{FF2B5EF4-FFF2-40B4-BE49-F238E27FC236}">
                      <a16:creationId xmlns:a16="http://schemas.microsoft.com/office/drawing/2014/main" id="{0DD587FA-5564-BE8F-3694-F308114E12FB}"/>
                    </a:ext>
                  </a:extLst>
                </p14:cNvPr>
                <p14:cNvContentPartPr/>
                <p14:nvPr/>
              </p14:nvContentPartPr>
              <p14:xfrm>
                <a:off x="2184200" y="2685750"/>
                <a:ext cx="143640" cy="360"/>
              </p14:xfrm>
            </p:contentPart>
          </mc:Choice>
          <mc:Fallback>
            <p:pic>
              <p:nvPicPr>
                <p:cNvPr id="102" name="筆跡 101">
                  <a:extLst>
                    <a:ext uri="{FF2B5EF4-FFF2-40B4-BE49-F238E27FC236}">
                      <a16:creationId xmlns:a16="http://schemas.microsoft.com/office/drawing/2014/main" id="{0DD587FA-5564-BE8F-3694-F308114E12F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148560" y="2614110"/>
                  <a:ext cx="2152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03" name="筆跡 102">
                  <a:extLst>
                    <a:ext uri="{FF2B5EF4-FFF2-40B4-BE49-F238E27FC236}">
                      <a16:creationId xmlns:a16="http://schemas.microsoft.com/office/drawing/2014/main" id="{475FBF7D-5BCC-4100-25F4-D33D24824BEA}"/>
                    </a:ext>
                  </a:extLst>
                </p14:cNvPr>
                <p14:cNvContentPartPr/>
                <p14:nvPr/>
              </p14:nvContentPartPr>
              <p14:xfrm>
                <a:off x="2018960" y="2317470"/>
                <a:ext cx="139680" cy="360"/>
              </p14:xfrm>
            </p:contentPart>
          </mc:Choice>
          <mc:Fallback>
            <p:pic>
              <p:nvPicPr>
                <p:cNvPr id="103" name="筆跡 102">
                  <a:extLst>
                    <a:ext uri="{FF2B5EF4-FFF2-40B4-BE49-F238E27FC236}">
                      <a16:creationId xmlns:a16="http://schemas.microsoft.com/office/drawing/2014/main" id="{475FBF7D-5BCC-4100-25F4-D33D24824BE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983320" y="2245830"/>
                  <a:ext cx="2113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04" name="筆跡 103">
                  <a:extLst>
                    <a:ext uri="{FF2B5EF4-FFF2-40B4-BE49-F238E27FC236}">
                      <a16:creationId xmlns:a16="http://schemas.microsoft.com/office/drawing/2014/main" id="{872308CF-931A-14D1-DE37-AA4D9056A103}"/>
                    </a:ext>
                  </a:extLst>
                </p14:cNvPr>
                <p14:cNvContentPartPr/>
                <p14:nvPr/>
              </p14:nvContentPartPr>
              <p14:xfrm>
                <a:off x="2114360" y="2228550"/>
                <a:ext cx="74520" cy="6840"/>
              </p14:xfrm>
            </p:contentPart>
          </mc:Choice>
          <mc:Fallback>
            <p:pic>
              <p:nvPicPr>
                <p:cNvPr id="104" name="筆跡 103">
                  <a:extLst>
                    <a:ext uri="{FF2B5EF4-FFF2-40B4-BE49-F238E27FC236}">
                      <a16:creationId xmlns:a16="http://schemas.microsoft.com/office/drawing/2014/main" id="{872308CF-931A-14D1-DE37-AA4D9056A10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78720" y="2156550"/>
                  <a:ext cx="1461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05" name="筆跡 104">
                  <a:extLst>
                    <a:ext uri="{FF2B5EF4-FFF2-40B4-BE49-F238E27FC236}">
                      <a16:creationId xmlns:a16="http://schemas.microsoft.com/office/drawing/2014/main" id="{3865E392-E0B6-4AB5-9091-6C445961F4AE}"/>
                    </a:ext>
                  </a:extLst>
                </p14:cNvPr>
                <p14:cNvContentPartPr/>
                <p14:nvPr/>
              </p14:nvContentPartPr>
              <p14:xfrm>
                <a:off x="2285720" y="2400270"/>
                <a:ext cx="127080" cy="5400"/>
              </p14:xfrm>
            </p:contentPart>
          </mc:Choice>
          <mc:Fallback>
            <p:pic>
              <p:nvPicPr>
                <p:cNvPr id="105" name="筆跡 104">
                  <a:extLst>
                    <a:ext uri="{FF2B5EF4-FFF2-40B4-BE49-F238E27FC236}">
                      <a16:creationId xmlns:a16="http://schemas.microsoft.com/office/drawing/2014/main" id="{3865E392-E0B6-4AB5-9091-6C445961F4A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250080" y="2328270"/>
                  <a:ext cx="19872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61787DBC-5A03-A8CE-26D8-B4C2EE3A19B0}"/>
              </a:ext>
            </a:extLst>
          </p:cNvPr>
          <p:cNvGrpSpPr/>
          <p:nvPr/>
        </p:nvGrpSpPr>
        <p:grpSpPr>
          <a:xfrm>
            <a:off x="7782220" y="1840468"/>
            <a:ext cx="1165447" cy="1480378"/>
            <a:chOff x="928055" y="1626832"/>
            <a:chExt cx="2212609" cy="2264686"/>
          </a:xfrm>
        </p:grpSpPr>
        <p:pic>
          <p:nvPicPr>
            <p:cNvPr id="108" name="圖片 107">
              <a:extLst>
                <a:ext uri="{FF2B5EF4-FFF2-40B4-BE49-F238E27FC236}">
                  <a16:creationId xmlns:a16="http://schemas.microsoft.com/office/drawing/2014/main" id="{1F7101FB-73C3-BD2F-02B7-B13BD763536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5552" y="1672313"/>
              <a:ext cx="1905925" cy="2219205"/>
            </a:xfrm>
            <a:prstGeom prst="rect">
              <a:avLst/>
            </a:prstGeom>
          </p:spPr>
        </p:pic>
        <p:pic>
          <p:nvPicPr>
            <p:cNvPr id="109" name="圖片 108">
              <a:extLst>
                <a:ext uri="{FF2B5EF4-FFF2-40B4-BE49-F238E27FC236}">
                  <a16:creationId xmlns:a16="http://schemas.microsoft.com/office/drawing/2014/main" id="{4F4400A5-7F91-8E3D-C54F-24AB9CFA9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8055" y="1907740"/>
              <a:ext cx="750880" cy="192120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pic>
          <p:nvPicPr>
            <p:cNvPr id="110" name="圖片 109">
              <a:extLst>
                <a:ext uri="{FF2B5EF4-FFF2-40B4-BE49-F238E27FC236}">
                  <a16:creationId xmlns:a16="http://schemas.microsoft.com/office/drawing/2014/main" id="{6CD05113-3B9C-A27A-D5CE-4BAB532FCD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1" b="63849"/>
            <a:stretch>
              <a:fillRect/>
            </a:stretch>
          </p:blipFill>
          <p:spPr>
            <a:xfrm>
              <a:off x="1110176" y="1626832"/>
              <a:ext cx="1635807" cy="228631"/>
            </a:xfrm>
            <a:prstGeom prst="rect">
              <a:avLst/>
            </a:prstGeom>
          </p:spPr>
        </p:pic>
        <p:pic>
          <p:nvPicPr>
            <p:cNvPr id="111" name="圖片 110">
              <a:extLst>
                <a:ext uri="{FF2B5EF4-FFF2-40B4-BE49-F238E27FC236}">
                  <a16:creationId xmlns:a16="http://schemas.microsoft.com/office/drawing/2014/main" id="{35CF1F2F-ED22-D901-FA52-D66AD4B79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 cstate="print">
              <a:extLst>
                <a:ext uri="{BEBA8EAE-BF5A-486C-A8C5-ECC9F3942E4B}">
                  <a14:imgProps xmlns:a14="http://schemas.microsoft.com/office/drawing/2010/main">
                    <a14:imgLayer r:embed="rId31">
                      <a14:imgEffect>
                        <a14:backgroundRemoval t="49246" b="93970" l="48438" r="94531">
                          <a14:foregroundMark x1="63672" y1="74372" x2="64844" y2="86432"/>
                          <a14:foregroundMark x1="54297" y1="59799" x2="90625" y2="51759"/>
                          <a14:foregroundMark x1="90625" y1="51759" x2="64844" y2="58291"/>
                          <a14:foregroundMark x1="55859" y1="57789" x2="89453" y2="51759"/>
                          <a14:foregroundMark x1="74219" y1="52764" x2="89063" y2="50251"/>
                          <a14:foregroundMark x1="74609" y1="51256" x2="85938" y2="50754"/>
                          <a14:foregroundMark x1="53906" y1="61809" x2="69141" y2="62814"/>
                          <a14:foregroundMark x1="53906" y1="56784" x2="64063" y2="57789"/>
                          <a14:foregroundMark x1="48438" y1="62814" x2="64453" y2="71859"/>
                          <a14:foregroundMark x1="64063" y1="91457" x2="71875" y2="9196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913" t="44021"/>
            <a:stretch>
              <a:fillRect/>
            </a:stretch>
          </p:blipFill>
          <p:spPr>
            <a:xfrm>
              <a:off x="2465375" y="2181660"/>
              <a:ext cx="675289" cy="56416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12" name="筆跡 111">
                  <a:extLst>
                    <a:ext uri="{FF2B5EF4-FFF2-40B4-BE49-F238E27FC236}">
                      <a16:creationId xmlns:a16="http://schemas.microsoft.com/office/drawing/2014/main" id="{721C3C08-3950-6A18-43C6-B596996DBC69}"/>
                    </a:ext>
                  </a:extLst>
                </p14:cNvPr>
                <p14:cNvContentPartPr/>
                <p14:nvPr/>
              </p14:nvContentPartPr>
              <p14:xfrm>
                <a:off x="1968200" y="2476230"/>
                <a:ext cx="50040" cy="360"/>
              </p14:xfrm>
            </p:contentPart>
          </mc:Choice>
          <mc:Fallback>
            <p:pic>
              <p:nvPicPr>
                <p:cNvPr id="112" name="筆跡 111">
                  <a:extLst>
                    <a:ext uri="{FF2B5EF4-FFF2-40B4-BE49-F238E27FC236}">
                      <a16:creationId xmlns:a16="http://schemas.microsoft.com/office/drawing/2014/main" id="{721C3C08-3950-6A18-43C6-B596996DBC6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900578" y="2404230"/>
                  <a:ext cx="184607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13" name="筆跡 112">
                  <a:extLst>
                    <a:ext uri="{FF2B5EF4-FFF2-40B4-BE49-F238E27FC236}">
                      <a16:creationId xmlns:a16="http://schemas.microsoft.com/office/drawing/2014/main" id="{B9C7F0EA-E112-9FF2-508B-D05E15B2C81A}"/>
                    </a:ext>
                  </a:extLst>
                </p14:cNvPr>
                <p14:cNvContentPartPr/>
                <p14:nvPr/>
              </p14:nvContentPartPr>
              <p14:xfrm>
                <a:off x="2222360" y="2273190"/>
                <a:ext cx="145800" cy="360"/>
              </p14:xfrm>
            </p:contentPart>
          </mc:Choice>
          <mc:Fallback>
            <p:pic>
              <p:nvPicPr>
                <p:cNvPr id="113" name="筆跡 112">
                  <a:extLst>
                    <a:ext uri="{FF2B5EF4-FFF2-40B4-BE49-F238E27FC236}">
                      <a16:creationId xmlns:a16="http://schemas.microsoft.com/office/drawing/2014/main" id="{B9C7F0EA-E112-9FF2-508B-D05E15B2C81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54229" y="2201190"/>
                  <a:ext cx="2813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14" name="筆跡 113">
                  <a:extLst>
                    <a:ext uri="{FF2B5EF4-FFF2-40B4-BE49-F238E27FC236}">
                      <a16:creationId xmlns:a16="http://schemas.microsoft.com/office/drawing/2014/main" id="{F19972B5-F420-E511-6B12-892E33922BE4}"/>
                    </a:ext>
                  </a:extLst>
                </p14:cNvPr>
                <p14:cNvContentPartPr/>
                <p14:nvPr/>
              </p14:nvContentPartPr>
              <p14:xfrm>
                <a:off x="2133440" y="2571630"/>
                <a:ext cx="154440" cy="13320"/>
              </p14:xfrm>
            </p:contentPart>
          </mc:Choice>
          <mc:Fallback>
            <p:pic>
              <p:nvPicPr>
                <p:cNvPr id="114" name="筆跡 113">
                  <a:extLst>
                    <a:ext uri="{FF2B5EF4-FFF2-40B4-BE49-F238E27FC236}">
                      <a16:creationId xmlns:a16="http://schemas.microsoft.com/office/drawing/2014/main" id="{F19972B5-F420-E511-6B12-892E33922BE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65104" y="2465070"/>
                  <a:ext cx="290429" cy="225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15" name="筆跡 114">
                  <a:extLst>
                    <a:ext uri="{FF2B5EF4-FFF2-40B4-BE49-F238E27FC236}">
                      <a16:creationId xmlns:a16="http://schemas.microsoft.com/office/drawing/2014/main" id="{87DDC1A1-07C3-333C-1A8C-6429624BA349}"/>
                    </a:ext>
                  </a:extLst>
                </p14:cNvPr>
                <p14:cNvContentPartPr/>
                <p14:nvPr/>
              </p14:nvContentPartPr>
              <p14:xfrm>
                <a:off x="2381120" y="2449590"/>
                <a:ext cx="99000" cy="7920"/>
              </p14:xfrm>
            </p:contentPart>
          </mc:Choice>
          <mc:Fallback>
            <p:pic>
              <p:nvPicPr>
                <p:cNvPr id="115" name="筆跡 114">
                  <a:extLst>
                    <a:ext uri="{FF2B5EF4-FFF2-40B4-BE49-F238E27FC236}">
                      <a16:creationId xmlns:a16="http://schemas.microsoft.com/office/drawing/2014/main" id="{87DDC1A1-07C3-333C-1A8C-6429624BA34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12844" y="2344518"/>
                  <a:ext cx="234869" cy="2185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16" name="筆跡 115">
                  <a:extLst>
                    <a:ext uri="{FF2B5EF4-FFF2-40B4-BE49-F238E27FC236}">
                      <a16:creationId xmlns:a16="http://schemas.microsoft.com/office/drawing/2014/main" id="{3ADB709C-8F7C-A8CE-0694-74335181C73C}"/>
                    </a:ext>
                  </a:extLst>
                </p14:cNvPr>
                <p14:cNvContentPartPr/>
                <p14:nvPr/>
              </p14:nvContentPartPr>
              <p14:xfrm>
                <a:off x="2018960" y="2577750"/>
                <a:ext cx="128880" cy="360"/>
              </p14:xfrm>
            </p:contentPart>
          </mc:Choice>
          <mc:Fallback>
            <p:pic>
              <p:nvPicPr>
                <p:cNvPr id="116" name="筆跡 115">
                  <a:extLst>
                    <a:ext uri="{FF2B5EF4-FFF2-40B4-BE49-F238E27FC236}">
                      <a16:creationId xmlns:a16="http://schemas.microsoft.com/office/drawing/2014/main" id="{3ADB709C-8F7C-A8CE-0694-74335181C73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950770" y="2506110"/>
                  <a:ext cx="264579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17" name="筆跡 116">
                  <a:extLst>
                    <a:ext uri="{FF2B5EF4-FFF2-40B4-BE49-F238E27FC236}">
                      <a16:creationId xmlns:a16="http://schemas.microsoft.com/office/drawing/2014/main" id="{D49D7AC1-4B27-9DDF-A298-F29735D0A4C8}"/>
                    </a:ext>
                  </a:extLst>
                </p14:cNvPr>
                <p14:cNvContentPartPr/>
                <p14:nvPr/>
              </p14:nvContentPartPr>
              <p14:xfrm>
                <a:off x="2184200" y="2685750"/>
                <a:ext cx="143640" cy="360"/>
              </p14:xfrm>
            </p:contentPart>
          </mc:Choice>
          <mc:Fallback>
            <p:pic>
              <p:nvPicPr>
                <p:cNvPr id="117" name="筆跡 116">
                  <a:extLst>
                    <a:ext uri="{FF2B5EF4-FFF2-40B4-BE49-F238E27FC236}">
                      <a16:creationId xmlns:a16="http://schemas.microsoft.com/office/drawing/2014/main" id="{D49D7AC1-4B27-9DDF-A298-F29735D0A4C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116124" y="2614110"/>
                  <a:ext cx="279111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18" name="筆跡 117">
                  <a:extLst>
                    <a:ext uri="{FF2B5EF4-FFF2-40B4-BE49-F238E27FC236}">
                      <a16:creationId xmlns:a16="http://schemas.microsoft.com/office/drawing/2014/main" id="{EF2FEC72-A20A-1B49-3747-9C1D2DFE2EEB}"/>
                    </a:ext>
                  </a:extLst>
                </p14:cNvPr>
                <p14:cNvContentPartPr/>
                <p14:nvPr/>
              </p14:nvContentPartPr>
              <p14:xfrm>
                <a:off x="2018960" y="2317470"/>
                <a:ext cx="139680" cy="360"/>
              </p14:xfrm>
            </p:contentPart>
          </mc:Choice>
          <mc:Fallback>
            <p:pic>
              <p:nvPicPr>
                <p:cNvPr id="118" name="筆跡 117">
                  <a:extLst>
                    <a:ext uri="{FF2B5EF4-FFF2-40B4-BE49-F238E27FC236}">
                      <a16:creationId xmlns:a16="http://schemas.microsoft.com/office/drawing/2014/main" id="{EF2FEC72-A20A-1B49-3747-9C1D2DFE2EE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950823" y="2245830"/>
                  <a:ext cx="275272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19" name="筆跡 118">
                  <a:extLst>
                    <a:ext uri="{FF2B5EF4-FFF2-40B4-BE49-F238E27FC236}">
                      <a16:creationId xmlns:a16="http://schemas.microsoft.com/office/drawing/2014/main" id="{CC92F9EF-58D4-C524-7BC0-8A9392543CF8}"/>
                    </a:ext>
                  </a:extLst>
                </p14:cNvPr>
                <p14:cNvContentPartPr/>
                <p14:nvPr/>
              </p14:nvContentPartPr>
              <p14:xfrm>
                <a:off x="2114360" y="2228550"/>
                <a:ext cx="74520" cy="6840"/>
              </p14:xfrm>
            </p:contentPart>
          </mc:Choice>
          <mc:Fallback>
            <p:pic>
              <p:nvPicPr>
                <p:cNvPr id="119" name="筆跡 118">
                  <a:extLst>
                    <a:ext uri="{FF2B5EF4-FFF2-40B4-BE49-F238E27FC236}">
                      <a16:creationId xmlns:a16="http://schemas.microsoft.com/office/drawing/2014/main" id="{CC92F9EF-58D4-C524-7BC0-8A9392543CF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045993" y="2123319"/>
                  <a:ext cx="210570" cy="2167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20" name="筆跡 119">
                  <a:extLst>
                    <a:ext uri="{FF2B5EF4-FFF2-40B4-BE49-F238E27FC236}">
                      <a16:creationId xmlns:a16="http://schemas.microsoft.com/office/drawing/2014/main" id="{048E731F-19FE-D548-7368-B87DE903E8F9}"/>
                    </a:ext>
                  </a:extLst>
                </p14:cNvPr>
                <p14:cNvContentPartPr/>
                <p14:nvPr/>
              </p14:nvContentPartPr>
              <p14:xfrm>
                <a:off x="2285720" y="2400270"/>
                <a:ext cx="127080" cy="5400"/>
              </p14:xfrm>
            </p:contentPart>
          </mc:Choice>
          <mc:Fallback>
            <p:pic>
              <p:nvPicPr>
                <p:cNvPr id="120" name="筆跡 119">
                  <a:extLst>
                    <a:ext uri="{FF2B5EF4-FFF2-40B4-BE49-F238E27FC236}">
                      <a16:creationId xmlns:a16="http://schemas.microsoft.com/office/drawing/2014/main" id="{048E731F-19FE-D548-7368-B87DE903E8F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217397" y="2292270"/>
                  <a:ext cx="263042" cy="2208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8E675BF-717C-C06B-8EF0-AEDB1496D8E7}"/>
              </a:ext>
            </a:extLst>
          </p:cNvPr>
          <p:cNvSpPr txBox="1"/>
          <p:nvPr/>
        </p:nvSpPr>
        <p:spPr>
          <a:xfrm>
            <a:off x="5106652" y="3886870"/>
            <a:ext cx="14196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dirty="0"/>
              <a:t>Reveal matched ICSEA and VCE maps to explain their related patterns.</a:t>
            </a:r>
            <a:endParaRPr lang="zh-HK" altLang="en-US" sz="1200" dirty="0"/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D634C96D-97B0-D24F-4E02-48FD4A677A8A}"/>
              </a:ext>
            </a:extLst>
          </p:cNvPr>
          <p:cNvSpPr txBox="1"/>
          <p:nvPr/>
        </p:nvSpPr>
        <p:spPr>
          <a:xfrm>
            <a:off x="166817" y="614416"/>
            <a:ext cx="4840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600" b="1" dirty="0">
                <a:latin typeface="Elephant" panose="02020904090505020303" pitchFamily="18" charset="0"/>
              </a:rPr>
              <a:t>Would you move for a higher school score?</a:t>
            </a:r>
            <a:endParaRPr lang="zh-HK" altLang="zh-HK" sz="1600" dirty="0">
              <a:latin typeface="Elephant" panose="02020904090505020303" pitchFamily="18" charset="0"/>
            </a:endParaRP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C3ADEDE3-4461-80AA-0C22-62630F10305D}"/>
              </a:ext>
            </a:extLst>
          </p:cNvPr>
          <p:cNvSpPr txBox="1"/>
          <p:nvPr/>
        </p:nvSpPr>
        <p:spPr>
          <a:xfrm>
            <a:off x="166817" y="873965"/>
            <a:ext cx="54572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>
                <a:highlight>
                  <a:srgbClr val="FFFF00"/>
                </a:highlight>
              </a:rPr>
              <a:t>Explore Greater Melbourne’s school results from 2023–2025 alongside student background and school locations. Scroll to see what one score may miss.</a:t>
            </a:r>
          </a:p>
        </p:txBody>
      </p:sp>
      <p:pic>
        <p:nvPicPr>
          <p:cNvPr id="135" name="圖片 134">
            <a:extLst>
              <a:ext uri="{FF2B5EF4-FFF2-40B4-BE49-F238E27FC236}">
                <a16:creationId xmlns:a16="http://schemas.microsoft.com/office/drawing/2014/main" id="{E0656EC6-9017-42A6-13E8-1F7C4CC08DCF}"/>
              </a:ext>
            </a:extLst>
          </p:cNvPr>
          <p:cNvPicPr>
            <a:picLocks noChangeAspect="1"/>
          </p:cNvPicPr>
          <p:nvPr/>
        </p:nvPicPr>
        <p:blipFill>
          <a:blip r:embed="rId50"/>
          <a:srcRect t="5248"/>
          <a:stretch>
            <a:fillRect/>
          </a:stretch>
        </p:blipFill>
        <p:spPr>
          <a:xfrm>
            <a:off x="6499434" y="3555332"/>
            <a:ext cx="995171" cy="1160546"/>
          </a:xfrm>
          <a:prstGeom prst="rect">
            <a:avLst/>
          </a:prstGeom>
        </p:spPr>
      </p:pic>
      <p:pic>
        <p:nvPicPr>
          <p:cNvPr id="137" name="圖片 136">
            <a:extLst>
              <a:ext uri="{FF2B5EF4-FFF2-40B4-BE49-F238E27FC236}">
                <a16:creationId xmlns:a16="http://schemas.microsoft.com/office/drawing/2014/main" id="{698E62C8-ED0F-1E77-742E-C047E1B38161}"/>
              </a:ext>
            </a:extLst>
          </p:cNvPr>
          <p:cNvPicPr>
            <a:picLocks noChangeAspect="1"/>
          </p:cNvPicPr>
          <p:nvPr/>
        </p:nvPicPr>
        <p:blipFill>
          <a:blip r:embed="rId50"/>
          <a:srcRect t="7001"/>
          <a:stretch>
            <a:fillRect/>
          </a:stretch>
        </p:blipFill>
        <p:spPr>
          <a:xfrm>
            <a:off x="7520631" y="3566069"/>
            <a:ext cx="995171" cy="1139072"/>
          </a:xfrm>
          <a:prstGeom prst="rect">
            <a:avLst/>
          </a:prstGeom>
        </p:spPr>
      </p:pic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7EFDB9F4-FBD4-DBD4-63EE-DF8D13F47031}"/>
              </a:ext>
            </a:extLst>
          </p:cNvPr>
          <p:cNvSpPr txBox="1"/>
          <p:nvPr/>
        </p:nvSpPr>
        <p:spPr>
          <a:xfrm>
            <a:off x="188640" y="4006775"/>
            <a:ext cx="4356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Show one visual stage at a time. </a:t>
            </a:r>
            <a:br>
              <a:rPr lang="en-US" altLang="zh-HK" sz="1200" dirty="0"/>
            </a:br>
            <a:r>
              <a:rPr lang="zh-HK" altLang="zh-HK" sz="1200" dirty="0"/>
              <a:t>A clickable progress bar lets readers jump to a chapter or return.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43214D9F-49FB-78E5-0FA7-13A74F96E7EC}"/>
              </a:ext>
            </a:extLst>
          </p:cNvPr>
          <p:cNvSpPr txBox="1"/>
          <p:nvPr/>
        </p:nvSpPr>
        <p:spPr>
          <a:xfrm>
            <a:off x="990213" y="36229"/>
            <a:ext cx="45108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600" b="1" dirty="0">
                <a:highlight>
                  <a:srgbClr val="FFFF00"/>
                </a:highlight>
              </a:rPr>
              <a:t>Genre:</a:t>
            </a:r>
            <a:r>
              <a:rPr lang="zh-HK" altLang="zh-HK" sz="1600" dirty="0">
                <a:highlight>
                  <a:srgbClr val="FFFF00"/>
                </a:highlight>
              </a:rPr>
              <a:t> Scrollytelling + annotated charts and maps </a:t>
            </a:r>
            <a:br>
              <a:rPr lang="zh-HK" altLang="zh-HK" sz="1600" dirty="0">
                <a:highlight>
                  <a:srgbClr val="FFFF00"/>
                </a:highlight>
              </a:rPr>
            </a:br>
            <a:r>
              <a:rPr lang="zh-HK" altLang="zh-HK" sz="1600" dirty="0">
                <a:highlight>
                  <a:srgbClr val="FFFF00"/>
                </a:highlight>
              </a:rPr>
              <a:t>Guided story with limited exploration</a:t>
            </a:r>
            <a:endParaRPr lang="zh-HK" altLang="en-US" sz="1600" dirty="0">
              <a:highlight>
                <a:srgbClr val="FFFF00"/>
              </a:highlight>
            </a:endParaRP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1A2CCDAC-237E-1261-F58C-7FEC67EE0D2F}"/>
              </a:ext>
            </a:extLst>
          </p:cNvPr>
          <p:cNvSpPr txBox="1"/>
          <p:nvPr/>
        </p:nvSpPr>
        <p:spPr>
          <a:xfrm>
            <a:off x="5180052" y="1894595"/>
            <a:ext cx="28198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/>
              <a:t>Let parents choose an SA4 and explore school locations.</a:t>
            </a:r>
            <a:endParaRPr lang="zh-HK" altLang="en-US" sz="1400" dirty="0"/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33A9EA76-CDDC-2769-4BA2-270C2414CAF7}"/>
              </a:ext>
            </a:extLst>
          </p:cNvPr>
          <p:cNvSpPr txBox="1"/>
          <p:nvPr/>
        </p:nvSpPr>
        <p:spPr>
          <a:xfrm>
            <a:off x="7285566" y="149591"/>
            <a:ext cx="2535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dirty="0"/>
              <a:t>A grouped dot plot shows school results across Gov, Cath</a:t>
            </a:r>
            <a:r>
              <a:rPr lang="en-US" altLang="zh-HK" sz="1200" dirty="0"/>
              <a:t> </a:t>
            </a:r>
            <a:r>
              <a:rPr lang="zh-HK" altLang="zh-HK" sz="1200" dirty="0"/>
              <a:t>and Independent schools.</a:t>
            </a:r>
          </a:p>
          <a:p>
            <a:pPr>
              <a:buNone/>
            </a:pPr>
            <a:r>
              <a:rPr lang="zh-HK" altLang="zh-HK" sz="1200" dirty="0"/>
              <a:t>Results vary within each sector. Government schools also have a range of results.</a:t>
            </a: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EB5DD9F1-8850-2ED2-84D4-AB4F30D993BE}"/>
              </a:ext>
            </a:extLst>
          </p:cNvPr>
          <p:cNvSpPr txBox="1"/>
          <p:nvPr/>
        </p:nvSpPr>
        <p:spPr>
          <a:xfrm>
            <a:off x="6572589" y="4826737"/>
            <a:ext cx="3129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HK" altLang="zh-HK" sz="1200" dirty="0"/>
              <a:t>Higher ICSEA is associated with higher VCE results in this dataset. Background provides context, not a school-quality rating.</a:t>
            </a:r>
            <a:endParaRPr lang="zh-HK" altLang="en-US" sz="1200" dirty="0"/>
          </a:p>
        </p:txBody>
      </p:sp>
      <p:grpSp>
        <p:nvGrpSpPr>
          <p:cNvPr id="155" name="群組 154">
            <a:extLst>
              <a:ext uri="{FF2B5EF4-FFF2-40B4-BE49-F238E27FC236}">
                <a16:creationId xmlns:a16="http://schemas.microsoft.com/office/drawing/2014/main" id="{47BEE2DE-998C-436B-475E-44FA0A674A8C}"/>
              </a:ext>
            </a:extLst>
          </p:cNvPr>
          <p:cNvGrpSpPr/>
          <p:nvPr/>
        </p:nvGrpSpPr>
        <p:grpSpPr>
          <a:xfrm>
            <a:off x="8415760" y="3767685"/>
            <a:ext cx="1101805" cy="845315"/>
            <a:chOff x="5352423" y="2857500"/>
            <a:chExt cx="1420251" cy="1159884"/>
          </a:xfrm>
        </p:grpSpPr>
        <p:pic>
          <p:nvPicPr>
            <p:cNvPr id="62" name="圖片 61">
              <a:extLst>
                <a:ext uri="{FF2B5EF4-FFF2-40B4-BE49-F238E27FC236}">
                  <a16:creationId xmlns:a16="http://schemas.microsoft.com/office/drawing/2014/main" id="{4C32D3C1-A580-9627-6D1A-0C4C52370A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056"/>
            <a:stretch>
              <a:fillRect/>
            </a:stretch>
          </p:blipFill>
          <p:spPr>
            <a:xfrm>
              <a:off x="5352423" y="2906190"/>
              <a:ext cx="1021300" cy="1111194"/>
            </a:xfrm>
            <a:prstGeom prst="rect">
              <a:avLst/>
            </a:prstGeom>
          </p:spPr>
        </p:pic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A7D349B-F6BF-9E82-380B-3E58B4E32CCB}"/>
                </a:ext>
              </a:extLst>
            </p:cNvPr>
            <p:cNvSpPr/>
            <p:nvPr/>
          </p:nvSpPr>
          <p:spPr>
            <a:xfrm>
              <a:off x="6248400" y="2857500"/>
              <a:ext cx="524274" cy="53736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83BDE5F3-192F-7E70-B169-3D0C24ABFF68}"/>
              </a:ext>
            </a:extLst>
          </p:cNvPr>
          <p:cNvSpPr txBox="1"/>
          <p:nvPr/>
        </p:nvSpPr>
        <p:spPr>
          <a:xfrm>
            <a:off x="1631059" y="4825890"/>
            <a:ext cx="141967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dirty="0"/>
              <a:t>Compare four profiles using two three-year line charts. Select a profile to highlight its trends and read its average ICSEA and school count.</a:t>
            </a:r>
            <a:endParaRPr lang="zh-HK" altLang="en-US" dirty="0"/>
          </a:p>
        </p:txBody>
      </p:sp>
      <p:pic>
        <p:nvPicPr>
          <p:cNvPr id="173" name="圖片 172">
            <a:extLst>
              <a:ext uri="{FF2B5EF4-FFF2-40B4-BE49-F238E27FC236}">
                <a16:creationId xmlns:a16="http://schemas.microsoft.com/office/drawing/2014/main" id="{2CB7178D-5A4A-8E4A-049B-968D64B8B421}"/>
              </a:ext>
            </a:extLst>
          </p:cNvPr>
          <p:cNvPicPr>
            <a:picLocks noChangeAspect="1"/>
          </p:cNvPicPr>
          <p:nvPr/>
        </p:nvPicPr>
        <p:blipFill>
          <a:blip r:embed="rId52"/>
          <a:srcRect l="66623" t="870" r="463" b="20719"/>
          <a:stretch>
            <a:fillRect/>
          </a:stretch>
        </p:blipFill>
        <p:spPr>
          <a:xfrm>
            <a:off x="522387" y="4820133"/>
            <a:ext cx="960608" cy="1763884"/>
          </a:xfrm>
          <a:prstGeom prst="rect">
            <a:avLst/>
          </a:prstGeom>
        </p:spPr>
      </p:pic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F63DBC98-8108-1603-89E0-6E183B90B54E}"/>
              </a:ext>
            </a:extLst>
          </p:cNvPr>
          <p:cNvSpPr txBox="1"/>
          <p:nvPr/>
        </p:nvSpPr>
        <p:spPr>
          <a:xfrm>
            <a:off x="11404736" y="1717045"/>
            <a:ext cx="612126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b="1" dirty="0"/>
              <a:t>1. Results</a:t>
            </a:r>
            <a:endParaRPr lang="zh-HK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dot for the school name and results.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to highlight government schools while other sectors fade.</a:t>
            </a:r>
          </a:p>
          <a:p>
            <a:pPr>
              <a:buNone/>
            </a:pPr>
            <a:r>
              <a:rPr lang="zh-HK" altLang="zh-HK" sz="1200" b="1" dirty="0"/>
              <a:t>2. Location</a:t>
            </a:r>
            <a:endParaRPr lang="zh-HK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an SA4 to show school locations and zone boundaries.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Hover or tap a school marker for basic details.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Keep the selected area for later in the story.</a:t>
            </a:r>
          </a:p>
          <a:p>
            <a:pPr>
              <a:buNone/>
            </a:pPr>
            <a:r>
              <a:rPr lang="zh-HK" altLang="zh-HK" sz="1200" b="1" dirty="0"/>
              <a:t>3. Background</a:t>
            </a:r>
            <a:endParaRPr lang="zh-HK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Keep the maps fixed while the reader scrolls.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Show ICSEA first, then fade in the VCE results map beside it.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Keep both maps visible and update the short explanation.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Highlight the same zone on both maps.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Link zooming and panning. Scroll up to revisit earlier steps.</a:t>
            </a:r>
          </a:p>
          <a:p>
            <a:pPr>
              <a:buNone/>
            </a:pPr>
            <a:r>
              <a:rPr lang="zh-HK" altLang="zh-HK" sz="1200" b="1" dirty="0"/>
              <a:t>4. Profiles</a:t>
            </a:r>
            <a:endParaRPr lang="zh-HK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profile to highlight its line in both trend charts.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Keep the other lines visible for context.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Show its school count, average 2025 ICSEA and a short explanation.</a:t>
            </a:r>
          </a:p>
          <a:p>
            <a:pPr>
              <a:buNone/>
            </a:pPr>
            <a:r>
              <a:rPr lang="zh-HK" altLang="zh-HK" sz="1200" b="1" dirty="0"/>
              <a:t>5. Return to your area</a:t>
            </a:r>
            <a:endParaRPr lang="zh-HK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Restore the selected SA4 and reveal profile colours.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profile to highlight its linked school zones.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Hover or tap a school marker to open its details.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Close the card to return to the map.</a:t>
            </a:r>
          </a:p>
          <a:p>
            <a:pPr>
              <a:buNone/>
            </a:pPr>
            <a:r>
              <a:rPr lang="zh-HK" altLang="zh-HK" sz="1200" dirty="0"/>
              <a:t>Readers can follow the main story without using every interaction.</a:t>
            </a:r>
          </a:p>
        </p:txBody>
      </p: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A53E724-E21D-3DEF-6C45-F59B6B7F6935}"/>
              </a:ext>
            </a:extLst>
          </p:cNvPr>
          <p:cNvGrpSpPr/>
          <p:nvPr/>
        </p:nvGrpSpPr>
        <p:grpSpPr>
          <a:xfrm>
            <a:off x="2427099" y="7126285"/>
            <a:ext cx="936723" cy="851008"/>
            <a:chOff x="4132958" y="7616910"/>
            <a:chExt cx="1457109" cy="1323776"/>
          </a:xfrm>
        </p:grpSpPr>
        <p:pic>
          <p:nvPicPr>
            <p:cNvPr id="182" name="圖片 181">
              <a:extLst>
                <a:ext uri="{FF2B5EF4-FFF2-40B4-BE49-F238E27FC236}">
                  <a16:creationId xmlns:a16="http://schemas.microsoft.com/office/drawing/2014/main" id="{BC23D430-2641-4BD4-E165-C6EBBA7438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 cstate="email">
              <a:alphaModFix amt="97000"/>
              <a:extLst>
                <a:ext uri="{BEBA8EAE-BF5A-486C-A8C5-ECC9F3942E4B}">
                  <a14:imgProps xmlns:a14="http://schemas.microsoft.com/office/drawing/2010/main">
                    <a14:imgLayer r:embed="rId54">
                      <a14:imgEffect>
                        <a14:artisticPhotocopy/>
                      </a14:imgEffect>
                      <a14:imgEffect>
                        <a14:colorTemperature colorTemp="6600"/>
                      </a14:imgEffect>
                      <a14:imgEffect>
                        <a14:brightnessContrast bright="1000" contrast="4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132958" y="7616910"/>
              <a:ext cx="1457109" cy="132377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83" name="筆跡 182">
                  <a:extLst>
                    <a:ext uri="{FF2B5EF4-FFF2-40B4-BE49-F238E27FC236}">
                      <a16:creationId xmlns:a16="http://schemas.microsoft.com/office/drawing/2014/main" id="{75AFDD17-C6BA-317C-C02F-410F0B871056}"/>
                    </a:ext>
                  </a:extLst>
                </p14:cNvPr>
                <p14:cNvContentPartPr/>
                <p14:nvPr/>
              </p14:nvContentPartPr>
              <p14:xfrm>
                <a:off x="4599274" y="7806428"/>
                <a:ext cx="217440" cy="95760"/>
              </p14:xfrm>
            </p:contentPart>
          </mc:Choice>
          <mc:Fallback>
            <p:pic>
              <p:nvPicPr>
                <p:cNvPr id="183" name="筆跡 182">
                  <a:extLst>
                    <a:ext uri="{FF2B5EF4-FFF2-40B4-BE49-F238E27FC236}">
                      <a16:creationId xmlns:a16="http://schemas.microsoft.com/office/drawing/2014/main" id="{75AFDD17-C6BA-317C-C02F-410F0B87105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515212" y="7638428"/>
                  <a:ext cx="385003" cy="4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84" name="筆跡 183">
                  <a:extLst>
                    <a:ext uri="{FF2B5EF4-FFF2-40B4-BE49-F238E27FC236}">
                      <a16:creationId xmlns:a16="http://schemas.microsoft.com/office/drawing/2014/main" id="{6EE4DFF2-0ABD-0EE3-FAB6-9517D818E8D0}"/>
                    </a:ext>
                  </a:extLst>
                </p14:cNvPr>
                <p14:cNvContentPartPr/>
                <p14:nvPr/>
              </p14:nvContentPartPr>
              <p14:xfrm>
                <a:off x="5158714" y="8051948"/>
                <a:ext cx="194040" cy="302400"/>
              </p14:xfrm>
            </p:contentPart>
          </mc:Choice>
          <mc:Fallback>
            <p:pic>
              <p:nvPicPr>
                <p:cNvPr id="184" name="筆跡 183">
                  <a:extLst>
                    <a:ext uri="{FF2B5EF4-FFF2-40B4-BE49-F238E27FC236}">
                      <a16:creationId xmlns:a16="http://schemas.microsoft.com/office/drawing/2014/main" id="{6EE4DFF2-0ABD-0EE3-FAB6-9517D818E8D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074835" y="7883948"/>
                  <a:ext cx="361239" cy="6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85" name="筆跡 184">
                  <a:extLst>
                    <a:ext uri="{FF2B5EF4-FFF2-40B4-BE49-F238E27FC236}">
                      <a16:creationId xmlns:a16="http://schemas.microsoft.com/office/drawing/2014/main" id="{5E15D7B3-C718-EDBB-9622-218D904013C3}"/>
                    </a:ext>
                  </a:extLst>
                </p14:cNvPr>
                <p14:cNvContentPartPr/>
                <p14:nvPr/>
              </p14:nvContentPartPr>
              <p14:xfrm>
                <a:off x="4667314" y="8461268"/>
                <a:ext cx="394560" cy="139680"/>
              </p14:xfrm>
            </p:contentPart>
          </mc:Choice>
          <mc:Fallback>
            <p:pic>
              <p:nvPicPr>
                <p:cNvPr id="185" name="筆跡 184">
                  <a:extLst>
                    <a:ext uri="{FF2B5EF4-FFF2-40B4-BE49-F238E27FC236}">
                      <a16:creationId xmlns:a16="http://schemas.microsoft.com/office/drawing/2014/main" id="{5E15D7B3-C718-EDBB-9622-218D904013C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583365" y="8294211"/>
                  <a:ext cx="561898" cy="47435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6B909D6F-AB9F-ED55-3E93-9D4091DDC3D7}"/>
              </a:ext>
            </a:extLst>
          </p:cNvPr>
          <p:cNvGrpSpPr/>
          <p:nvPr/>
        </p:nvGrpSpPr>
        <p:grpSpPr>
          <a:xfrm>
            <a:off x="3556199" y="6832898"/>
            <a:ext cx="1978094" cy="1200330"/>
            <a:chOff x="6531645" y="7825179"/>
            <a:chExt cx="3077004" cy="1867161"/>
          </a:xfrm>
        </p:grpSpPr>
        <p:pic>
          <p:nvPicPr>
            <p:cNvPr id="187" name="圖片 186">
              <a:extLst>
                <a:ext uri="{FF2B5EF4-FFF2-40B4-BE49-F238E27FC236}">
                  <a16:creationId xmlns:a16="http://schemas.microsoft.com/office/drawing/2014/main" id="{2F0FC894-364E-435B-FA04-74A88DBC5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1"/>
            <a:stretch>
              <a:fillRect/>
            </a:stretch>
          </p:blipFill>
          <p:spPr>
            <a:xfrm>
              <a:off x="6531645" y="7825179"/>
              <a:ext cx="3077004" cy="186716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88" name="筆跡 187">
                  <a:extLst>
                    <a:ext uri="{FF2B5EF4-FFF2-40B4-BE49-F238E27FC236}">
                      <a16:creationId xmlns:a16="http://schemas.microsoft.com/office/drawing/2014/main" id="{59ED2E6F-B0CA-C982-C096-82B2AC9A7C00}"/>
                    </a:ext>
                  </a:extLst>
                </p14:cNvPr>
                <p14:cNvContentPartPr/>
                <p14:nvPr/>
              </p14:nvContentPartPr>
              <p14:xfrm>
                <a:off x="7085794" y="8445428"/>
                <a:ext cx="516960" cy="645480"/>
              </p14:xfrm>
            </p:contentPart>
          </mc:Choice>
          <mc:Fallback>
            <p:pic>
              <p:nvPicPr>
                <p:cNvPr id="188" name="筆跡 187">
                  <a:extLst>
                    <a:ext uri="{FF2B5EF4-FFF2-40B4-BE49-F238E27FC236}">
                      <a16:creationId xmlns:a16="http://schemas.microsoft.com/office/drawing/2014/main" id="{59ED2E6F-B0CA-C982-C096-82B2AC9A7C0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001781" y="8277480"/>
                  <a:ext cx="684426" cy="980816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89" name="流程圖: 接點 188">
              <a:extLst>
                <a:ext uri="{FF2B5EF4-FFF2-40B4-BE49-F238E27FC236}">
                  <a16:creationId xmlns:a16="http://schemas.microsoft.com/office/drawing/2014/main" id="{AB5E00D2-B1C3-2009-80AD-4DA272520992}"/>
                </a:ext>
              </a:extLst>
            </p:cNvPr>
            <p:cNvSpPr/>
            <p:nvPr/>
          </p:nvSpPr>
          <p:spPr>
            <a:xfrm>
              <a:off x="7267410" y="8693636"/>
              <a:ext cx="258480" cy="268387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grpSp>
        <p:nvGrpSpPr>
          <p:cNvPr id="190" name="群組 189">
            <a:extLst>
              <a:ext uri="{FF2B5EF4-FFF2-40B4-BE49-F238E27FC236}">
                <a16:creationId xmlns:a16="http://schemas.microsoft.com/office/drawing/2014/main" id="{C590CEF5-5E31-0274-8599-0BB4BCB63529}"/>
              </a:ext>
            </a:extLst>
          </p:cNvPr>
          <p:cNvGrpSpPr/>
          <p:nvPr/>
        </p:nvGrpSpPr>
        <p:grpSpPr>
          <a:xfrm>
            <a:off x="479828" y="7135425"/>
            <a:ext cx="1254303" cy="1565545"/>
            <a:chOff x="928055" y="1626832"/>
            <a:chExt cx="2212609" cy="2264686"/>
          </a:xfrm>
        </p:grpSpPr>
        <p:pic>
          <p:nvPicPr>
            <p:cNvPr id="191" name="圖片 190">
              <a:extLst>
                <a:ext uri="{FF2B5EF4-FFF2-40B4-BE49-F238E27FC236}">
                  <a16:creationId xmlns:a16="http://schemas.microsoft.com/office/drawing/2014/main" id="{06400CEB-44C6-3CB9-4176-21B310AAA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5552" y="1672313"/>
              <a:ext cx="1905925" cy="2219205"/>
            </a:xfrm>
            <a:prstGeom prst="rect">
              <a:avLst/>
            </a:prstGeom>
          </p:spPr>
        </p:pic>
        <p:pic>
          <p:nvPicPr>
            <p:cNvPr id="192" name="圖片 191">
              <a:extLst>
                <a:ext uri="{FF2B5EF4-FFF2-40B4-BE49-F238E27FC236}">
                  <a16:creationId xmlns:a16="http://schemas.microsoft.com/office/drawing/2014/main" id="{8CAB6EE0-39F3-C779-8BB8-DD9AEDCE9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8055" y="1907740"/>
              <a:ext cx="750880" cy="192120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pic>
          <p:nvPicPr>
            <p:cNvPr id="193" name="圖片 192">
              <a:extLst>
                <a:ext uri="{FF2B5EF4-FFF2-40B4-BE49-F238E27FC236}">
                  <a16:creationId xmlns:a16="http://schemas.microsoft.com/office/drawing/2014/main" id="{DEC168F6-B1E3-B795-21BE-96C8164841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1" b="63849"/>
            <a:stretch>
              <a:fillRect/>
            </a:stretch>
          </p:blipFill>
          <p:spPr>
            <a:xfrm>
              <a:off x="1110176" y="1626832"/>
              <a:ext cx="1635807" cy="228631"/>
            </a:xfrm>
            <a:prstGeom prst="rect">
              <a:avLst/>
            </a:prstGeom>
          </p:spPr>
        </p:pic>
        <p:pic>
          <p:nvPicPr>
            <p:cNvPr id="194" name="圖片 193">
              <a:extLst>
                <a:ext uri="{FF2B5EF4-FFF2-40B4-BE49-F238E27FC236}">
                  <a16:creationId xmlns:a16="http://schemas.microsoft.com/office/drawing/2014/main" id="{AC30CFFC-463C-88C5-DAF4-AA460694A4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4" cstate="print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49246" b="93970" l="48438" r="94531">
                          <a14:foregroundMark x1="63672" y1="74372" x2="64844" y2="86432"/>
                          <a14:foregroundMark x1="54297" y1="59799" x2="90625" y2="51759"/>
                          <a14:foregroundMark x1="90625" y1="51759" x2="64844" y2="58291"/>
                          <a14:foregroundMark x1="55859" y1="57789" x2="89453" y2="51759"/>
                          <a14:foregroundMark x1="74219" y1="52764" x2="89063" y2="50251"/>
                          <a14:foregroundMark x1="74609" y1="51256" x2="85938" y2="50754"/>
                          <a14:foregroundMark x1="53906" y1="61809" x2="69141" y2="62814"/>
                          <a14:foregroundMark x1="53906" y1="56784" x2="64063" y2="57789"/>
                          <a14:foregroundMark x1="48438" y1="62814" x2="64453" y2="71859"/>
                          <a14:foregroundMark x1="64063" y1="91457" x2="71875" y2="9196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913" t="44021"/>
            <a:stretch>
              <a:fillRect/>
            </a:stretch>
          </p:blipFill>
          <p:spPr>
            <a:xfrm>
              <a:off x="2465375" y="2181660"/>
              <a:ext cx="675289" cy="56416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95" name="筆跡 194">
                  <a:extLst>
                    <a:ext uri="{FF2B5EF4-FFF2-40B4-BE49-F238E27FC236}">
                      <a16:creationId xmlns:a16="http://schemas.microsoft.com/office/drawing/2014/main" id="{50C39C64-5E49-D367-0FCD-CA83D8A3286C}"/>
                    </a:ext>
                  </a:extLst>
                </p14:cNvPr>
                <p14:cNvContentPartPr/>
                <p14:nvPr/>
              </p14:nvContentPartPr>
              <p14:xfrm>
                <a:off x="1968200" y="2476230"/>
                <a:ext cx="50040" cy="360"/>
              </p14:xfrm>
            </p:contentPart>
          </mc:Choice>
          <mc:Fallback>
            <p:pic>
              <p:nvPicPr>
                <p:cNvPr id="195" name="筆跡 194">
                  <a:extLst>
                    <a:ext uri="{FF2B5EF4-FFF2-40B4-BE49-F238E27FC236}">
                      <a16:creationId xmlns:a16="http://schemas.microsoft.com/office/drawing/2014/main" id="{50C39C64-5E49-D367-0FCD-CA83D8A3286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904858" y="2404590"/>
                  <a:ext cx="17609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96" name="筆跡 195">
                  <a:extLst>
                    <a:ext uri="{FF2B5EF4-FFF2-40B4-BE49-F238E27FC236}">
                      <a16:creationId xmlns:a16="http://schemas.microsoft.com/office/drawing/2014/main" id="{392D5B77-C3C6-1CC0-6595-8B5317286714}"/>
                    </a:ext>
                  </a:extLst>
                </p14:cNvPr>
                <p14:cNvContentPartPr/>
                <p14:nvPr/>
              </p14:nvContentPartPr>
              <p14:xfrm>
                <a:off x="2222360" y="2273190"/>
                <a:ext cx="145800" cy="360"/>
              </p14:xfrm>
            </p:contentPart>
          </mc:Choice>
          <mc:Fallback>
            <p:pic>
              <p:nvPicPr>
                <p:cNvPr id="196" name="筆跡 195">
                  <a:extLst>
                    <a:ext uri="{FF2B5EF4-FFF2-40B4-BE49-F238E27FC236}">
                      <a16:creationId xmlns:a16="http://schemas.microsoft.com/office/drawing/2014/main" id="{392D5B77-C3C6-1CC0-6595-8B531728671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158969" y="2201190"/>
                  <a:ext cx="271949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97" name="筆跡 196">
                  <a:extLst>
                    <a:ext uri="{FF2B5EF4-FFF2-40B4-BE49-F238E27FC236}">
                      <a16:creationId xmlns:a16="http://schemas.microsoft.com/office/drawing/2014/main" id="{05450969-F966-8648-E4DE-1FFE390AF0C8}"/>
                    </a:ext>
                  </a:extLst>
                </p14:cNvPr>
                <p14:cNvContentPartPr/>
                <p14:nvPr/>
              </p14:nvContentPartPr>
              <p14:xfrm>
                <a:off x="2133440" y="2571630"/>
                <a:ext cx="154440" cy="13320"/>
              </p14:xfrm>
            </p:contentPart>
          </mc:Choice>
          <mc:Fallback>
            <p:pic>
              <p:nvPicPr>
                <p:cNvPr id="197" name="筆跡 196">
                  <a:extLst>
                    <a:ext uri="{FF2B5EF4-FFF2-40B4-BE49-F238E27FC236}">
                      <a16:creationId xmlns:a16="http://schemas.microsoft.com/office/drawing/2014/main" id="{05450969-F966-8648-E4DE-1FFE390AF0C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070145" y="2469168"/>
                  <a:ext cx="280397" cy="2177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98" name="筆跡 197">
                  <a:extLst>
                    <a:ext uri="{FF2B5EF4-FFF2-40B4-BE49-F238E27FC236}">
                      <a16:creationId xmlns:a16="http://schemas.microsoft.com/office/drawing/2014/main" id="{7B9F8ECD-4ADA-1DE5-F9DD-645E268A3D85}"/>
                    </a:ext>
                  </a:extLst>
                </p14:cNvPr>
                <p14:cNvContentPartPr/>
                <p14:nvPr/>
              </p14:nvContentPartPr>
              <p14:xfrm>
                <a:off x="2381120" y="2449590"/>
                <a:ext cx="99000" cy="7920"/>
              </p14:xfrm>
            </p:contentPart>
          </mc:Choice>
          <mc:Fallback>
            <p:pic>
              <p:nvPicPr>
                <p:cNvPr id="198" name="筆跡 197">
                  <a:extLst>
                    <a:ext uri="{FF2B5EF4-FFF2-40B4-BE49-F238E27FC236}">
                      <a16:creationId xmlns:a16="http://schemas.microsoft.com/office/drawing/2014/main" id="{7B9F8ECD-4ADA-1DE5-F9DD-645E268A3D8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317658" y="2343990"/>
                  <a:ext cx="225288" cy="2185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99" name="筆跡 198">
                  <a:extLst>
                    <a:ext uri="{FF2B5EF4-FFF2-40B4-BE49-F238E27FC236}">
                      <a16:creationId xmlns:a16="http://schemas.microsoft.com/office/drawing/2014/main" id="{A7A3DBD1-B8A2-A791-91AB-6A7B809004E1}"/>
                    </a:ext>
                  </a:extLst>
                </p14:cNvPr>
                <p14:cNvContentPartPr/>
                <p14:nvPr/>
              </p14:nvContentPartPr>
              <p14:xfrm>
                <a:off x="2018960" y="2577750"/>
                <a:ext cx="128880" cy="360"/>
              </p14:xfrm>
            </p:contentPart>
          </mc:Choice>
          <mc:Fallback>
            <p:pic>
              <p:nvPicPr>
                <p:cNvPr id="199" name="筆跡 198">
                  <a:extLst>
                    <a:ext uri="{FF2B5EF4-FFF2-40B4-BE49-F238E27FC236}">
                      <a16:creationId xmlns:a16="http://schemas.microsoft.com/office/drawing/2014/main" id="{A7A3DBD1-B8A2-A791-91AB-6A7B809004E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956107" y="2505750"/>
                  <a:ext cx="2552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00" name="筆跡 199">
                  <a:extLst>
                    <a:ext uri="{FF2B5EF4-FFF2-40B4-BE49-F238E27FC236}">
                      <a16:creationId xmlns:a16="http://schemas.microsoft.com/office/drawing/2014/main" id="{096D4D3A-66F3-6BCE-F63B-988647C36618}"/>
                    </a:ext>
                  </a:extLst>
                </p14:cNvPr>
                <p14:cNvContentPartPr/>
                <p14:nvPr/>
              </p14:nvContentPartPr>
              <p14:xfrm>
                <a:off x="2184200" y="2685750"/>
                <a:ext cx="143640" cy="360"/>
              </p14:xfrm>
            </p:contentPart>
          </mc:Choice>
          <mc:Fallback>
            <p:pic>
              <p:nvPicPr>
                <p:cNvPr id="200" name="筆跡 199">
                  <a:extLst>
                    <a:ext uri="{FF2B5EF4-FFF2-40B4-BE49-F238E27FC236}">
                      <a16:creationId xmlns:a16="http://schemas.microsoft.com/office/drawing/2014/main" id="{096D4D3A-66F3-6BCE-F63B-988647C3661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120922" y="2614110"/>
                  <a:ext cx="269562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201" name="筆跡 200">
                  <a:extLst>
                    <a:ext uri="{FF2B5EF4-FFF2-40B4-BE49-F238E27FC236}">
                      <a16:creationId xmlns:a16="http://schemas.microsoft.com/office/drawing/2014/main" id="{53215500-CA1B-04FB-84D3-B27B1F4843B2}"/>
                    </a:ext>
                  </a:extLst>
                </p14:cNvPr>
                <p14:cNvContentPartPr/>
                <p14:nvPr/>
              </p14:nvContentPartPr>
              <p14:xfrm>
                <a:off x="2018960" y="2317470"/>
                <a:ext cx="139680" cy="360"/>
              </p14:xfrm>
            </p:contentPart>
          </mc:Choice>
          <mc:Fallback>
            <p:pic>
              <p:nvPicPr>
                <p:cNvPr id="201" name="筆跡 200">
                  <a:extLst>
                    <a:ext uri="{FF2B5EF4-FFF2-40B4-BE49-F238E27FC236}">
                      <a16:creationId xmlns:a16="http://schemas.microsoft.com/office/drawing/2014/main" id="{53215500-CA1B-04FB-84D3-B27B1F4843B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56104" y="2245830"/>
                  <a:ext cx="266027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202" name="筆跡 201">
                  <a:extLst>
                    <a:ext uri="{FF2B5EF4-FFF2-40B4-BE49-F238E27FC236}">
                      <a16:creationId xmlns:a16="http://schemas.microsoft.com/office/drawing/2014/main" id="{BAEACD45-E7CC-B9A2-190F-EBBA63F22FE1}"/>
                    </a:ext>
                  </a:extLst>
                </p14:cNvPr>
                <p14:cNvContentPartPr/>
                <p14:nvPr/>
              </p14:nvContentPartPr>
              <p14:xfrm>
                <a:off x="2114360" y="2228550"/>
                <a:ext cx="74520" cy="6840"/>
              </p14:xfrm>
            </p:contentPart>
          </mc:Choice>
          <mc:Fallback>
            <p:pic>
              <p:nvPicPr>
                <p:cNvPr id="202" name="筆跡 201">
                  <a:extLst>
                    <a:ext uri="{FF2B5EF4-FFF2-40B4-BE49-F238E27FC236}">
                      <a16:creationId xmlns:a16="http://schemas.microsoft.com/office/drawing/2014/main" id="{BAEACD45-E7CC-B9A2-190F-EBBA63F22FE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051207" y="2130836"/>
                  <a:ext cx="200194" cy="201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203" name="筆跡 202">
                  <a:extLst>
                    <a:ext uri="{FF2B5EF4-FFF2-40B4-BE49-F238E27FC236}">
                      <a16:creationId xmlns:a16="http://schemas.microsoft.com/office/drawing/2014/main" id="{ACB1EDAB-148F-0926-3635-A86EF9C22A32}"/>
                    </a:ext>
                  </a:extLst>
                </p14:cNvPr>
                <p14:cNvContentPartPr/>
                <p14:nvPr/>
              </p14:nvContentPartPr>
              <p14:xfrm>
                <a:off x="2285720" y="2400270"/>
                <a:ext cx="127080" cy="5400"/>
              </p14:xfrm>
            </p:contentPart>
          </mc:Choice>
          <mc:Fallback>
            <p:pic>
              <p:nvPicPr>
                <p:cNvPr id="203" name="筆跡 202">
                  <a:extLst>
                    <a:ext uri="{FF2B5EF4-FFF2-40B4-BE49-F238E27FC236}">
                      <a16:creationId xmlns:a16="http://schemas.microsoft.com/office/drawing/2014/main" id="{ACB1EDAB-148F-0926-3635-A86EF9C22A3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222496" y="2302088"/>
                  <a:ext cx="252896" cy="201273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05" name="文字方塊 204">
            <a:extLst>
              <a:ext uri="{FF2B5EF4-FFF2-40B4-BE49-F238E27FC236}">
                <a16:creationId xmlns:a16="http://schemas.microsoft.com/office/drawing/2014/main" id="{68DB1A70-67B2-82B7-F1BF-EE27108501BF}"/>
              </a:ext>
            </a:extLst>
          </p:cNvPr>
          <p:cNvSpPr txBox="1"/>
          <p:nvPr/>
        </p:nvSpPr>
        <p:spPr>
          <a:xfrm>
            <a:off x="5526420" y="6868939"/>
            <a:ext cx="4052960" cy="156966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/>
            <a:r>
              <a:rPr lang="zh-HK" altLang="zh-HK" sz="1200" b="1" dirty="0"/>
              <a:t>Select an SA4:</a:t>
            </a:r>
            <a:r>
              <a:rPr lang="zh-HK" altLang="zh-HK" sz="1200" dirty="0"/>
              <a:t> Highlight its boundary and show school locations and zone boundaries.</a:t>
            </a:r>
          </a:p>
          <a:p>
            <a:pPr lvl="0"/>
            <a:r>
              <a:rPr lang="zh-HK" altLang="zh-HK" sz="1200" b="1" dirty="0"/>
              <a:t>Adjust the results range:</a:t>
            </a:r>
            <a:r>
              <a:rPr lang="zh-HK" altLang="zh-HK" sz="1200" dirty="0"/>
              <a:t> Highlight zones whose associated schools match the selected range. No profile colours are shown yet.</a:t>
            </a:r>
          </a:p>
          <a:p>
            <a:pPr lvl="0"/>
            <a:r>
              <a:rPr lang="zh-HK" altLang="zh-HK" sz="1200" b="1" dirty="0"/>
              <a:t>Reveal school details:</a:t>
            </a:r>
            <a:r>
              <a:rPr lang="zh-HK" altLang="zh-HK" sz="1200" dirty="0"/>
              <a:t> Hover over a school marker for basic information. Click or tap to keep the card open, then close it to return.</a:t>
            </a:r>
          </a:p>
        </p:txBody>
      </p:sp>
      <p:sp>
        <p:nvSpPr>
          <p:cNvPr id="207" name="文字方塊 206">
            <a:extLst>
              <a:ext uri="{FF2B5EF4-FFF2-40B4-BE49-F238E27FC236}">
                <a16:creationId xmlns:a16="http://schemas.microsoft.com/office/drawing/2014/main" id="{C699B2F3-C4BA-2A04-B3F4-5EC771D3064D}"/>
              </a:ext>
            </a:extLst>
          </p:cNvPr>
          <p:cNvSpPr txBox="1"/>
          <p:nvPr/>
        </p:nvSpPr>
        <p:spPr>
          <a:xfrm>
            <a:off x="838200" y="6713396"/>
            <a:ext cx="1807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2</a:t>
            </a:r>
            <a:r>
              <a:rPr lang="zh-HK" altLang="zh-HK" b="1" dirty="0">
                <a:highlight>
                  <a:srgbClr val="FFFF00"/>
                </a:highlight>
              </a:rPr>
              <a:t> </a:t>
            </a:r>
            <a:r>
              <a:rPr lang="zh-HK" altLang="zh-HK" dirty="0">
                <a:highlight>
                  <a:srgbClr val="FFFF00"/>
                </a:highlight>
              </a:rPr>
              <a:t>Explore an area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209" name="文字方塊 208">
            <a:extLst>
              <a:ext uri="{FF2B5EF4-FFF2-40B4-BE49-F238E27FC236}">
                <a16:creationId xmlns:a16="http://schemas.microsoft.com/office/drawing/2014/main" id="{5984DCB3-437C-F124-EA6B-93B206E74458}"/>
              </a:ext>
            </a:extLst>
          </p:cNvPr>
          <p:cNvSpPr txBox="1"/>
          <p:nvPr/>
        </p:nvSpPr>
        <p:spPr>
          <a:xfrm>
            <a:off x="9808917" y="6444994"/>
            <a:ext cx="859338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b="1" u="sng" dirty="0"/>
              <a:t>Why this design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Scrolling provides a clear story sequence.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Early map exploration connects the story to a place parents care about.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Matched maps introduce background before profiles.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HK" altLang="zh-HK" sz="1400" dirty="0"/>
              <a:t>Returning to the same area connects new information to the reader</a:t>
            </a:r>
            <a:r>
              <a:rPr lang="en-US" altLang="zh-HK" sz="1400" dirty="0"/>
              <a:t>’</a:t>
            </a:r>
            <a:r>
              <a:rPr lang="zh-HK" altLang="zh-HK" sz="1400" dirty="0"/>
              <a:t>s earlier choice.</a:t>
            </a:r>
          </a:p>
          <a:p>
            <a:r>
              <a:rPr lang="zh-HK" altLang="zh-HK" sz="1400" b="1" u="sng" dirty="0"/>
              <a:t>Main challenge</a:t>
            </a:r>
            <a:br>
              <a:rPr lang="zh-HK" altLang="zh-HK" sz="1400" dirty="0"/>
            </a:br>
            <a:r>
              <a:rPr lang="zh-HK" altLang="zh-HK" sz="1400" dirty="0"/>
              <a:t>Synchronising maps and scroll transitions requires testing. Keep transitions simple and provide a static alternative.</a:t>
            </a:r>
          </a:p>
          <a:p>
            <a:pPr lvl="0"/>
            <a:r>
              <a:rPr lang="zh-HK" altLang="zh-HK" sz="1400" u="sng" dirty="0"/>
              <a:t>Implementation: </a:t>
            </a:r>
            <a:r>
              <a:rPr lang="zh-HK" altLang="zh-HK" sz="1400" dirty="0"/>
              <a:t>D3.js with HTML and CSS, using prepared data exported from the existing R analysis.</a:t>
            </a:r>
          </a:p>
          <a:p>
            <a:pPr lvl="0"/>
            <a:r>
              <a:rPr lang="zh-HK" altLang="zh-HK" sz="1400" b="1" u="sng" dirty="0"/>
              <a:t>Data: </a:t>
            </a:r>
            <a:r>
              <a:rPr lang="zh-HK" altLang="zh-HK" sz="1400" dirty="0"/>
              <a:t>VCAA results, ACARA ICSEA, school locations and school-zone boundaries.</a:t>
            </a:r>
          </a:p>
          <a:p>
            <a:pPr lvl="0"/>
            <a:r>
              <a:rPr lang="zh-HK" altLang="zh-HK" sz="1400" dirty="0"/>
              <a:t>Reuse map boundaries and retain the selected SA4 and profile.</a:t>
            </a:r>
          </a:p>
          <a:p>
            <a:pPr lvl="0"/>
            <a:r>
              <a:rPr lang="zh-HK" altLang="zh-HK" sz="1400" dirty="0"/>
              <a:t>Calculate yearly averages using the same schools and fixed profile groups.Provide keyboard access and a reduced-motion option.</a:t>
            </a:r>
          </a:p>
          <a:p>
            <a:r>
              <a:rPr lang="zh-HK" altLang="zh-HK" sz="1400" u="sng" dirty="0"/>
              <a:t>Data understanding</a:t>
            </a:r>
          </a:p>
          <a:p>
            <a:pPr lvl="0"/>
            <a:r>
              <a:rPr lang="zh-HK" altLang="zh-HK" sz="1400" dirty="0"/>
              <a:t>Show brief sources and reference years in the footer, with further details under </a:t>
            </a:r>
            <a:r>
              <a:rPr lang="zh-HK" altLang="zh-HK" sz="1400" b="1" dirty="0"/>
              <a:t>“About the data.”</a:t>
            </a:r>
            <a:endParaRPr lang="zh-HK" altLang="zh-HK" sz="1400" dirty="0"/>
          </a:p>
          <a:p>
            <a:pPr lvl="0"/>
            <a:r>
              <a:rPr lang="zh-HK" altLang="zh-HK" sz="1400" dirty="0"/>
              <a:t>Profiles cover 111 zone-linked local government schools with complete data.</a:t>
            </a:r>
          </a:p>
          <a:p>
            <a:pPr lvl="0"/>
            <a:r>
              <a:rPr lang="zh-HK" altLang="zh-HK" sz="1400" dirty="0"/>
              <a:t>Separate profile averages from individual school results.</a:t>
            </a:r>
          </a:p>
          <a:p>
            <a:pPr lvl="0"/>
            <a:r>
              <a:rPr lang="zh-HK" altLang="zh-HK" sz="1400" dirty="0"/>
              <a:t>Profiles describe group patterns, not school-quality grades or future predictions.</a:t>
            </a:r>
          </a:p>
          <a:p>
            <a:pPr>
              <a:buNone/>
            </a:pPr>
            <a:endParaRPr lang="zh-HK" altLang="zh-HK" sz="1400" dirty="0"/>
          </a:p>
        </p:txBody>
      </p:sp>
      <p:pic>
        <p:nvPicPr>
          <p:cNvPr id="211" name="圖片 210">
            <a:extLst>
              <a:ext uri="{FF2B5EF4-FFF2-40B4-BE49-F238E27FC236}">
                <a16:creationId xmlns:a16="http://schemas.microsoft.com/office/drawing/2014/main" id="{21E3CEB5-BB3F-38D0-F938-377983F8E3BC}"/>
              </a:ext>
            </a:extLst>
          </p:cNvPr>
          <p:cNvPicPr>
            <a:picLocks noChangeAspect="1"/>
          </p:cNvPicPr>
          <p:nvPr/>
        </p:nvPicPr>
        <p:blipFill>
          <a:blip r:embed="rId52"/>
          <a:srcRect r="32897"/>
          <a:stretch>
            <a:fillRect/>
          </a:stretch>
        </p:blipFill>
        <p:spPr>
          <a:xfrm>
            <a:off x="3417613" y="5221535"/>
            <a:ext cx="1215033" cy="139562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212" name="筆跡 211">
                <a:extLst>
                  <a:ext uri="{FF2B5EF4-FFF2-40B4-BE49-F238E27FC236}">
                    <a16:creationId xmlns:a16="http://schemas.microsoft.com/office/drawing/2014/main" id="{9D268E19-521F-22D2-F97B-F60155E7AF03}"/>
                  </a:ext>
                </a:extLst>
              </p14:cNvPr>
              <p14:cNvContentPartPr/>
              <p14:nvPr/>
            </p14:nvContentPartPr>
            <p14:xfrm>
              <a:off x="6037700" y="1718565"/>
              <a:ext cx="3446280" cy="15840"/>
            </p14:xfrm>
          </p:contentPart>
        </mc:Choice>
        <mc:Fallback>
          <p:pic>
            <p:nvPicPr>
              <p:cNvPr id="212" name="筆跡 211">
                <a:extLst>
                  <a:ext uri="{FF2B5EF4-FFF2-40B4-BE49-F238E27FC236}">
                    <a16:creationId xmlns:a16="http://schemas.microsoft.com/office/drawing/2014/main" id="{9D268E19-521F-22D2-F97B-F60155E7AF03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031580" y="1712445"/>
                <a:ext cx="345852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213" name="筆跡 212">
                <a:extLst>
                  <a:ext uri="{FF2B5EF4-FFF2-40B4-BE49-F238E27FC236}">
                    <a16:creationId xmlns:a16="http://schemas.microsoft.com/office/drawing/2014/main" id="{1D226FB4-B655-8E44-E2C2-0694C3CD47DA}"/>
                  </a:ext>
                </a:extLst>
              </p14:cNvPr>
              <p14:cNvContentPartPr/>
              <p14:nvPr/>
            </p14:nvContentPartPr>
            <p14:xfrm>
              <a:off x="6509660" y="3574365"/>
              <a:ext cx="3069720" cy="56880"/>
            </p14:xfrm>
          </p:contentPart>
        </mc:Choice>
        <mc:Fallback>
          <p:pic>
            <p:nvPicPr>
              <p:cNvPr id="213" name="筆跡 212">
                <a:extLst>
                  <a:ext uri="{FF2B5EF4-FFF2-40B4-BE49-F238E27FC236}">
                    <a16:creationId xmlns:a16="http://schemas.microsoft.com/office/drawing/2014/main" id="{1D226FB4-B655-8E44-E2C2-0694C3CD47DA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6503540" y="3568245"/>
                <a:ext cx="3081960" cy="6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215" name="筆跡 214">
                <a:extLst>
                  <a:ext uri="{FF2B5EF4-FFF2-40B4-BE49-F238E27FC236}">
                    <a16:creationId xmlns:a16="http://schemas.microsoft.com/office/drawing/2014/main" id="{78D22620-1DBA-0C7A-6FC7-879EC3D5ACAA}"/>
                  </a:ext>
                </a:extLst>
              </p14:cNvPr>
              <p14:cNvContentPartPr/>
              <p14:nvPr/>
            </p14:nvContentPartPr>
            <p14:xfrm>
              <a:off x="163580" y="4503525"/>
              <a:ext cx="3131640" cy="2026440"/>
            </p14:xfrm>
          </p:contentPart>
        </mc:Choice>
        <mc:Fallback>
          <p:pic>
            <p:nvPicPr>
              <p:cNvPr id="215" name="筆跡 214">
                <a:extLst>
                  <a:ext uri="{FF2B5EF4-FFF2-40B4-BE49-F238E27FC236}">
                    <a16:creationId xmlns:a16="http://schemas.microsoft.com/office/drawing/2014/main" id="{78D22620-1DBA-0C7A-6FC7-879EC3D5ACAA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157460" y="4497405"/>
                <a:ext cx="3143880" cy="203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217" name="筆跡 216">
                <a:extLst>
                  <a:ext uri="{FF2B5EF4-FFF2-40B4-BE49-F238E27FC236}">
                    <a16:creationId xmlns:a16="http://schemas.microsoft.com/office/drawing/2014/main" id="{FCA400A1-F59A-868D-8CD0-663B68D9976C}"/>
                  </a:ext>
                </a:extLst>
              </p14:cNvPr>
              <p14:cNvContentPartPr/>
              <p14:nvPr/>
            </p14:nvContentPartPr>
            <p14:xfrm>
              <a:off x="3207020" y="4639965"/>
              <a:ext cx="6449040" cy="887760"/>
            </p14:xfrm>
          </p:contentPart>
        </mc:Choice>
        <mc:Fallback>
          <p:pic>
            <p:nvPicPr>
              <p:cNvPr id="217" name="筆跡 216">
                <a:extLst>
                  <a:ext uri="{FF2B5EF4-FFF2-40B4-BE49-F238E27FC236}">
                    <a16:creationId xmlns:a16="http://schemas.microsoft.com/office/drawing/2014/main" id="{FCA400A1-F59A-868D-8CD0-663B68D9976C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3200900" y="4633845"/>
                <a:ext cx="6461280" cy="900000"/>
              </a:xfrm>
              <a:prstGeom prst="rect">
                <a:avLst/>
              </a:prstGeom>
            </p:spPr>
          </p:pic>
        </mc:Fallback>
      </mc:AlternateContent>
      <p:sp>
        <p:nvSpPr>
          <p:cNvPr id="219" name="文字方塊 218">
            <a:extLst>
              <a:ext uri="{FF2B5EF4-FFF2-40B4-BE49-F238E27FC236}">
                <a16:creationId xmlns:a16="http://schemas.microsoft.com/office/drawing/2014/main" id="{2E4EEBC3-97BF-DDCE-AA1C-843E1ECA630C}"/>
              </a:ext>
            </a:extLst>
          </p:cNvPr>
          <p:cNvSpPr txBox="1"/>
          <p:nvPr/>
        </p:nvSpPr>
        <p:spPr>
          <a:xfrm>
            <a:off x="10809232" y="612554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Sin Ping CHAN</a:t>
            </a:r>
            <a:endParaRPr lang="zh-HK" altLang="en-US" dirty="0"/>
          </a:p>
        </p:txBody>
      </p: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B5AB001F-ABD1-1584-FAB5-F114305E93C6}"/>
              </a:ext>
            </a:extLst>
          </p:cNvPr>
          <p:cNvSpPr txBox="1"/>
          <p:nvPr/>
        </p:nvSpPr>
        <p:spPr>
          <a:xfrm>
            <a:off x="14192148" y="6236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09/10/2026</a:t>
            </a:r>
            <a:endParaRPr lang="zh-HK" altLang="en-US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5376139C-F034-0503-C30D-DC3F02F268EC}"/>
              </a:ext>
            </a:extLst>
          </p:cNvPr>
          <p:cNvSpPr txBox="1"/>
          <p:nvPr/>
        </p:nvSpPr>
        <p:spPr>
          <a:xfrm>
            <a:off x="17330721" y="6041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5</a:t>
            </a:r>
            <a:endParaRPr lang="zh-HK" altLang="en-US" dirty="0"/>
          </a:p>
        </p:txBody>
      </p:sp>
      <p:sp>
        <p:nvSpPr>
          <p:cNvPr id="225" name="文字方塊 224">
            <a:extLst>
              <a:ext uri="{FF2B5EF4-FFF2-40B4-BE49-F238E27FC236}">
                <a16:creationId xmlns:a16="http://schemas.microsoft.com/office/drawing/2014/main" id="{EF5CCAB4-52C9-AEA8-4687-4A8B12DEB498}"/>
              </a:ext>
            </a:extLst>
          </p:cNvPr>
          <p:cNvSpPr txBox="1"/>
          <p:nvPr/>
        </p:nvSpPr>
        <p:spPr>
          <a:xfrm>
            <a:off x="10439400" y="106978"/>
            <a:ext cx="977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Choosing a Secondary School Zone: Results, Student Backgrounds and Trends</a:t>
            </a:r>
            <a:endParaRPr lang="zh-HK" altLang="en-US" dirty="0"/>
          </a:p>
        </p:txBody>
      </p: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EF77DD17-C0D5-4345-0BAD-F34EE6076699}"/>
              </a:ext>
            </a:extLst>
          </p:cNvPr>
          <p:cNvSpPr txBox="1"/>
          <p:nvPr/>
        </p:nvSpPr>
        <p:spPr>
          <a:xfrm>
            <a:off x="10605906" y="1048604"/>
            <a:ext cx="67398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Combine a guided scrolling story with map exploration to help parents look beyond school scores before moving.</a:t>
            </a:r>
            <a:endParaRPr lang="zh-HK" altLang="en-US" dirty="0"/>
          </a:p>
        </p:txBody>
      </p:sp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905E861F-ECD1-8E91-DB7A-4CC72B2F766D}"/>
              </a:ext>
            </a:extLst>
          </p:cNvPr>
          <p:cNvSpPr txBox="1"/>
          <p:nvPr/>
        </p:nvSpPr>
        <p:spPr>
          <a:xfrm>
            <a:off x="3110276" y="1884633"/>
            <a:ext cx="186254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/>
              <a:t>Start with an area you know. Explore its schools, then scroll to understand their backgrounds and recent changes.</a:t>
            </a:r>
            <a:endParaRPr lang="zh-HK" altLang="en-US" sz="1400" dirty="0"/>
          </a:p>
        </p:txBody>
      </p:sp>
      <p:sp>
        <p:nvSpPr>
          <p:cNvPr id="230" name="文字方塊 229">
            <a:extLst>
              <a:ext uri="{FF2B5EF4-FFF2-40B4-BE49-F238E27FC236}">
                <a16:creationId xmlns:a16="http://schemas.microsoft.com/office/drawing/2014/main" id="{FA5356FA-E5E0-EA5C-562B-BC0CFC70B107}"/>
              </a:ext>
            </a:extLst>
          </p:cNvPr>
          <p:cNvSpPr txBox="1"/>
          <p:nvPr/>
        </p:nvSpPr>
        <p:spPr>
          <a:xfrm>
            <a:off x="7592943" y="4430248"/>
            <a:ext cx="99517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HK" sz="1200" dirty="0">
                <a:solidFill>
                  <a:schemeClr val="accent4"/>
                </a:solidFill>
              </a:rPr>
              <a:t>VCE RESULT </a:t>
            </a:r>
            <a:r>
              <a:rPr lang="en-US" altLang="zh-TW" sz="1200" dirty="0">
                <a:solidFill>
                  <a:schemeClr val="accent4"/>
                </a:solidFill>
              </a:rPr>
              <a:t>distribution</a:t>
            </a:r>
            <a:endParaRPr lang="zh-HK" altLang="en-US" sz="1200" dirty="0">
              <a:solidFill>
                <a:schemeClr val="accent4"/>
              </a:solidFill>
            </a:endParaRPr>
          </a:p>
        </p:txBody>
      </p:sp>
      <p:sp>
        <p:nvSpPr>
          <p:cNvPr id="232" name="文字方塊 231">
            <a:extLst>
              <a:ext uri="{FF2B5EF4-FFF2-40B4-BE49-F238E27FC236}">
                <a16:creationId xmlns:a16="http://schemas.microsoft.com/office/drawing/2014/main" id="{C0498EFF-16ED-333A-EB69-73D446310B98}"/>
              </a:ext>
            </a:extLst>
          </p:cNvPr>
          <p:cNvSpPr txBox="1"/>
          <p:nvPr/>
        </p:nvSpPr>
        <p:spPr>
          <a:xfrm>
            <a:off x="6624662" y="4398632"/>
            <a:ext cx="99517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HK" sz="1200" dirty="0">
                <a:solidFill>
                  <a:schemeClr val="accent4"/>
                </a:solidFill>
              </a:rPr>
              <a:t>ICSEA </a:t>
            </a:r>
            <a:r>
              <a:rPr lang="en-US" altLang="zh-TW" sz="1200" dirty="0">
                <a:solidFill>
                  <a:schemeClr val="accent4"/>
                </a:solidFill>
              </a:rPr>
              <a:t>distribution</a:t>
            </a:r>
            <a:endParaRPr lang="zh-HK" altLang="en-US" sz="1200" dirty="0">
              <a:solidFill>
                <a:schemeClr val="accent4"/>
              </a:solidFill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957CEB78-6A49-3D0D-A8F3-07B98CE48FF9}"/>
              </a:ext>
            </a:extLst>
          </p:cNvPr>
          <p:cNvSpPr txBox="1"/>
          <p:nvPr/>
        </p:nvSpPr>
        <p:spPr>
          <a:xfrm>
            <a:off x="3355645" y="4871173"/>
            <a:ext cx="2131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>
                <a:highlight>
                  <a:srgbClr val="FFFF00"/>
                </a:highlight>
              </a:rPr>
              <a:t>5</a:t>
            </a:r>
            <a:r>
              <a:rPr lang="zh-HK" altLang="zh-HK">
                <a:highlight>
                  <a:srgbClr val="FFFF00"/>
                </a:highlight>
              </a:rPr>
              <a:t>Return to your area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234" name="文字方塊 233">
            <a:extLst>
              <a:ext uri="{FF2B5EF4-FFF2-40B4-BE49-F238E27FC236}">
                <a16:creationId xmlns:a16="http://schemas.microsoft.com/office/drawing/2014/main" id="{C94DA11C-F4BE-611B-12E4-FCC2199E597D}"/>
              </a:ext>
            </a:extLst>
          </p:cNvPr>
          <p:cNvSpPr txBox="1"/>
          <p:nvPr/>
        </p:nvSpPr>
        <p:spPr>
          <a:xfrm>
            <a:off x="5139110" y="5553200"/>
            <a:ext cx="30087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dirty="0"/>
              <a:t>Revisit the selected SA4 with profile colours. Highlight matching school zones and explore individual school details.</a:t>
            </a:r>
            <a:endParaRPr lang="zh-HK" altLang="en-US" sz="1200" dirty="0"/>
          </a:p>
        </p:txBody>
      </p:sp>
      <p:sp>
        <p:nvSpPr>
          <p:cNvPr id="236" name="文字方塊 235">
            <a:extLst>
              <a:ext uri="{FF2B5EF4-FFF2-40B4-BE49-F238E27FC236}">
                <a16:creationId xmlns:a16="http://schemas.microsoft.com/office/drawing/2014/main" id="{827A1A05-AFC3-2F01-3E94-1E95EC394322}"/>
              </a:ext>
            </a:extLst>
          </p:cNvPr>
          <p:cNvSpPr txBox="1"/>
          <p:nvPr/>
        </p:nvSpPr>
        <p:spPr>
          <a:xfrm>
            <a:off x="5313581" y="6214162"/>
            <a:ext cx="55656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HK" sz="1200" dirty="0">
                <a:solidFill>
                  <a:schemeClr val="accent1">
                    <a:lumMod val="75000"/>
                  </a:schemeClr>
                </a:solidFill>
              </a:rPr>
              <a:t>Ending msg:</a:t>
            </a:r>
            <a:br>
              <a:rPr lang="en-US" altLang="zh-HK" sz="12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HK" sz="1200" dirty="0">
                <a:solidFill>
                  <a:schemeClr val="accent1">
                    <a:lumMod val="75000"/>
                  </a:schemeClr>
                </a:solidFill>
              </a:rPr>
              <a:t>e.g.</a:t>
            </a:r>
            <a:r>
              <a:rPr lang="zh-HK" altLang="zh-HK" sz="1200" dirty="0">
                <a:solidFill>
                  <a:schemeClr val="accent1">
                    <a:lumMod val="75000"/>
                  </a:schemeClr>
                </a:solidFill>
              </a:rPr>
              <a:t>Before moving, check background, trends, courses and </a:t>
            </a:r>
            <a:r>
              <a:rPr lang="en-US" altLang="zh-HK" sz="1200" dirty="0">
                <a:solidFill>
                  <a:schemeClr val="accent1">
                    <a:lumMod val="75000"/>
                  </a:schemeClr>
                </a:solidFill>
              </a:rPr>
              <a:t>…</a:t>
            </a:r>
            <a:r>
              <a:rPr lang="zh-HK" altLang="zh-HK" sz="1200" dirty="0">
                <a:solidFill>
                  <a:schemeClr val="accent1">
                    <a:lumMod val="75000"/>
                  </a:schemeClr>
                </a:solidFill>
              </a:rPr>
              <a:t>.</a:t>
            </a:r>
            <a:endParaRPr lang="zh-HK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41" name="文字方塊 240">
            <a:extLst>
              <a:ext uri="{FF2B5EF4-FFF2-40B4-BE49-F238E27FC236}">
                <a16:creationId xmlns:a16="http://schemas.microsoft.com/office/drawing/2014/main" id="{E6AE35E4-4DE6-37D2-F7BD-632423763B64}"/>
              </a:ext>
            </a:extLst>
          </p:cNvPr>
          <p:cNvSpPr txBox="1"/>
          <p:nvPr/>
        </p:nvSpPr>
        <p:spPr>
          <a:xfrm>
            <a:off x="3889377" y="8498926"/>
            <a:ext cx="5254623" cy="175432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200" b="1" dirty="0"/>
              <a:t>1. Compare profile trends</a:t>
            </a:r>
            <a:endParaRPr lang="zh-HK" altLang="zh-HK" sz="1200" dirty="0"/>
          </a:p>
          <a:p>
            <a:pPr>
              <a:buNone/>
            </a:pPr>
            <a:r>
              <a:rPr lang="zh-HK" altLang="zh-HK" sz="1200" dirty="0"/>
              <a:t>Show four profile lines in each chart: average median VCE score and average high-score share, from 2023 to 2025.</a:t>
            </a:r>
          </a:p>
          <a:p>
            <a:pPr>
              <a:buNone/>
            </a:pPr>
            <a:r>
              <a:rPr lang="zh-HK" altLang="zh-HK" sz="1200" b="1" dirty="0"/>
              <a:t>2. Highlight one profile</a:t>
            </a:r>
            <a:endParaRPr lang="zh-HK" altLang="zh-HK" sz="1200" dirty="0"/>
          </a:p>
          <a:p>
            <a:pPr>
              <a:buNone/>
            </a:pPr>
            <a:r>
              <a:rPr lang="zh-HK" altLang="zh-HK" sz="1200" dirty="0"/>
              <a:t>Select Profile B to highlight its line in both charts. Keep the other lines visible for context. Show its school count and average 2025 ICSEA.</a:t>
            </a:r>
          </a:p>
          <a:p>
            <a:pPr>
              <a:buNone/>
            </a:pPr>
            <a:r>
              <a:rPr lang="zh-HK" altLang="zh-HK" sz="1200" b="1" dirty="0"/>
              <a:t>3. Return to the selected area</a:t>
            </a:r>
            <a:endParaRPr lang="zh-HK" altLang="zh-HK" sz="1200" dirty="0"/>
          </a:p>
          <a:p>
            <a:pPr>
              <a:buNone/>
            </a:pPr>
            <a:r>
              <a:rPr lang="zh-HK" altLang="zh-HK" sz="1200" dirty="0"/>
              <a:t>Scroll to restore the chosen SA4. Keep Profile B selected and highlight its linked school zones. Hover over school markers to read their details.</a:t>
            </a:r>
          </a:p>
        </p:txBody>
      </p: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9D14844F-EDFD-F8DE-DD6B-80485A5BCAEA}"/>
              </a:ext>
            </a:extLst>
          </p:cNvPr>
          <p:cNvCxnSpPr>
            <a:cxnSpLocks/>
          </p:cNvCxnSpPr>
          <p:nvPr/>
        </p:nvCxnSpPr>
        <p:spPr>
          <a:xfrm flipV="1">
            <a:off x="1535284" y="7636335"/>
            <a:ext cx="1110206" cy="32971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44" name="直線單箭頭接點 243">
            <a:extLst>
              <a:ext uri="{FF2B5EF4-FFF2-40B4-BE49-F238E27FC236}">
                <a16:creationId xmlns:a16="http://schemas.microsoft.com/office/drawing/2014/main" id="{D5441D1E-A4DA-9B95-D2DA-4B82364C5EEA}"/>
              </a:ext>
            </a:extLst>
          </p:cNvPr>
          <p:cNvCxnSpPr>
            <a:cxnSpLocks/>
            <a:endCxn id="189" idx="3"/>
          </p:cNvCxnSpPr>
          <p:nvPr/>
        </p:nvCxnSpPr>
        <p:spPr>
          <a:xfrm>
            <a:off x="3207020" y="7373964"/>
            <a:ext cx="846511" cy="16450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48" name="圖片 247">
            <a:extLst>
              <a:ext uri="{FF2B5EF4-FFF2-40B4-BE49-F238E27FC236}">
                <a16:creationId xmlns:a16="http://schemas.microsoft.com/office/drawing/2014/main" id="{38BB1F59-8AAC-2721-B3F6-4166D7644862}"/>
              </a:ext>
            </a:extLst>
          </p:cNvPr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485590" y="8784005"/>
            <a:ext cx="1746452" cy="1403590"/>
          </a:xfrm>
          <a:prstGeom prst="rect">
            <a:avLst/>
          </a:prstGeom>
        </p:spPr>
      </p:pic>
      <p:sp>
        <p:nvSpPr>
          <p:cNvPr id="238" name="文字方塊 237">
            <a:extLst>
              <a:ext uri="{FF2B5EF4-FFF2-40B4-BE49-F238E27FC236}">
                <a16:creationId xmlns:a16="http://schemas.microsoft.com/office/drawing/2014/main" id="{5C47EC17-A995-5978-2130-08CE8662B92D}"/>
              </a:ext>
            </a:extLst>
          </p:cNvPr>
          <p:cNvSpPr txBox="1"/>
          <p:nvPr/>
        </p:nvSpPr>
        <p:spPr>
          <a:xfrm>
            <a:off x="263488" y="8663881"/>
            <a:ext cx="43466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>
                <a:highlight>
                  <a:srgbClr val="FFFF00"/>
                </a:highlight>
              </a:rPr>
              <a:t>Scenes 4–5: Compare trends, then locate schools</a:t>
            </a:r>
            <a:endParaRPr lang="zh-HK" altLang="en-US" sz="14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6892" y="219633"/>
            <a:ext cx="4392873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REFERENCES: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76892" y="6676645"/>
            <a:ext cx="4392873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DECLARATION: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7FE8BB-6AE1-C8A6-6CA4-45A5B730B57D}"/>
              </a:ext>
            </a:extLst>
          </p:cNvPr>
          <p:cNvSpPr txBox="1"/>
          <p:nvPr/>
        </p:nvSpPr>
        <p:spPr>
          <a:xfrm>
            <a:off x="302292" y="800100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en-US" dirty="0"/>
              <a:t>https://datatopics.worldbank.org/sdgatlas/archive/2023/goal-13-climate-action?lang=en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3236</TotalTime>
  <Words>3892</Words>
  <Application>Microsoft Office PowerPoint</Application>
  <PresentationFormat>自訂</PresentationFormat>
  <Paragraphs>376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3" baseType="lpstr">
      <vt:lpstr>Elephant</vt:lpstr>
      <vt:lpstr>Canva Sans Bold</vt:lpstr>
      <vt:lpstr>Arial</vt:lpstr>
      <vt:lpstr>Calibri</vt:lpstr>
      <vt:lpstr>Canva Sans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FIT5147 FDS Slide template</dc:title>
  <cp:lastModifiedBy>mingfung yu</cp:lastModifiedBy>
  <cp:revision>40</cp:revision>
  <dcterms:created xsi:type="dcterms:W3CDTF">2006-08-16T00:00:00Z</dcterms:created>
  <dcterms:modified xsi:type="dcterms:W3CDTF">2026-10-09T14:05:47Z</dcterms:modified>
  <dc:identifier>DAHVIjpNEn4</dc:identifier>
</cp:coreProperties>
</file>